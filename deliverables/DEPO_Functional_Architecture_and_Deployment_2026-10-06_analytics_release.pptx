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10ce0fdfde4e16" /><Relationship Type="http://schemas.openxmlformats.org/officeDocument/2006/relationships/extended-properties" Target="/docProps/app.xml" Id="Re17c6c4b549d4c66" /><Relationship Type="http://schemas.openxmlformats.org/officeDocument/2006/relationships/officeDocument" Target="/ppt/presentation.xml" Id="R2d0bc0ff4b5a4e64" /></Relationships>
</file>

<file path=ppt/presentation.xml><?xml version="1.0" encoding="utf-8"?>
<p:presentation xmlns:p="http://schemas.openxmlformats.org/presentationml/2006/main">
  <p:sldMasterIdLst>
    <p:sldMasterId xmlns:r="http://schemas.openxmlformats.org/officeDocument/2006/relationships" id="2147483648" r:id="Re3f14e816d974a42"/>
  </p:sldMasterIdLst>
  <p:notesMasterIdLst>
    <p:notesMasterId xmlns:r="http://schemas.openxmlformats.org/officeDocument/2006/relationships" r:id="R60483213cb9b4a64"/>
  </p:notesMasterIdLst>
  <p:sldIdLst>
    <p:sldId xmlns:r="http://schemas.openxmlformats.org/officeDocument/2006/relationships" id="256" r:id="Rf0905492271c4dc3"/>
    <p:sldId xmlns:r="http://schemas.openxmlformats.org/officeDocument/2006/relationships" id="257" r:id="Rd398eac177d44fc4"/>
    <p:sldId xmlns:r="http://schemas.openxmlformats.org/officeDocument/2006/relationships" id="258" r:id="Rbfcee91d42154bab"/>
    <p:sldId xmlns:r="http://schemas.openxmlformats.org/officeDocument/2006/relationships" id="259" r:id="R46eef077011744eb"/>
    <p:sldId xmlns:r="http://schemas.openxmlformats.org/officeDocument/2006/relationships" id="260" r:id="Rad409bf872304a87"/>
    <p:sldId xmlns:r="http://schemas.openxmlformats.org/officeDocument/2006/relationships" id="261" r:id="Rf6a364e2c02641eb"/>
    <p:sldId xmlns:r="http://schemas.openxmlformats.org/officeDocument/2006/relationships" id="262" r:id="R381ae683fb6141e9"/>
    <p:sldId xmlns:r="http://schemas.openxmlformats.org/officeDocument/2006/relationships" id="263" r:id="Rca9d8b9f17994571"/>
    <p:sldId xmlns:r="http://schemas.openxmlformats.org/officeDocument/2006/relationships" id="264" r:id="R67d335153e2541f9"/>
    <p:sldId xmlns:r="http://schemas.openxmlformats.org/officeDocument/2006/relationships" id="265" r:id="R176be4d74e8f48ae"/>
    <p:sldId xmlns:r="http://schemas.openxmlformats.org/officeDocument/2006/relationships" id="266" r:id="R0f6f17a99aea4b69"/>
    <p:sldId xmlns:r="http://schemas.openxmlformats.org/officeDocument/2006/relationships" id="267" r:id="R670adc1dbf5e43f5"/>
    <p:sldId xmlns:r="http://schemas.openxmlformats.org/officeDocument/2006/relationships" id="268" r:id="R256000b9a7cd406c"/>
    <p:sldId xmlns:r="http://schemas.openxmlformats.org/officeDocument/2006/relationships" id="269" r:id="Ra2ae3b7160844a77"/>
    <p:sldId xmlns:r="http://schemas.openxmlformats.org/officeDocument/2006/relationships" id="270" r:id="R1fd3cf6d00714731"/>
    <p:sldId xmlns:r="http://schemas.openxmlformats.org/officeDocument/2006/relationships" id="271" r:id="Rf1a17c58f41c414e"/>
    <p:sldId xmlns:r="http://schemas.openxmlformats.org/officeDocument/2006/relationships" id="272" r:id="R75e4495104084f7b"/>
    <p:sldId xmlns:r="http://schemas.openxmlformats.org/officeDocument/2006/relationships" id="273" r:id="R294311530c9f423d"/>
    <p:sldId xmlns:r="http://schemas.openxmlformats.org/officeDocument/2006/relationships" id="274" r:id="R231b1c10a4b8449f"/>
    <p:sldId xmlns:r="http://schemas.openxmlformats.org/officeDocument/2006/relationships" id="275" r:id="R45d11158a33c44bd"/>
    <p:sldId xmlns:r="http://schemas.openxmlformats.org/officeDocument/2006/relationships" id="276" r:id="R4b09647b7b1246ed"/>
    <p:sldId xmlns:r="http://schemas.openxmlformats.org/officeDocument/2006/relationships" id="277" r:id="R6b67505e6f8a4956"/>
    <p:sldId xmlns:r="http://schemas.openxmlformats.org/officeDocument/2006/relationships" id="278" r:id="R59fc9bcc6b5147e1"/>
    <p:sldId xmlns:r="http://schemas.openxmlformats.org/officeDocument/2006/relationships" id="279" r:id="Rf3c097ffed7f4f61"/>
    <p:sldId xmlns:r="http://schemas.openxmlformats.org/officeDocument/2006/relationships" id="280" r:id="R2463aafaefe24376"/>
    <p:sldId xmlns:r="http://schemas.openxmlformats.org/officeDocument/2006/relationships" id="281" r:id="Rb313d6ca026844d6"/>
    <p:sldId xmlns:r="http://schemas.openxmlformats.org/officeDocument/2006/relationships" id="282" r:id="R45bc7b9fa2274f59"/>
    <p:sldId xmlns:r="http://schemas.openxmlformats.org/officeDocument/2006/relationships" id="283" r:id="R14d32352a35a45b4"/>
    <p:sldId xmlns:r="http://schemas.openxmlformats.org/officeDocument/2006/relationships" id="284" r:id="R565cbd948dc14bd7"/>
    <p:sldId xmlns:r="http://schemas.openxmlformats.org/officeDocument/2006/relationships" id="285" r:id="R62a0360ea039417d"/>
    <p:sldId xmlns:r="http://schemas.openxmlformats.org/officeDocument/2006/relationships" id="286" r:id="R1cfdcfc4e0c340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ce9acf012b4067" /><Relationship Type="http://schemas.openxmlformats.org/officeDocument/2006/relationships/slideMaster" Target="/ppt/slideMasters/slideMaster1.xml" Id="Re3f14e816d974a42" /><Relationship Type="http://schemas.openxmlformats.org/officeDocument/2006/relationships/notesMaster" Target="/ppt/notesMasters/notesMaster1.xml" Id="R60483213cb9b4a64" /><Relationship Type="http://schemas.openxmlformats.org/officeDocument/2006/relationships/presProps" Target="/ppt/presProps.xml" Id="R869c8e743a544967" /><Relationship Type="http://schemas.openxmlformats.org/officeDocument/2006/relationships/tableStyles" Target="/ppt/tableStyles.xml" Id="Rd1b350295eef43bb" /><Relationship Type="http://schemas.openxmlformats.org/officeDocument/2006/relationships/slide" Target="/ppt/slides/slide1.xml" Id="Rf0905492271c4dc3" /><Relationship Type="http://schemas.openxmlformats.org/officeDocument/2006/relationships/slide" Target="/ppt/slides/slide2.xml" Id="Rd398eac177d44fc4" /><Relationship Type="http://schemas.openxmlformats.org/officeDocument/2006/relationships/slide" Target="/ppt/slides/slide3.xml" Id="Rbfcee91d42154bab" /><Relationship Type="http://schemas.openxmlformats.org/officeDocument/2006/relationships/slide" Target="/ppt/slides/slide4.xml" Id="R46eef077011744eb" /><Relationship Type="http://schemas.openxmlformats.org/officeDocument/2006/relationships/slide" Target="/ppt/slides/slide5.xml" Id="Rad409bf872304a87" /><Relationship Type="http://schemas.openxmlformats.org/officeDocument/2006/relationships/slide" Target="/ppt/slides/slide6.xml" Id="Rf6a364e2c02641eb" /><Relationship Type="http://schemas.openxmlformats.org/officeDocument/2006/relationships/slide" Target="/ppt/slides/slide7.xml" Id="R381ae683fb6141e9" /><Relationship Type="http://schemas.openxmlformats.org/officeDocument/2006/relationships/slide" Target="/ppt/slides/slide8.xml" Id="Rca9d8b9f17994571" /><Relationship Type="http://schemas.openxmlformats.org/officeDocument/2006/relationships/slide" Target="/ppt/slides/slide9.xml" Id="R67d335153e2541f9" /><Relationship Type="http://schemas.openxmlformats.org/officeDocument/2006/relationships/slide" Target="/ppt/slides/slide10.xml" Id="R176be4d74e8f48ae" /><Relationship Type="http://schemas.openxmlformats.org/officeDocument/2006/relationships/slide" Target="/ppt/slides/slide11.xml" Id="R0f6f17a99aea4b69" /><Relationship Type="http://schemas.openxmlformats.org/officeDocument/2006/relationships/slide" Target="/ppt/slides/slide12.xml" Id="R670adc1dbf5e43f5" /><Relationship Type="http://schemas.openxmlformats.org/officeDocument/2006/relationships/slide" Target="/ppt/slides/slide13.xml" Id="R256000b9a7cd406c" /><Relationship Type="http://schemas.openxmlformats.org/officeDocument/2006/relationships/slide" Target="/ppt/slides/slide14.xml" Id="Ra2ae3b7160844a77" /><Relationship Type="http://schemas.openxmlformats.org/officeDocument/2006/relationships/slide" Target="/ppt/slides/slide15.xml" Id="R1fd3cf6d00714731" /><Relationship Type="http://schemas.openxmlformats.org/officeDocument/2006/relationships/slide" Target="/ppt/slides/slide16.xml" Id="Rf1a17c58f41c414e" /><Relationship Type="http://schemas.openxmlformats.org/officeDocument/2006/relationships/slide" Target="/ppt/slides/slide17.xml" Id="R75e4495104084f7b" /><Relationship Type="http://schemas.openxmlformats.org/officeDocument/2006/relationships/slide" Target="/ppt/slides/slide18.xml" Id="R294311530c9f423d" /><Relationship Type="http://schemas.openxmlformats.org/officeDocument/2006/relationships/slide" Target="/ppt/slides/slide19.xml" Id="R231b1c10a4b8449f" /><Relationship Type="http://schemas.openxmlformats.org/officeDocument/2006/relationships/slide" Target="/ppt/slides/slide20.xml" Id="R45d11158a33c44bd" /><Relationship Type="http://schemas.openxmlformats.org/officeDocument/2006/relationships/slide" Target="/ppt/slides/slide21.xml" Id="R4b09647b7b1246ed" /><Relationship Type="http://schemas.openxmlformats.org/officeDocument/2006/relationships/slide" Target="/ppt/slides/slide22.xml" Id="R6b67505e6f8a4956" /><Relationship Type="http://schemas.openxmlformats.org/officeDocument/2006/relationships/slide" Target="/ppt/slides/slide23.xml" Id="R59fc9bcc6b5147e1" /><Relationship Type="http://schemas.openxmlformats.org/officeDocument/2006/relationships/slide" Target="/ppt/slides/slide24.xml" Id="Rf3c097ffed7f4f61" /><Relationship Type="http://schemas.openxmlformats.org/officeDocument/2006/relationships/slide" Target="/ppt/slides/slide25.xml" Id="R2463aafaefe24376" /><Relationship Type="http://schemas.openxmlformats.org/officeDocument/2006/relationships/slide" Target="/ppt/slides/slide26.xml" Id="Rb313d6ca026844d6" /><Relationship Type="http://schemas.openxmlformats.org/officeDocument/2006/relationships/slide" Target="/ppt/slides/slide27.xml" Id="R45bc7b9fa2274f59" /><Relationship Type="http://schemas.openxmlformats.org/officeDocument/2006/relationships/slide" Target="/ppt/slides/slide28.xml" Id="R14d32352a35a45b4" /><Relationship Type="http://schemas.openxmlformats.org/officeDocument/2006/relationships/slide" Target="/ppt/slides/slide29.xml" Id="R565cbd948dc14bd7" /><Relationship Type="http://schemas.openxmlformats.org/officeDocument/2006/relationships/slide" Target="/ppt/slides/slide30.xml" Id="R62a0360ea039417d" /><Relationship Type="http://schemas.openxmlformats.org/officeDocument/2006/relationships/slide" Target="/ppt/slides/slide31.xml" Id="R1cfdcfc4e0c340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b2ecc6cbe244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fbbf73bde84ad0" /><Relationship Type="http://schemas.openxmlformats.org/officeDocument/2006/relationships/notesMaster" Target="/ppt/notesMasters/notesMaster1.xml" Id="Rce1dc0f8f32a48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a686fe8744f27" /><Relationship Type="http://schemas.openxmlformats.org/officeDocument/2006/relationships/notesMaster" Target="/ppt/notesMasters/notesMaster1.xml" Id="R2aa657bf91874d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779e32160f49c4" /><Relationship Type="http://schemas.openxmlformats.org/officeDocument/2006/relationships/notesMaster" Target="/ppt/notesMasters/notesMaster1.xml" Id="Rf1288e7caf8143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f5e730798446a6" /><Relationship Type="http://schemas.openxmlformats.org/officeDocument/2006/relationships/notesMaster" Target="/ppt/notesMasters/notesMaster1.xml" Id="R4a22f546634343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d4083eae8e447b" /><Relationship Type="http://schemas.openxmlformats.org/officeDocument/2006/relationships/notesMaster" Target="/ppt/notesMasters/notesMaster1.xml" Id="R36b14461e5a949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28127cc21c44fc" /><Relationship Type="http://schemas.openxmlformats.org/officeDocument/2006/relationships/notesMaster" Target="/ppt/notesMasters/notesMaster1.xml" Id="R3febeffba77545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0d59a329114bef" /><Relationship Type="http://schemas.openxmlformats.org/officeDocument/2006/relationships/notesMaster" Target="/ppt/notesMasters/notesMaster1.xml" Id="R20dfe6d4369c43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297ba2e5c14d82" /><Relationship Type="http://schemas.openxmlformats.org/officeDocument/2006/relationships/notesMaster" Target="/ppt/notesMasters/notesMaster1.xml" Id="Rc7ac130c0f044c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418d6ab2e14501" /><Relationship Type="http://schemas.openxmlformats.org/officeDocument/2006/relationships/notesMaster" Target="/ppt/notesMasters/notesMaster1.xml" Id="Rd60326ef8f8b40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432da3d1d44e8b" /><Relationship Type="http://schemas.openxmlformats.org/officeDocument/2006/relationships/notesMaster" Target="/ppt/notesMasters/notesMaster1.xml" Id="Rb1b3c74f39fe4e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6cd3f389904a28" /><Relationship Type="http://schemas.openxmlformats.org/officeDocument/2006/relationships/notesMaster" Target="/ppt/notesMasters/notesMaster1.xml" Id="R64ee9b6ff34640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5355cdf51946f5" /><Relationship Type="http://schemas.openxmlformats.org/officeDocument/2006/relationships/notesMaster" Target="/ppt/notesMasters/notesMaster1.xml" Id="R991567ef345344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62ff3839e94905" /><Relationship Type="http://schemas.openxmlformats.org/officeDocument/2006/relationships/notesMaster" Target="/ppt/notesMasters/notesMaster1.xml" Id="Rdbb86c82df544e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850226cb424a8e" /><Relationship Type="http://schemas.openxmlformats.org/officeDocument/2006/relationships/notesMaster" Target="/ppt/notesMasters/notesMaster1.xml" Id="Rdf806399606a43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34f7570e554c74" /><Relationship Type="http://schemas.openxmlformats.org/officeDocument/2006/relationships/notesMaster" Target="/ppt/notesMasters/notesMaster1.xml" Id="Re122b22394b940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53b582fa9048b6" /><Relationship Type="http://schemas.openxmlformats.org/officeDocument/2006/relationships/notesMaster" Target="/ppt/notesMasters/notesMaster1.xml" Id="R3104a4b4908e4e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6bc1b960414767" /><Relationship Type="http://schemas.openxmlformats.org/officeDocument/2006/relationships/notesMaster" Target="/ppt/notesMasters/notesMaster1.xml" Id="Rd952d712bccc4c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333a43f405a42fb" /><Relationship Type="http://schemas.openxmlformats.org/officeDocument/2006/relationships/notesMaster" Target="/ppt/notesMasters/notesMaster1.xml" Id="Rb1c843ba89e94f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1b123e4c7e4b2b" /><Relationship Type="http://schemas.openxmlformats.org/officeDocument/2006/relationships/notesMaster" Target="/ppt/notesMasters/notesMaster1.xml" Id="Rfb4dc75ea35243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98723e2d4f4af8" /><Relationship Type="http://schemas.openxmlformats.org/officeDocument/2006/relationships/notesMaster" Target="/ppt/notesMasters/notesMaster1.xml" Id="R15a20c9ddafb40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696589533041c4" /><Relationship Type="http://schemas.openxmlformats.org/officeDocument/2006/relationships/notesMaster" Target="/ppt/notesMasters/notesMaster1.xml" Id="R57c60d73087641f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90060a24db4c29" /><Relationship Type="http://schemas.openxmlformats.org/officeDocument/2006/relationships/notesMaster" Target="/ppt/notesMasters/notesMaster1.xml" Id="R9d23694a94454d1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41f1fb548c849b7" /><Relationship Type="http://schemas.openxmlformats.org/officeDocument/2006/relationships/notesMaster" Target="/ppt/notesMasters/notesMaster1.xml" Id="R86dfffe7a2df443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73b979465ae48a8" /><Relationship Type="http://schemas.openxmlformats.org/officeDocument/2006/relationships/notesMaster" Target="/ppt/notesMasters/notesMaster1.xml" Id="R3ba966f8ef7448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ad8a2dc60f242ed" /><Relationship Type="http://schemas.openxmlformats.org/officeDocument/2006/relationships/notesMaster" Target="/ppt/notesMasters/notesMaster1.xml" Id="Rc20493d9d5c04c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ffb09434da64dd0" /><Relationship Type="http://schemas.openxmlformats.org/officeDocument/2006/relationships/notesMaster" Target="/ppt/notesMasters/notesMaster1.xml" Id="Rca10bb9a8985425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3b1f5812db2473d" /><Relationship Type="http://schemas.openxmlformats.org/officeDocument/2006/relationships/notesMaster" Target="/ppt/notesMasters/notesMaster1.xml" Id="Rfd0e51cf7d8b43a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41f77e38fa4988" /><Relationship Type="http://schemas.openxmlformats.org/officeDocument/2006/relationships/notesMaster" Target="/ppt/notesMasters/notesMaster1.xml" Id="Rb50d1e07052c476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6705f81e9b5479c" /><Relationship Type="http://schemas.openxmlformats.org/officeDocument/2006/relationships/notesMaster" Target="/ppt/notesMasters/notesMaster1.xml" Id="R190a75cf4a16474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6e1c941bbd54478" /><Relationship Type="http://schemas.openxmlformats.org/officeDocument/2006/relationships/notesMaster" Target="/ppt/notesMasters/notesMaster1.xml" Id="R9ec2a23e02954a8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4594ee89e94a3f" /><Relationship Type="http://schemas.openxmlformats.org/officeDocument/2006/relationships/notesMaster" Target="/ppt/notesMasters/notesMaster1.xml" Id="Rfa0b7675017c4b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https://github.com/dparitosh/PMem/blob/codex/semantic-bridge-release/INSTALLATION.md</a:t>
            </a:r>
          </a:p>
          <a:p xmlns:a="http://schemas.openxmlformats.org/drawingml/2006/main">
            <a:r>
              <a:t>https://github.com/dparitosh/PMem/blob/codex/semantic-bridge-release/docs/architecture/SERVICE_CATALOG.md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https://github.com/dparitosh/PMem/blob/codex/semantic-bridge-release/backend/agentic_service/bridge_jobs.py</a:t>
            </a:r>
          </a:p>
          <a:p xmlns:a="http://schemas.openxmlformats.org/drawingml/2006/main">
            <a:r>
              <a:t>https://github.com/dparitosh/PMem/blob/codex/semantic-bridge-release/backend/data_pipeline_service/router.py</a:t>
            </a:r>
          </a:p>
          <a:p xmlns:a="http://schemas.openxmlformats.org/drawingml/2006/main">
            <a:r>
              <a:t>https://github.com/dparitosh/PMem/blob/codex/semantic-bridge-release/backend/data_product_service/router.py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https://github.com/dparitosh/PMem/blob/codex/semantic-bridge-release/infra/deployment/services.json</a:t>
            </a:r>
          </a:p>
          <a:p xmlns:a="http://schemas.openxmlformats.org/drawingml/2006/main">
            <a:r>
              <a:t>https://github.com/dparitosh/PMem/blob/codex/semantic-bridge-release/backend/agentic_service/bridge_jobs.py</a:t>
            </a:r>
          </a:p>
          <a:p xmlns:a="http://schemas.openxmlformats.org/drawingml/2006/main">
            <a:r>
              <a:t>https://github.com/dparitosh/PMem/blob/codex/semantic-bridge-release/backend/data_product_service/worker.py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https://github.com/dparitosh/PMem/blob/codex/semantic-bridge-release/backend/data_pipeline_service/router.py</a:t>
            </a:r>
          </a:p>
          <a:p xmlns:a="http://schemas.openxmlformats.org/drawingml/2006/main">
            <a:r>
              <a:t>https://github.com/dparitosh/PMem/blob/codex/semantic-bridge-release/backend/ceim_service/router.py</a:t>
            </a:r>
          </a:p>
          <a:p xmlns:a="http://schemas.openxmlformats.org/drawingml/2006/main">
            <a:r>
              <a:t>https://github.com/dparitosh/PMem/blob/codex/semantic-bridge-release/backend/agentic_service/bridge_jobs.py</a:t>
            </a:r>
          </a:p>
          <a:p xmlns:a="http://schemas.openxmlformats.org/drawingml/2006/main">
            <a:r>
              <a:t>https://github.com/dparitosh/PMem/blob/codex/semantic-bridge-release/backend/graph_service/bridge_router.py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https://github.com/dparitosh/PMem/blob/codex/semantic-bridge-release/backend/agentic_service/bridge_jobs.py</a:t>
            </a:r>
          </a:p>
          <a:p xmlns:a="http://schemas.openxmlformats.org/drawingml/2006/main">
            <a:r>
              <a:t>https://github.com/dparitosh/PMem/blob/codex/semantic-bridge-release/backend/graph_service/bridge_publication.py</a:t>
            </a:r>
          </a:p>
          <a:p xmlns:a="http://schemas.openxmlformats.org/drawingml/2006/main">
            <a:r>
              <a:t>https://github.com/dparitosh/PMem/blob/codex/semantic-bridge-release/frontend/src/Components/ontology/SemanticBridgeJobs.js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https://github.com/dparitosh/PMem/blob/codex/semantic-bridge-release/backend/data_pipeline_service/router.py</a:t>
            </a:r>
          </a:p>
          <a:p xmlns:a="http://schemas.openxmlformats.org/drawingml/2006/main">
            <a:r>
              <a:t>https://github.com/dparitosh/PMem/blob/codex/semantic-bridge-release/backend/data_pipeline_service/run_records.py</a:t>
            </a:r>
          </a:p>
          <a:p xmlns:a="http://schemas.openxmlformats.org/drawingml/2006/main">
            <a:r>
              <a:t>https://github.com/dparitosh/PMem/blob/codex/semantic-bridge-release/backend/data_pipeline_service/job_definitions.py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https://github.com/dparitosh/PMem/blob/codex/semantic-bridge-release/backend/data_pipeline_service/handlers.py</a:t>
            </a:r>
          </a:p>
          <a:p xmlns:a="http://schemas.openxmlformats.org/drawingml/2006/main">
            <a:r>
              <a:t>https://github.com/dparitosh/PMem/blob/codex/semantic-bridge-release/backend/data_pipeline_service/runner.py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https://github.com/dparitosh/PMem/blob/codex/semantic-bridge-release/backend/data_pipeline_service/handlers.py</a:t>
            </a:r>
          </a:p>
          <a:p xmlns:a="http://schemas.openxmlformats.org/drawingml/2006/main">
            <a:r>
              <a:t>https://github.com/dparitosh/PMem/blob/codex/semantic-bridge-release/backend/data_pipeline_service/runner.py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https://github.com/dparitosh/PMem/blob/codex/semantic-bridge-release/backend/data_pipeline_service/speed_router.py</a:t>
            </a:r>
          </a:p>
          <a:p xmlns:a="http://schemas.openxmlformats.org/drawingml/2006/main">
            <a:r>
              <a:t>https://github.com/dparitosh/PMem/blob/codex/semantic-bridge-release/backend/data_pipeline_service/speed_path.py</a:t>
            </a:r>
          </a:p>
          <a:p xmlns:a="http://schemas.openxmlformats.org/drawingml/2006/main">
            <a:r>
              <a:t>https://github.com/dparitosh/PMem/blob/codex/semantic-bridge-release/INSTALLATION.md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https://github.com/dparitosh/PMem/blob/codex/semantic-bridge-release/backend/data_pipeline_service/router.py</a:t>
            </a:r>
          </a:p>
          <a:p xmlns:a="http://schemas.openxmlformats.org/drawingml/2006/main">
            <a:r>
              <a:t>https://github.com/dparitosh/PMem/blob/codex/semantic-bridge-release/backend/data_pipeline_service/runner.py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https://github.com/dparitosh/PMem/blob/codex/semantic-bridge-release/backend/data_product_service/router.py</a:t>
            </a:r>
          </a:p>
          <a:p xmlns:a="http://schemas.openxmlformats.org/drawingml/2006/main">
            <a:r>
              <a:t>https://github.com/dparitosh/PMem/blob/codex/semantic-bridge-release/backend/data_product_service/worker.py</a:t>
            </a:r>
          </a:p>
          <a:p xmlns:a="http://schemas.openxmlformats.org/drawingml/2006/main">
            <a:r>
              <a:t>https://github.com/dparitosh/PMem/blob/codex/semantic-bridge-release/backend/data_catalog_service/router.py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https://github.com/dparitosh/PMem/blob/codex/semantic-bridge-release/backend/agentic_service/companion.py</a:t>
            </a:r>
          </a:p>
          <a:p xmlns:a="http://schemas.openxmlformats.org/drawingml/2006/main">
            <a:r>
              <a:t>https://github.com/dparitosh/PMem/blob/codex/semantic-bridge-release/backend/agentic_service/router.py</a:t>
            </a:r>
          </a:p>
          <a:p xmlns:a="http://schemas.openxmlformats.org/drawingml/2006/main">
            <a:r>
              <a:t>https://github.com/dparitosh/PMem/blob/codex/semantic-bridge-release/backend/agentic_service/configuration.py</a:t>
            </a:r>
          </a:p>
          <a:p xmlns:a="http://schemas.openxmlformats.org/drawingml/2006/main">
            <a:r>
              <a:t>https://github.com/dparitosh/PMem/blob/codex/semantic-bridge-release/backend/graph_service/sparql_router.py</a:t>
            </a:r>
          </a:p>
          <a:p xmlns:a="http://schemas.openxmlformats.org/drawingml/2006/main">
            <a:r>
              <a:t>https://github.com/dparitosh/PMem/blob/codex/semantic-bridge-release/backend/graph_service/federation_router.py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https://github.com/dparitosh/PMem/blob/codex/semantic-bridge-release/frontend/src/Components/ontology/SemanticBridgeJobs.js</a:t>
            </a:r>
          </a:p>
          <a:p xmlns:a="http://schemas.openxmlformats.org/drawingml/2006/main">
            <a:r>
              <a:t>https://github.com/dparitosh/PMem/blob/codex/semantic-bridge-release/frontend/src/pages/DataFlowPage.js</a:t>
            </a:r>
          </a:p>
          <a:p xmlns:a="http://schemas.openxmlformats.org/drawingml/2006/main">
            <a:r>
              <a:t>https://github.com/dparitosh/PMem/blob/codex/semantic-bridge-release/frontend/src/pages/GraphExplorerPage.js</a:t>
            </a:r>
          </a:p>
          <a:p xmlns:a="http://schemas.openxmlformats.org/drawingml/2006/main">
            <a:r>
              <a:t>https://github.com/dparitosh/PMem/blob/codex/semantic-bridge-release/frontend/src/Components/Chatbot.js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https://github.com/dparitosh/PMem/blob/codex/semantic-bridge-release/INSTALLATION.md</a:t>
            </a:r>
          </a:p>
          <a:p xmlns:a="http://schemas.openxmlformats.org/drawingml/2006/main">
            <a:r>
              <a:t>https://github.com/dparitosh/PMem/blob/codex/semantic-bridge-release/INSTALLATION.md</a:t>
            </a:r>
          </a:p>
          <a:p xmlns:a="http://schemas.openxmlformats.org/drawingml/2006/main">
            <a:r>
              <a:t>https://github.com/dparitosh/PMem/blob/codex/semantic-bridge-release/INSTALLATION.md</a:t>
            </a:r>
          </a:p>
          <a:p xmlns:a="http://schemas.openxmlformats.org/drawingml/2006/main">
            <a:r>
              <a:t>https://github.com/dparitosh/PMem/blob/codex/semantic-bridge-release/INSTALLATION.md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https://github.com/dparitosh/PMem/blob/codex/semantic-bridge-release/INSTALLATION.md</a:t>
            </a:r>
          </a:p>
          <a:p xmlns:a="http://schemas.openxmlformats.org/drawingml/2006/main">
            <a:r>
              <a:t>https://github.com/dparitosh/PMem/blob/codex/semantic-bridge-release/infra/windows/install-depo-windows.ps1</a:t>
            </a:r>
          </a:p>
          <a:p xmlns:a="http://schemas.openxmlformats.org/drawingml/2006/main">
            <a:r>
              <a:t>https://github.com/dparitosh/PMem/blob/codex/semantic-bridge-release/infra/windows/initialize-depo-schema.ps1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sources: infra/postgres/migrations and backend/depo_platform/database_setup.py. The release contains SQL files 000 through 009. File 000 establishes migration history. PostgreSQL stores API credential digests, delegated sessions, durable job state and product registry records. Artifact storage retains RDF, OWL, SHACL and schema evidence 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https://github.com/dparitosh/PMem/blob/codex/semantic-bridge-release/backend/depo_platform/authorization.py</a:t>
            </a:r>
          </a:p>
          <a:p xmlns:a="http://schemas.openxmlformats.org/drawingml/2006/main">
            <a:r>
              <a:t>https://github.com/dparitosh/PMem/blob/codex/semantic-bridge-release/backend/agentic_service/configuration.py</a:t>
            </a:r>
          </a:p>
          <a:p xmlns:a="http://schemas.openxmlformats.org/drawingml/2006/main">
            <a:r>
              <a:t>https://github.com/dparitosh/PMem/blob/codex/semantic-bridge-release/infra/deployment/test-depo-deployment.ps1</a:t>
            </a:r>
          </a:p>
          <a:p xmlns:a="http://schemas.openxmlformats.org/drawingml/2006/main">
            <a:r>
              <a:t>https://github.com/dparitosh/PMem/blob/codex/semantic-bridge-release/config/README.md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https://github.com/dparitosh/PMem/blob/codex/semantic-bridge-release/infra/deployment/CUSTOMER_RELEASE.md</a:t>
            </a:r>
          </a:p>
          <a:p xmlns:a="http://schemas.openxmlformats.org/drawingml/2006/main">
            <a:r>
              <a:t>https://github.com/dparitosh/PMem/blob/codex/semantic-bridge-release/docs/INSTALLATION_REVIEW.md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https://github.com/dparitosh/PMem/blob/codex/semantic-bridge-release/backend/graph_service/router.py</a:t>
            </a:r>
          </a:p>
          <a:p xmlns:a="http://schemas.openxmlformats.org/drawingml/2006/main">
            <a:r>
              <a:t>https://github.com/dparitosh/PMem/blob/codex/semantic-bridge-release/backend/data_pipeline_service/handlers.py</a:t>
            </a:r>
          </a:p>
          <a:p xmlns:a="http://schemas.openxmlformats.org/drawingml/2006/main">
            <a:r>
              <a:t>https://github.com/dparitosh/PMem/blob/codex/semantic-bridge-release/backend/data_pipeline_service/speed_router.py</a:t>
            </a:r>
          </a:p>
          <a:p xmlns:a="http://schemas.openxmlformats.org/drawingml/2006/main">
            <a:r>
              <a:t>https://github.com/dparitosh/PMem/blob/codex/semantic-bridge-release/infra/deployment/CUSTOMER_RELEASE.md</a:t>
            </a:r>
          </a:p>
          <a:p xmlns:a="http://schemas.openxmlformats.org/drawingml/2006/main">
            <a:r>
              <a:t>https://github.com/dparitosh/PMem/blob/codex/semantic-bridge-release/docs/ACCELERATED_DELIVERY_TRACKER.md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 current release branch, 23 September 2026.</a:t>
            </a:r>
          </a:p>
          <a:p xmlns:a="http://schemas.openxmlformats.org/drawingml/2006/main">
            <a:r>
              <a:t>https://github.com/dparitosh/PMem/blob/codex/semantic-bridge-release/infra/deployment/services.json</a:t>
            </a:r>
          </a:p>
          <a:p xmlns:a="http://schemas.openxmlformats.org/drawingml/2006/main">
            <a:r>
              <a:t>https://github.com/dparitosh/PMem/blob/codex/semantic-bridge-release/INSTALLATION.md</a:t>
            </a:r>
          </a:p>
          <a:p xmlns:a="http://schemas.openxmlformats.org/drawingml/2006/main">
            <a:r>
              <a:t>https://github.com/dparitosh/PMem/blob/codex/semantic-bridge-release/infra/postgres/SCHEMA.md</a:t>
            </a:r>
          </a:p>
          <a:p xmlns:a="http://schemas.openxmlformats.org/drawingml/2006/main">
            <a:r>
              <a:t>https://github.com/dparitosh/PMem/blob/codex/semantic-bridge-release/INSTALLATION.md</a:t>
            </a:r>
          </a:p>
          <a:p xmlns:a="http://schemas.openxmlformats.org/drawingml/2006/main">
            <a:r>
              <a:t>https://github.com/dparitosh/PMem/blob/codex/semantic-bridge-release/INSTALLATION.md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review of infra/deployment/services.json, backend/mesh_store.py, backend/agentic_service/router.py and backend/depo_platform/service_runtime.py. These are recommended architecture changes, not claims of implementation. Commit 651d960 contains the reviewed graph, validation and contract fixes.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deployment topology using existing DEPO PostgreSQL, Neo4j and Ollama integrations. Example models: llama3.1:8b and nomic-embed-text:latest; suitability must be measured on engineering datasets. Endpoint and optional key remain server-side in root .env.local. This diagram does not claim end-to-end offline acceptance has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backend/agentic_service/workflow_control.py and router.py; Bridge publication receipts in backend/agentic_service/bridge_jobs.py. Proposed: checkpointed long-running agent workers. Sources: https://www.langchain.com/blog/runtime-behind-production-deep-agents and https://reference.langchain.com/python/langgraph/types/interrupt. A LangGraph upgrade requires coordinated compatibility tests for the pinned dependency 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code: backend/Services/graph_view_service.py, backend/chains/vector.py, backend/graph_service/graphql_schema.py and frontend/src/Components/GraphHEB.js. The hybrid/reranking chain shown is a recommended target, not a fully certified DEPO feature. Source: https://neo4j.com/docs/neo4j-graphrag-python/current/user_guide_rag.html.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Code-backed status at commit 651d960: backend/Services/shacl_service.py, ontology_upload_manager.py, data_import_service.py, pipeline_stages_4_7.py and unified_data_import.py. Unified import background ontology validation must not be presented as a universal pre-publication instance gate. Local regression tests used dependency-boundary stubs; live pySHACL acceptance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reviewed 6 October 2026: https://opentelemetry.io/docs/specs/semconv/registry/attributes/gen-ai/ ; https://github.com/modelcontextprotocol/modelcontextprotocol/blob/main/docs/specification/2025-11-25/basic/utilities/tasks.mdx (experimental in that version; negotiate protocol capabilities); https://a2a-protocol.org/v0.3.0/specification/ ; https://docs.nvidia.com/nemo/agent-toolkit/latest/workflows/evaluate.html ; https://graphql.org/learn/security/. Adoption priority is an architecture recommendation for DEPO, not a forecast or mandatory platform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sources: backend/agentic_service/router.py service URL map and workflow dispatch, ontology_orchestrator.py, companion.py, workflow_control.py, transport_auth.py and infra/deployment/services.json. Logical grouping does not imply every agent calls every service. Browser sessions and scoped service credentials authorize different operations. Long agent workflows currently execute separately from the PostgreSQL-leased data pipeline 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backend/data_pipeline_service/worker.py and run_records.py; backend/data_product_service/worker.py and router.py reconcile_pending; infra/deployment/services.json. Upper and lower rows represent related execution and publication paths, not an automatic product creation guarantee for every job. PostgreSQL leases support worker recovery. Agent workflow restart recovery remains a separate roadmap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infra/deployment/services.json and backend/agentic_service/router.py. Reports consume available graph and product evidence. The slide identifies logical ownership, not a claim that all end-to-end customer workflows have passed live acceptance. Gateway deployments must preserve routes and authorization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at commit 9ded020: backend/ingestion_service/schema_conversion.py, backend/Services/owl_generation_service.py, backend/data_product_service/router.py, frontend/src/Components/SchemaProductPublisher.js. Product kind schema-design-evidence and readiness requires_materialization_and_business_definition identify the current scope. Conversion does not automatically deploy warehouse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at commit 9ded020: backend/data_product_service/packaging.py, backend/depo_platform/semantic_registry.py, frontend/src/services/analyticsProductDraft.js and INSTALLATION.md. Focused verification passed 17 Python tests, frontend adapter checks and release package integrity checks. These checks do not establish live customer deployment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e94bfd21a144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011cc9ebb043e1" /><Relationship Type="http://schemas.openxmlformats.org/officeDocument/2006/relationships/slideLayout" Target="/ppt/slideLayouts/slideLayout1.xml" Id="Rdf22a2d4f0004b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22a2d4f0004b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928885ee6c46a8" /><Relationship Type="http://schemas.openxmlformats.org/officeDocument/2006/relationships/notesSlide" Target="/ppt/notesSlides/notesSlide1.xml" Id="R746e4dbcda4a40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0ca21b3ca54671" /><Relationship Type="http://schemas.openxmlformats.org/officeDocument/2006/relationships/notesSlide" Target="/ppt/notesSlides/notesSlide2.xml" Id="Rd8fd79989c4e4a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0790fc4f70484d" /><Relationship Type="http://schemas.openxmlformats.org/officeDocument/2006/relationships/notesSlide" Target="/ppt/notesSlides/notesSlide3.xml" Id="Rf351568b0def41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63f3ca31eb46c4" /><Relationship Type="http://schemas.openxmlformats.org/officeDocument/2006/relationships/notesSlide" Target="/ppt/notesSlides/notesSlide4.xml" Id="Rac07114cf70b4a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4e8c06f9d64db0" /><Relationship Type="http://schemas.openxmlformats.org/officeDocument/2006/relationships/notesSlide" Target="/ppt/notesSlides/notesSlide5.xml" Id="R55b5841b81fe4e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1fa2b6687b43d6" /><Relationship Type="http://schemas.openxmlformats.org/officeDocument/2006/relationships/notesSlide" Target="/ppt/notesSlides/notesSlide6.xml" Id="Rd974e33e4cb742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030929be1f442e" /><Relationship Type="http://schemas.openxmlformats.org/officeDocument/2006/relationships/notesSlide" Target="/ppt/notesSlides/notesSlide7.xml" Id="R77535a680a8742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4f5dfcac444b3c" /><Relationship Type="http://schemas.openxmlformats.org/officeDocument/2006/relationships/notesSlide" Target="/ppt/notesSlides/notesSlide8.xml" Id="Rdf051c8f16a04c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dd1eeca0704343" /><Relationship Type="http://schemas.openxmlformats.org/officeDocument/2006/relationships/notesSlide" Target="/ppt/notesSlides/notesSlide9.xml" Id="R84eaef60d83044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d8d8aa60b14cb7" /><Relationship Type="http://schemas.openxmlformats.org/officeDocument/2006/relationships/notesSlide" Target="/ppt/notesSlides/notesSlide10.xml" Id="Rfe21f3aed75246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29302dd4e854771" /><Relationship Type="http://schemas.openxmlformats.org/officeDocument/2006/relationships/notesSlide" Target="/ppt/notesSlides/notesSlide11.xml" Id="Rd9e782aa93f74d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6cda16512b4e86" /><Relationship Type="http://schemas.openxmlformats.org/officeDocument/2006/relationships/notesSlide" Target="/ppt/notesSlides/notesSlide12.xml" Id="R596516b7618f4d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37b6a95f0b4998" /><Relationship Type="http://schemas.openxmlformats.org/officeDocument/2006/relationships/notesSlide" Target="/ppt/notesSlides/notesSlide13.xml" Id="Rcd2b89e3a0a140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f1eb2ec2b0741fe" /><Relationship Type="http://schemas.openxmlformats.org/officeDocument/2006/relationships/notesSlide" Target="/ppt/notesSlides/notesSlide14.xml" Id="R53af36c43a2648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46f9120eab4794" /><Relationship Type="http://schemas.openxmlformats.org/officeDocument/2006/relationships/notesSlide" Target="/ppt/notesSlides/notesSlide15.xml" Id="R0e30f135281c40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db3ed921eca493c" /><Relationship Type="http://schemas.openxmlformats.org/officeDocument/2006/relationships/notesSlide" Target="/ppt/notesSlides/notesSlide16.xml" Id="R033d951110fc41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110aafd10864be7" /><Relationship Type="http://schemas.openxmlformats.org/officeDocument/2006/relationships/notesSlide" Target="/ppt/notesSlides/notesSlide17.xml" Id="Re0c1a719ad4241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87d20a561d541d2" /><Relationship Type="http://schemas.openxmlformats.org/officeDocument/2006/relationships/notesSlide" Target="/ppt/notesSlides/notesSlide18.xml" Id="R29b866ceefbc42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eb25eeaa5ea48e4" /><Relationship Type="http://schemas.openxmlformats.org/officeDocument/2006/relationships/notesSlide" Target="/ppt/notesSlides/notesSlide19.xml" Id="Ra5583233384a482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3d73c844316426a" /><Relationship Type="http://schemas.openxmlformats.org/officeDocument/2006/relationships/notesSlide" Target="/ppt/notesSlides/notesSlide20.xml" Id="R876875b18a4840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576317d29bc4cc5" /><Relationship Type="http://schemas.openxmlformats.org/officeDocument/2006/relationships/notesSlide" Target="/ppt/notesSlides/notesSlide21.xml" Id="Rc82b39aeddb34d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93f5ad41d4e4339" /><Relationship Type="http://schemas.openxmlformats.org/officeDocument/2006/relationships/notesSlide" Target="/ppt/notesSlides/notesSlide22.xml" Id="R187143a24c1240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acdc55aafbe4030" /><Relationship Type="http://schemas.openxmlformats.org/officeDocument/2006/relationships/notesSlide" Target="/ppt/notesSlides/notesSlide23.xml" Id="Rfed3c1a97ef449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b640ed2b96848c4" /><Relationship Type="http://schemas.openxmlformats.org/officeDocument/2006/relationships/notesSlide" Target="/ppt/notesSlides/notesSlide24.xml" Id="Re0553bbe54ed43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7e13654d1c641c4" /><Relationship Type="http://schemas.openxmlformats.org/officeDocument/2006/relationships/notesSlide" Target="/ppt/notesSlides/notesSlide25.xml" Id="Raf33e21d2fe846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89d24e7efd4b8b" /><Relationship Type="http://schemas.openxmlformats.org/officeDocument/2006/relationships/notesSlide" Target="/ppt/notesSlides/notesSlide26.xml" Id="Rbcc417578ad74a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8d700cd197843d6" /><Relationship Type="http://schemas.openxmlformats.org/officeDocument/2006/relationships/notesSlide" Target="/ppt/notesSlides/notesSlide27.xml" Id="R25fa1bc9e9224e8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732b0db205f455e" /><Relationship Type="http://schemas.openxmlformats.org/officeDocument/2006/relationships/notesSlide" Target="/ppt/notesSlides/notesSlide28.xml" Id="Rd28e75c893e4450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d3a3d3389c54da9" /><Relationship Type="http://schemas.openxmlformats.org/officeDocument/2006/relationships/notesSlide" Target="/ppt/notesSlides/notesSlide29.xml" Id="Rc581a65bd6c34e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bca75f1d6134c4d" /><Relationship Type="http://schemas.openxmlformats.org/officeDocument/2006/relationships/notesSlide" Target="/ppt/notesSlides/notesSlide30.xml" Id="R9a0bea45aca2467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3bede2d77a14f30" /><Relationship Type="http://schemas.openxmlformats.org/officeDocument/2006/relationships/notesSlide" Target="/ppt/notesSlides/notesSlide31.xml" Id="Rc1a590fee9af4f05" /></Relationships>
</file>

<file path=ppt/slides/slide1.xml><?xml version="1.0" encoding="utf-8"?>
<p:sld xmlns:p="http://schemas.openxmlformats.org/presentationml/2006/main">
  <p:cSld>
    <p:bg>
      <p:bgPr>
        <a:solidFill xmlns:a="http://schemas.openxmlformats.org/drawingml/2006/main">
          <a:srgbClr val="0B2133"/>
        </a:solidFill>
      </p:bgPr>
    </p:bg>
    <p:spTree>
      <p:nvGrpSpPr>
        <p:cNvPr id="1" name=""/>
        <p:cNvGrpSpPr/>
        <p:nvPr/>
      </p:nvGrpSpPr>
      <p:grpSpPr>
        <a:xfrm xmlns:a="http://schemas.openxmlformats.org/drawingml/2006/main"/>
      </p:grpSpPr>
      <p:sp>
        <p:nvSpPr>
          <p:cNvPr id="5" name="DEPO DIGITAL THREAD">
            <a:extLst xmlns:a="http://schemas.openxmlformats.org/drawingml/2006/main">
              <a:ext uri="{FF2B5EF4-FFF2-40B4-BE49-F238E27FC236}">
                <a16:creationId xmlns:a16="http://schemas.microsoft.com/office/drawing/2014/main" id="{5CB089C1-634C-453F-923E-76626E8D135E}"/>
              </a:ext>
            </a:extLst>
          </p:cNvPr>
          <p:cNvSpPr>
            <a:spLocks xmlns:a="http://schemas.openxmlformats.org/drawingml/2006/main" noGrp="1"/>
          </p:cNvSpPr>
          <p:nvPr/>
        </p:nvSpPr>
        <p:spPr>
          <a:xfrm xmlns:a="http://schemas.openxmlformats.org/drawingml/2006/main">
            <a:off x="714375" y="857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5CD0D1"/>
                </a:solidFill>
                <a:latin typeface="Arial"/>
                <a:ea typeface="Arial"/>
                <a:cs typeface="Arial"/>
              </a:defRPr>
            </a:pPr>
            <a:r>
              <a:rPr sz="1800" b="1">
                <a:solidFill>
                  <a:srgbClr val="5CD0D1"/>
                </a:solidFill>
                <a:latin typeface="Arial"/>
                <a:ea typeface="Arial"/>
                <a:cs typeface="Arial"/>
              </a:rPr>
              <a:t>DEPO DIGITAL THREAD</a:t>
            </a:r>
          </a:p>
        </p:txBody>
      </p:sp>
      <p:sp>
        <p:nvSpPr>
          <p:cNvPr id="2" name="Functional architecture&#10;and customer deployment">
            <a:extLst xmlns:a="http://schemas.openxmlformats.org/drawingml/2006/main">
              <a:ext uri="{FF2B5EF4-FFF2-40B4-BE49-F238E27FC236}">
                <a16:creationId xmlns:a16="http://schemas.microsoft.com/office/drawing/2014/main" id="{A7722472-2614-4C3A-BAC5-35D4EDA0395C}"/>
              </a:ext>
            </a:extLst>
          </p:cNvPr>
          <p:cNvSpPr>
            <a:spLocks xmlns:a="http://schemas.openxmlformats.org/drawingml/2006/main" noGrp="1"/>
          </p:cNvSpPr>
          <p:nvPr/>
        </p:nvSpPr>
        <p:spPr>
          <a:xfrm xmlns:a="http://schemas.openxmlformats.org/drawingml/2006/main">
            <a:off x="714375" y="178117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Functional architecture</a:t>
            </a:r>
          </a:p>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and customer deployment</a:t>
            </a:r>
          </a:p>
        </p:txBody>
      </p:sp>
      <p:sp>
        <p:nvSpPr>
          <p:cNvPr id="3" name="Semantic Bridge, governed data jobs and graph publication">
            <a:extLst xmlns:a="http://schemas.openxmlformats.org/drawingml/2006/main">
              <a:ext uri="{FF2B5EF4-FFF2-40B4-BE49-F238E27FC236}">
                <a16:creationId xmlns:a16="http://schemas.microsoft.com/office/drawing/2014/main" id="{2552629C-DF8C-43F9-9DE6-FD6D8A87F772}"/>
              </a:ext>
            </a:extLst>
          </p:cNvPr>
          <p:cNvSpPr>
            <a:spLocks xmlns:a="http://schemas.openxmlformats.org/drawingml/2006/main" noGrp="1"/>
          </p:cNvSpPr>
          <p:nvPr/>
        </p:nvSpPr>
        <p:spPr>
          <a:xfrm xmlns:a="http://schemas.openxmlformats.org/drawingml/2006/main">
            <a:off x="742950" y="369570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CCDDE7"/>
                </a:solidFill>
                <a:latin typeface="Arial"/>
                <a:ea typeface="Arial"/>
                <a:cs typeface="Arial"/>
              </a:defRPr>
            </a:pPr>
            <a:r>
              <a:rPr sz="2250" b="0">
                <a:solidFill>
                  <a:srgbClr val="CCDDE7"/>
                </a:solidFill>
                <a:latin typeface="Arial"/>
                <a:ea typeface="Arial"/>
                <a:cs typeface="Arial"/>
              </a:rPr>
              <a:t>Semantic Bridge, governed data jobs and graph publication</a:t>
            </a:r>
          </a:p>
        </p:txBody>
      </p:sp>
      <p:sp>
        <p:nvSpPr>
          <p:cNvPr id="4" name="Consolidated presentation&#10;22 September 2026">
            <a:extLst xmlns:a="http://schemas.openxmlformats.org/drawingml/2006/main">
              <a:ext uri="{FF2B5EF4-FFF2-40B4-BE49-F238E27FC236}">
                <a16:creationId xmlns:a16="http://schemas.microsoft.com/office/drawing/2014/main" id="{B92618B1-0A33-45C8-A870-CB9D8DF29A00}"/>
              </a:ext>
            </a:extLst>
          </p:cNvPr>
          <p:cNvSpPr>
            <a:spLocks xmlns:a="http://schemas.openxmlformats.org/drawingml/2006/main" noGrp="1"/>
          </p:cNvSpPr>
          <p:nvPr/>
        </p:nvSpPr>
        <p:spPr>
          <a:xfrm xmlns:a="http://schemas.openxmlformats.org/drawingml/2006/main">
            <a:off x="742950" y="5191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CCDDE7"/>
                </a:solidFill>
                <a:latin typeface="Arial"/>
                <a:ea typeface="Arial"/>
                <a:cs typeface="Arial"/>
              </a:defRPr>
            </a:pPr>
            <a:r>
              <a:rPr sz="1725" b="0">
                <a:solidFill>
                  <a:srgbClr val="CCDDE7"/>
                </a:solidFill>
                <a:latin typeface="Arial"/>
                <a:ea typeface="Arial"/>
                <a:cs typeface="Arial"/>
              </a:rPr>
              <a:t>Consolidated presentation</a:t>
            </a:r>
          </a:p>
          <a:p xmlns:a="http://schemas.openxmlformats.org/drawingml/2006/main">
            <a:pPr>
              <a:buNone/>
              <a:defRPr sz="1725" b="0">
                <a:solidFill>
                  <a:srgbClr val="CCDDE7"/>
                </a:solidFill>
                <a:latin typeface="Arial"/>
                <a:ea typeface="Arial"/>
                <a:cs typeface="Arial"/>
              </a:defRPr>
            </a:pPr>
            <a:r>
              <a:rPr sz="1725" b="0">
                <a:solidFill>
                  <a:srgbClr val="CCDDE7"/>
                </a:solidFill>
                <a:latin typeface="Arial"/>
                <a:ea typeface="Arial"/>
                <a:cs typeface="Arial"/>
              </a:rPr>
              <a:t>6 October 2026</a:t>
            </a:r>
          </a:p>
        </p:txBody>
      </p:sp>
    </p:spTree>
    <p:extLst>
      <p:ext uri="{BB962C8B-B14F-4D97-AF65-F5344CB8AC3E}">
        <p14:creationId xmlns:p14="http://schemas.microsoft.com/office/powerpoint/2010/main" val="1123464075"/>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Engineering data to usable graph evidence">
            <a:extLst xmlns:a="http://schemas.openxmlformats.org/drawingml/2006/main">
              <a:ext uri="{FF2B5EF4-FFF2-40B4-BE49-F238E27FC236}">
                <a16:creationId xmlns:a16="http://schemas.microsoft.com/office/drawing/2014/main" id="{6A2B7355-051E-404A-9B6A-B2C5DBBDB1D0}"/>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Engineering data to usable graph evidence</a:t>
            </a:r>
          </a:p>
        </p:txBody>
      </p:sp>
      <p:sp>
        <p:nvSpPr>
          <p:cNvPr id="2" name="Each stage has an accountable user and a retained output.">
            <a:extLst xmlns:a="http://schemas.openxmlformats.org/drawingml/2006/main">
              <a:ext uri="{FF2B5EF4-FFF2-40B4-BE49-F238E27FC236}">
                <a16:creationId xmlns:a16="http://schemas.microsoft.com/office/drawing/2014/main" id="{D76CB86A-8D4D-4970-B727-29597451CB8F}"/>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Each stage has an accountable user and a retained output.</a:t>
            </a:r>
          </a:p>
        </p:txBody>
      </p:sp>
      <p:sp>
        <p:nvSpPr>
          <p:cNvPr id="3" name="DEPO  /  Functional architecture">
            <a:extLst xmlns:a="http://schemas.openxmlformats.org/drawingml/2006/main">
              <a:ext uri="{FF2B5EF4-FFF2-40B4-BE49-F238E27FC236}">
                <a16:creationId xmlns:a16="http://schemas.microsoft.com/office/drawing/2014/main" id="{167F2D76-FFC0-4861-BDAD-B5385C657BBA}"/>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2">
            <a:extLst xmlns:a="http://schemas.openxmlformats.org/drawingml/2006/main">
              <a:ext uri="{FF2B5EF4-FFF2-40B4-BE49-F238E27FC236}">
                <a16:creationId xmlns:a16="http://schemas.microsoft.com/office/drawing/2014/main" id="{2D39212A-5FCC-42AA-B8BC-855FF0BF67FB}"/>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02</a:t>
            </a:r>
          </a:p>
        </p:txBody>
      </p:sp>
      <p:sp>
        <p:nvSpPr>
          <p:cNvPr id="5" name="Capture">
            <a:extLst xmlns:a="http://schemas.openxmlformats.org/drawingml/2006/main">
              <a:ext uri="{FF2B5EF4-FFF2-40B4-BE49-F238E27FC236}">
                <a16:creationId xmlns:a16="http://schemas.microsoft.com/office/drawing/2014/main" id="{F28247B4-1FA7-4F0E-9EA4-BB8655433C48}"/>
              </a:ext>
            </a:extLst>
          </p:cNvPr>
          <p:cNvSpPr>
            <a:spLocks xmlns:a="http://schemas.openxmlformats.org/drawingml/2006/main" noGrp="1"/>
          </p:cNvSpPr>
          <p:nvPr/>
        </p:nvSpPr>
        <p:spPr>
          <a:xfrm xmlns:a="http://schemas.openxmlformats.org/drawingml/2006/main">
            <a:off x="571500" y="2095500"/>
            <a:ext cx="250507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Capture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Engineer imports a source file or engineering record.</a:t>
            </a:r>
          </a:p>
        </p:txBody>
      </p:sp>
      <p:sp>
        <p:nvSpPr>
          <p:cNvPr id="6" name="Prepare">
            <a:extLst xmlns:a="http://schemas.openxmlformats.org/drawingml/2006/main">
              <a:ext uri="{FF2B5EF4-FFF2-40B4-BE49-F238E27FC236}">
                <a16:creationId xmlns:a16="http://schemas.microsoft.com/office/drawing/2014/main" id="{4F06F2D9-675E-41AE-A00B-B92B446D8C7F}"/>
              </a:ext>
            </a:extLst>
          </p:cNvPr>
          <p:cNvSpPr>
            <a:spLocks xmlns:a="http://schemas.openxmlformats.org/drawingml/2006/main" noGrp="1"/>
          </p:cNvSpPr>
          <p:nvPr/>
        </p:nvSpPr>
        <p:spPr>
          <a:xfrm xmlns:a="http://schemas.openxmlformats.org/drawingml/2006/main">
            <a:off x="3419475" y="2095500"/>
            <a:ext cx="2505075" cy="1619250"/>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Prepare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Steward selects mappings and checks quality evidence.</a:t>
            </a:r>
          </a:p>
        </p:txBody>
      </p:sp>
      <p:sp>
        <p:nvSpPr>
          <p:cNvPr id="7" name="Approve">
            <a:extLst xmlns:a="http://schemas.openxmlformats.org/drawingml/2006/main">
              <a:ext uri="{FF2B5EF4-FFF2-40B4-BE49-F238E27FC236}">
                <a16:creationId xmlns:a16="http://schemas.microsoft.com/office/drawing/2014/main" id="{5B2C50AE-5F51-40C7-83FE-CA996D51A1CA}"/>
              </a:ext>
            </a:extLst>
          </p:cNvPr>
          <p:cNvSpPr>
            <a:spLocks xmlns:a="http://schemas.openxmlformats.org/drawingml/2006/main" noGrp="1"/>
          </p:cNvSpPr>
          <p:nvPr/>
        </p:nvSpPr>
        <p:spPr>
          <a:xfrm xmlns:a="http://schemas.openxmlformats.org/drawingml/2006/main">
            <a:off x="6267450" y="2095500"/>
            <a:ext cx="2505075" cy="1619250"/>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Approve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Authorized reviewer accepts the specific publication.</a:t>
            </a:r>
          </a:p>
        </p:txBody>
      </p:sp>
      <p:sp>
        <p:nvSpPr>
          <p:cNvPr id="8" name="Consume">
            <a:extLst xmlns:a="http://schemas.openxmlformats.org/drawingml/2006/main">
              <a:ext uri="{FF2B5EF4-FFF2-40B4-BE49-F238E27FC236}">
                <a16:creationId xmlns:a16="http://schemas.microsoft.com/office/drawing/2014/main" id="{3F57DD4E-94EB-4FD0-8D32-62E5C024554C}"/>
              </a:ext>
            </a:extLst>
          </p:cNvPr>
          <p:cNvSpPr>
            <a:spLocks xmlns:a="http://schemas.openxmlformats.org/drawingml/2006/main" noGrp="1"/>
          </p:cNvSpPr>
          <p:nvPr/>
        </p:nvSpPr>
        <p:spPr>
          <a:xfrm xmlns:a="http://schemas.openxmlformats.org/drawingml/2006/main">
            <a:off x="9115425" y="2095500"/>
            <a:ext cx="250507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Consume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Analyst explores the graph or retrieves product evidence.</a:t>
            </a:r>
          </a:p>
        </p:txBody>
      </p:sp>
      <p:cxnSp>
        <p:nvCxnSpPr>
          <p:cNvPr id="57" name=""/>
          <p:cNvCxnSpPr>
            <a:stCxn xmlns:a="http://schemas.openxmlformats.org/drawingml/2006/main" id="5" idx="3"/>
            <a:endCxn xmlns:a="http://schemas.openxmlformats.org/drawingml/2006/main" id="6" idx="1"/>
          </p:cNvCxnSpPr>
          <p:nvPr/>
        </p:nvCxnSpPr>
        <p:spPr>
          <a:xfrm xmlns:a="http://schemas.openxmlformats.org/drawingml/2006/main">
            <a:off x="3076575" y="290512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8" name=""/>
          <p:cNvCxnSpPr>
            <a:stCxn xmlns:a="http://schemas.openxmlformats.org/drawingml/2006/main" id="6" idx="3"/>
            <a:endCxn xmlns:a="http://schemas.openxmlformats.org/drawingml/2006/main" id="7" idx="1"/>
          </p:cNvCxnSpPr>
          <p:nvPr/>
        </p:nvCxnSpPr>
        <p:spPr>
          <a:xfrm xmlns:a="http://schemas.openxmlformats.org/drawingml/2006/main">
            <a:off x="5924550" y="290512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9" name=""/>
          <p:cNvCxnSpPr>
            <a:stCxn xmlns:a="http://schemas.openxmlformats.org/drawingml/2006/main" id="7" idx="3"/>
            <a:endCxn xmlns:a="http://schemas.openxmlformats.org/drawingml/2006/main" id="8" idx="1"/>
          </p:cNvCxnSpPr>
          <p:nvPr/>
        </p:nvCxnSpPr>
        <p:spPr>
          <a:xfrm xmlns:a="http://schemas.openxmlformats.org/drawingml/2006/main">
            <a:off x="8772525" y="290512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Input">
            <a:extLst xmlns:a="http://schemas.openxmlformats.org/drawingml/2006/main">
              <a:ext uri="{FF2B5EF4-FFF2-40B4-BE49-F238E27FC236}">
                <a16:creationId xmlns:a16="http://schemas.microsoft.com/office/drawing/2014/main" id="{44D4776D-C9F8-4AC6-B725-0B526C675BC9}"/>
              </a:ext>
            </a:extLst>
          </p:cNvPr>
          <p:cNvSpPr>
            <a:spLocks xmlns:a="http://schemas.openxmlformats.org/drawingml/2006/main" noGrp="1"/>
          </p:cNvSpPr>
          <p:nvPr/>
        </p:nvSpPr>
        <p:spPr>
          <a:xfrm xmlns:a="http://schemas.openxmlformats.org/drawingml/2006/main">
            <a:off x="571500" y="41910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Input</a:t>
            </a:r>
          </a:p>
        </p:txBody>
      </p:sp>
      <p:sp>
        <p:nvSpPr>
          <p:cNvPr id="13" name="Source artifact, ontology release and intended engineering use case.">
            <a:extLst xmlns:a="http://schemas.openxmlformats.org/drawingml/2006/main">
              <a:ext uri="{FF2B5EF4-FFF2-40B4-BE49-F238E27FC236}">
                <a16:creationId xmlns:a16="http://schemas.microsoft.com/office/drawing/2014/main" id="{5828A37D-9D74-446C-81FF-4A74891D9C29}"/>
              </a:ext>
            </a:extLst>
          </p:cNvPr>
          <p:cNvSpPr>
            <a:spLocks xmlns:a="http://schemas.openxmlformats.org/drawingml/2006/main" noGrp="1"/>
          </p:cNvSpPr>
          <p:nvPr/>
        </p:nvSpPr>
        <p:spPr>
          <a:xfrm xmlns:a="http://schemas.openxmlformats.org/drawingml/2006/main">
            <a:off x="571500" y="4648200"/>
            <a:ext cx="519112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Source artifact, ontology release and intended engineering use case.</a:t>
            </a:r>
          </a:p>
        </p:txBody>
      </p:sp>
      <p:sp>
        <p:nvSpPr>
          <p:cNvPr id="14" name="Retained evidence">
            <a:extLst xmlns:a="http://schemas.openxmlformats.org/drawingml/2006/main">
              <a:ext uri="{FF2B5EF4-FFF2-40B4-BE49-F238E27FC236}">
                <a16:creationId xmlns:a16="http://schemas.microsoft.com/office/drawing/2014/main" id="{2ADCCA72-5030-40B3-B307-45A63825C8EC}"/>
              </a:ext>
            </a:extLst>
          </p:cNvPr>
          <p:cNvSpPr>
            <a:spLocks xmlns:a="http://schemas.openxmlformats.org/drawingml/2006/main" noGrp="1"/>
          </p:cNvSpPr>
          <p:nvPr/>
        </p:nvSpPr>
        <p:spPr>
          <a:xfrm xmlns:a="http://schemas.openxmlformats.org/drawingml/2006/main">
            <a:off x="6096000" y="41910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Retained evidence</a:t>
            </a:r>
          </a:p>
        </p:txBody>
      </p:sp>
      <p:sp>
        <p:nvSpPr>
          <p:cNvPr id="15" name="Source digest, job/run identity, review decision and publication recei">
            <a:extLst xmlns:a="http://schemas.openxmlformats.org/drawingml/2006/main">
              <a:ext uri="{FF2B5EF4-FFF2-40B4-BE49-F238E27FC236}">
                <a16:creationId xmlns:a16="http://schemas.microsoft.com/office/drawing/2014/main" id="{36D07DDF-2BAD-4578-8C92-1CD6BA312B7C}"/>
              </a:ext>
            </a:extLst>
          </p:cNvPr>
          <p:cNvSpPr>
            <a:spLocks xmlns:a="http://schemas.openxmlformats.org/drawingml/2006/main" noGrp="1"/>
          </p:cNvSpPr>
          <p:nvPr/>
        </p:nvSpPr>
        <p:spPr>
          <a:xfrm xmlns:a="http://schemas.openxmlformats.org/drawingml/2006/main">
            <a:off x="6096000" y="4648200"/>
            <a:ext cx="519112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Source digest, job/run identity, review decision and publication receipt.</a:t>
            </a:r>
          </a:p>
        </p:txBody>
      </p:sp>
    </p:spTree>
    <p:extLst>
      <p:ext uri="{BB962C8B-B14F-4D97-AF65-F5344CB8AC3E}">
        <p14:creationId xmlns:p14="http://schemas.microsoft.com/office/powerpoint/2010/main" val="1691398884"/>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Component responsibilities">
            <a:extLst xmlns:a="http://schemas.openxmlformats.org/drawingml/2006/main">
              <a:ext uri="{FF2B5EF4-FFF2-40B4-BE49-F238E27FC236}">
                <a16:creationId xmlns:a16="http://schemas.microsoft.com/office/drawing/2014/main" id="{935DA4A9-8AFB-4AFA-8B00-978D0495BD5C}"/>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Component responsibilities</a:t>
            </a:r>
          </a:p>
        </p:txBody>
      </p:sp>
      <p:sp>
        <p:nvSpPr>
          <p:cNvPr id="2" name="Logical work stages across ten APIs. Detailed call paths follow on the">
            <a:extLst xmlns:a="http://schemas.openxmlformats.org/drawingml/2006/main">
              <a:ext uri="{FF2B5EF4-FFF2-40B4-BE49-F238E27FC236}">
                <a16:creationId xmlns:a16="http://schemas.microsoft.com/office/drawing/2014/main" id="{29C20917-4AC5-463B-8E38-DDDE2A0AA880}"/>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Logical work stages across ten APIs. Detailed call paths follow on the next slides.</a:t>
            </a:r>
          </a:p>
        </p:txBody>
      </p:sp>
      <p:sp>
        <p:nvSpPr>
          <p:cNvPr id="3" name="DEPO  /  Functional architecture">
            <a:extLst xmlns:a="http://schemas.openxmlformats.org/drawingml/2006/main">
              <a:ext uri="{FF2B5EF4-FFF2-40B4-BE49-F238E27FC236}">
                <a16:creationId xmlns:a16="http://schemas.microsoft.com/office/drawing/2014/main" id="{7A2E4059-C776-4E67-9354-75EDCEAE0735}"/>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3">
            <a:extLst xmlns:a="http://schemas.openxmlformats.org/drawingml/2006/main">
              <a:ext uri="{FF2B5EF4-FFF2-40B4-BE49-F238E27FC236}">
                <a16:creationId xmlns:a16="http://schemas.microsoft.com/office/drawing/2014/main" id="{BCAC46C6-2074-4387-9BD0-7C93837CC6F7}"/>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03</a:t>
            </a:r>
          </a:p>
        </p:txBody>
      </p:sp>
      <p:sp>
        <p:nvSpPr>
          <p:cNvPr id="5" name="Capture">
            <a:extLst xmlns:a="http://schemas.openxmlformats.org/drawingml/2006/main">
              <a:ext uri="{FF2B5EF4-FFF2-40B4-BE49-F238E27FC236}">
                <a16:creationId xmlns:a16="http://schemas.microsoft.com/office/drawing/2014/main" id="{6BF7F208-E40F-402D-BAC3-B7E9404B3D4B}"/>
              </a:ext>
            </a:extLst>
          </p:cNvPr>
          <p:cNvSpPr>
            <a:spLocks xmlns:a="http://schemas.openxmlformats.org/drawingml/2006/main" noGrp="1"/>
          </p:cNvSpPr>
          <p:nvPr/>
        </p:nvSpPr>
        <p:spPr>
          <a:xfrm xmlns:a="http://schemas.openxmlformats.org/drawingml/2006/main">
            <a:off x="571500" y="2095500"/>
            <a:ext cx="2505075" cy="18097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Capture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Schema sets 8010
Ingestion 8014
OSLC 8015</a:t>
            </a:r>
          </a:p>
        </p:txBody>
      </p:sp>
      <p:sp>
        <p:nvSpPr>
          <p:cNvPr id="6" name="Govern">
            <a:extLst xmlns:a="http://schemas.openxmlformats.org/drawingml/2006/main">
              <a:ext uri="{FF2B5EF4-FFF2-40B4-BE49-F238E27FC236}">
                <a16:creationId xmlns:a16="http://schemas.microsoft.com/office/drawing/2014/main" id="{F5D907F0-9055-4290-902E-E74DDF009AC2}"/>
              </a:ext>
            </a:extLst>
          </p:cNvPr>
          <p:cNvSpPr>
            <a:spLocks xmlns:a="http://schemas.openxmlformats.org/drawingml/2006/main" noGrp="1"/>
          </p:cNvSpPr>
          <p:nvPr/>
        </p:nvSpPr>
        <p:spPr>
          <a:xfrm xmlns:a="http://schemas.openxmlformats.org/drawingml/2006/main">
            <a:off x="3419475" y="2095500"/>
            <a:ext cx="2505075" cy="1809750"/>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Govern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Ontology 8011
CEIM 8018</a:t>
            </a:r>
          </a:p>
        </p:txBody>
      </p:sp>
      <p:sp>
        <p:nvSpPr>
          <p:cNvPr id="7" name="Execute">
            <a:extLst xmlns:a="http://schemas.openxmlformats.org/drawingml/2006/main">
              <a:ext uri="{FF2B5EF4-FFF2-40B4-BE49-F238E27FC236}">
                <a16:creationId xmlns:a16="http://schemas.microsoft.com/office/drawing/2014/main" id="{539FF53D-638D-4055-A382-64C44267D639}"/>
              </a:ext>
            </a:extLst>
          </p:cNvPr>
          <p:cNvSpPr>
            <a:spLocks xmlns:a="http://schemas.openxmlformats.org/drawingml/2006/main" noGrp="1"/>
          </p:cNvSpPr>
          <p:nvPr/>
        </p:nvSpPr>
        <p:spPr>
          <a:xfrm xmlns:a="http://schemas.openxmlformats.org/drawingml/2006/main">
            <a:off x="6267450" y="2095500"/>
            <a:ext cx="2505075" cy="1809750"/>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Execute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Pipeline 8019
Agentic 8012</a:t>
            </a:r>
          </a:p>
        </p:txBody>
      </p:sp>
      <p:sp>
        <p:nvSpPr>
          <p:cNvPr id="8" name="Serve">
            <a:extLst xmlns:a="http://schemas.openxmlformats.org/drawingml/2006/main">
              <a:ext uri="{FF2B5EF4-FFF2-40B4-BE49-F238E27FC236}">
                <a16:creationId xmlns:a16="http://schemas.microsoft.com/office/drawing/2014/main" id="{72BA970E-04FF-488D-B769-D235E6B165F7}"/>
              </a:ext>
            </a:extLst>
          </p:cNvPr>
          <p:cNvSpPr>
            <a:spLocks xmlns:a="http://schemas.openxmlformats.org/drawingml/2006/main" noGrp="1"/>
          </p:cNvSpPr>
          <p:nvPr/>
        </p:nvSpPr>
        <p:spPr>
          <a:xfrm xmlns:a="http://schemas.openxmlformats.org/drawingml/2006/main">
            <a:off x="9115425" y="2095500"/>
            <a:ext cx="2505075" cy="1809750"/>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Serve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Graph 8013
Products 8017
Catalog 8016</a:t>
            </a:r>
          </a:p>
        </p:txBody>
      </p:sp>
      <p:cxnSp>
        <p:nvCxnSpPr>
          <p:cNvPr id="56" name=""/>
          <p:cNvCxnSpPr>
            <a:stCxn xmlns:a="http://schemas.openxmlformats.org/drawingml/2006/main" id="5" idx="3"/>
            <a:endCxn xmlns:a="http://schemas.openxmlformats.org/drawingml/2006/main" id="6" idx="1"/>
          </p:cNvCxnSpPr>
          <p:nvPr/>
        </p:nvCxnSpPr>
        <p:spPr>
          <a:xfrm xmlns:a="http://schemas.openxmlformats.org/drawingml/2006/main">
            <a:off x="3076575" y="300037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7" name=""/>
          <p:cNvCxnSpPr>
            <a:stCxn xmlns:a="http://schemas.openxmlformats.org/drawingml/2006/main" id="6" idx="3"/>
            <a:endCxn xmlns:a="http://schemas.openxmlformats.org/drawingml/2006/main" id="7" idx="1"/>
          </p:cNvCxnSpPr>
          <p:nvPr/>
        </p:nvCxnSpPr>
        <p:spPr>
          <a:xfrm xmlns:a="http://schemas.openxmlformats.org/drawingml/2006/main">
            <a:off x="5924550" y="300037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8" name=""/>
          <p:cNvCxnSpPr>
            <a:stCxn xmlns:a="http://schemas.openxmlformats.org/drawingml/2006/main" id="7" idx="3"/>
            <a:endCxn xmlns:a="http://schemas.openxmlformats.org/drawingml/2006/main" id="8" idx="1"/>
          </p:cNvCxnSpPr>
          <p:nvPr/>
        </p:nvCxnSpPr>
        <p:spPr>
          <a:xfrm xmlns:a="http://schemas.openxmlformats.org/drawingml/2006/main">
            <a:off x="8772525" y="300037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PostgreSQL">
            <a:extLst xmlns:a="http://schemas.openxmlformats.org/drawingml/2006/main">
              <a:ext uri="{FF2B5EF4-FFF2-40B4-BE49-F238E27FC236}">
                <a16:creationId xmlns:a16="http://schemas.microsoft.com/office/drawing/2014/main" id="{5BDAB4DB-86DB-44A9-A731-716065D0CDAD}"/>
              </a:ext>
            </a:extLst>
          </p:cNvPr>
          <p:cNvSpPr>
            <a:spLocks xmlns:a="http://schemas.openxmlformats.org/drawingml/2006/main" noGrp="1"/>
          </p:cNvSpPr>
          <p:nvPr/>
        </p:nvSpPr>
        <p:spPr>
          <a:xfrm xmlns:a="http://schemas.openxmlformats.org/drawingml/2006/main">
            <a:off x="571500" y="4524375"/>
            <a:ext cx="3429000"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PostgreSQL</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Definitions, approvals, run state and catalog records</a:t>
            </a:r>
          </a:p>
        </p:txBody>
      </p:sp>
      <p:sp>
        <p:nvSpPr>
          <p:cNvPr id="13" name="Artifact storage">
            <a:extLst xmlns:a="http://schemas.openxmlformats.org/drawingml/2006/main">
              <a:ext uri="{FF2B5EF4-FFF2-40B4-BE49-F238E27FC236}">
                <a16:creationId xmlns:a16="http://schemas.microsoft.com/office/drawing/2014/main" id="{1D5B2EB1-CA12-4418-A6E9-BE816BB7CD4E}"/>
              </a:ext>
            </a:extLst>
          </p:cNvPr>
          <p:cNvSpPr>
            <a:spLocks xmlns:a="http://schemas.openxmlformats.org/drawingml/2006/main" noGrp="1"/>
          </p:cNvSpPr>
          <p:nvPr/>
        </p:nvSpPr>
        <p:spPr>
          <a:xfrm xmlns:a="http://schemas.openxmlformats.org/drawingml/2006/main">
            <a:off x="4381500" y="4524375"/>
            <a:ext cx="3429000"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Artifact storage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Retained source bytes, output partitions and manifests</a:t>
            </a:r>
          </a:p>
        </p:txBody>
      </p:sp>
      <p:sp>
        <p:nvSpPr>
          <p:cNvPr id="14" name="Neo4j">
            <a:extLst xmlns:a="http://schemas.openxmlformats.org/drawingml/2006/main">
              <a:ext uri="{FF2B5EF4-FFF2-40B4-BE49-F238E27FC236}">
                <a16:creationId xmlns:a16="http://schemas.microsoft.com/office/drawing/2014/main" id="{ADCE4D0B-505F-4E83-A234-CCB69F48878F}"/>
              </a:ext>
            </a:extLst>
          </p:cNvPr>
          <p:cNvSpPr>
            <a:spLocks xmlns:a="http://schemas.openxmlformats.org/drawingml/2006/main" noGrp="1"/>
          </p:cNvSpPr>
          <p:nvPr/>
        </p:nvSpPr>
        <p:spPr>
          <a:xfrm xmlns:a="http://schemas.openxmlformats.org/drawingml/2006/main">
            <a:off x="8191500" y="4524375"/>
            <a:ext cx="3429000"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Neo4j</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Published ontology resources and reviewed semantic links</a:t>
            </a:r>
          </a:p>
        </p:txBody>
      </p:sp>
    </p:spTree>
    <p:extLst>
      <p:ext uri="{BB962C8B-B14F-4D97-AF65-F5344CB8AC3E}">
        <p14:creationId xmlns:p14="http://schemas.microsoft.com/office/powerpoint/2010/main" val="629954823"/>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8" name="Governed publication routes">
            <a:extLst xmlns:a="http://schemas.openxmlformats.org/drawingml/2006/main">
              <a:ext uri="{FF2B5EF4-FFF2-40B4-BE49-F238E27FC236}">
                <a16:creationId xmlns:a16="http://schemas.microsoft.com/office/drawing/2014/main" id="{0D7027BF-A486-4683-9055-32BFF805583F}"/>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Governed publication routes</a:t>
            </a:r>
          </a:p>
        </p:txBody>
      </p:sp>
      <p:sp>
        <p:nvSpPr>
          <p:cNvPr id="2" name="CEIM batches and Semantic Bridge mappings use distinct Graph Service c">
            <a:extLst xmlns:a="http://schemas.openxmlformats.org/drawingml/2006/main">
              <a:ext uri="{FF2B5EF4-FFF2-40B4-BE49-F238E27FC236}">
                <a16:creationId xmlns:a16="http://schemas.microsoft.com/office/drawing/2014/main" id="{3BFE1FC9-784F-457A-B667-8BCB2399FF2E}"/>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CEIM batches and Semantic Bridge mappings use distinct Graph Service contracts.</a:t>
            </a:r>
          </a:p>
        </p:txBody>
      </p:sp>
      <p:sp>
        <p:nvSpPr>
          <p:cNvPr id="3" name="DEPO  /  Functional architecture">
            <a:extLst xmlns:a="http://schemas.openxmlformats.org/drawingml/2006/main">
              <a:ext uri="{FF2B5EF4-FFF2-40B4-BE49-F238E27FC236}">
                <a16:creationId xmlns:a16="http://schemas.microsoft.com/office/drawing/2014/main" id="{9ADE3E56-7AC5-4A12-BFA1-B5348E93AFE6}"/>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4">
            <a:extLst xmlns:a="http://schemas.openxmlformats.org/drawingml/2006/main">
              <a:ext uri="{FF2B5EF4-FFF2-40B4-BE49-F238E27FC236}">
                <a16:creationId xmlns:a16="http://schemas.microsoft.com/office/drawing/2014/main" id="{E0FE14A8-A243-43EF-B070-A96C1CC9E3E1}"/>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04</a:t>
            </a:r>
          </a:p>
        </p:txBody>
      </p:sp>
      <p:sp>
        <p:nvSpPr>
          <p:cNvPr id="5" name="Semantic batch">
            <a:extLst xmlns:a="http://schemas.openxmlformats.org/drawingml/2006/main">
              <a:ext uri="{FF2B5EF4-FFF2-40B4-BE49-F238E27FC236}">
                <a16:creationId xmlns:a16="http://schemas.microsoft.com/office/drawing/2014/main" id="{55173C22-3C51-4ED3-9162-A07F8F2C146B}"/>
              </a:ext>
            </a:extLst>
          </p:cNvPr>
          <p:cNvSpPr>
            <a:spLocks xmlns:a="http://schemas.openxmlformats.org/drawingml/2006/main" noGrp="1"/>
          </p:cNvSpPr>
          <p:nvPr/>
        </p:nvSpPr>
        <p:spPr>
          <a:xfrm xmlns:a="http://schemas.openxmlformats.org/drawingml/2006/main">
            <a:off x="571500" y="1809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Semantic batch</a:t>
            </a:r>
          </a:p>
        </p:txBody>
      </p:sp>
      <p:sp>
        <p:nvSpPr>
          <p:cNvPr id="6" name="Accepted partition">
            <a:extLst xmlns:a="http://schemas.openxmlformats.org/drawingml/2006/main">
              <a:ext uri="{FF2B5EF4-FFF2-40B4-BE49-F238E27FC236}">
                <a16:creationId xmlns:a16="http://schemas.microsoft.com/office/drawing/2014/main" id="{5E3B251E-C015-4B18-9973-858099EC4BA7}"/>
              </a:ext>
            </a:extLst>
          </p:cNvPr>
          <p:cNvSpPr>
            <a:spLocks xmlns:a="http://schemas.openxmlformats.org/drawingml/2006/main" noGrp="1"/>
          </p:cNvSpPr>
          <p:nvPr/>
        </p:nvSpPr>
        <p:spPr>
          <a:xfrm xmlns:a="http://schemas.openxmlformats.org/drawingml/2006/main">
            <a:off x="571500" y="2238375"/>
            <a:ext cx="3454400"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Accepted partition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Completed semantic job and retained batch</a:t>
            </a:r>
          </a:p>
        </p:txBody>
      </p:sp>
      <p:sp>
        <p:nvSpPr>
          <p:cNvPr id="7" name="CEIM approval">
            <a:extLst xmlns:a="http://schemas.openxmlformats.org/drawingml/2006/main">
              <a:ext uri="{FF2B5EF4-FFF2-40B4-BE49-F238E27FC236}">
                <a16:creationId xmlns:a16="http://schemas.microsoft.com/office/drawing/2014/main" id="{6C5891E8-6457-444F-AFA6-106D4222D351}"/>
              </a:ext>
            </a:extLst>
          </p:cNvPr>
          <p:cNvSpPr>
            <a:spLocks xmlns:a="http://schemas.openxmlformats.org/drawingml/2006/main" noGrp="1"/>
          </p:cNvSpPr>
          <p:nvPr/>
        </p:nvSpPr>
        <p:spPr>
          <a:xfrm xmlns:a="http://schemas.openxmlformats.org/drawingml/2006/main">
            <a:off x="4368800" y="2238375"/>
            <a:ext cx="3454400" cy="128587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CEIM approval</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Mapping, SHACL and approved semantic release</a:t>
            </a:r>
          </a:p>
        </p:txBody>
      </p:sp>
      <p:sp>
        <p:nvSpPr>
          <p:cNvPr id="8" name="Graph publication">
            <a:extLst xmlns:a="http://schemas.openxmlformats.org/drawingml/2006/main">
              <a:ext uri="{FF2B5EF4-FFF2-40B4-BE49-F238E27FC236}">
                <a16:creationId xmlns:a16="http://schemas.microsoft.com/office/drawing/2014/main" id="{E3EF2C39-E21A-4178-A922-5B2EDC34BCFE}"/>
              </a:ext>
            </a:extLst>
          </p:cNvPr>
          <p:cNvSpPr>
            <a:spLocks xmlns:a="http://schemas.openxmlformats.org/drawingml/2006/main" noGrp="1"/>
          </p:cNvSpPr>
          <p:nvPr/>
        </p:nvSpPr>
        <p:spPr>
          <a:xfrm xmlns:a="http://schemas.openxmlformats.org/drawingml/2006/main">
            <a:off x="8166100" y="2238375"/>
            <a:ext cx="3454400" cy="128587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Graph publication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Service credential authorizes ontology publication</a:t>
            </a:r>
          </a:p>
        </p:txBody>
      </p:sp>
      <p:cxnSp>
        <p:nvCxnSpPr>
          <p:cNvPr id="74" name=""/>
          <p:cNvCxnSpPr>
            <a:stCxn xmlns:a="http://schemas.openxmlformats.org/drawingml/2006/main" id="6" idx="3"/>
            <a:endCxn xmlns:a="http://schemas.openxmlformats.org/drawingml/2006/main" id="7" idx="1"/>
          </p:cNvCxnSpPr>
          <p:nvPr/>
        </p:nvCxnSpPr>
        <p:spPr>
          <a:xfrm xmlns:a="http://schemas.openxmlformats.org/drawingml/2006/main">
            <a:off x="4025900"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75" name=""/>
          <p:cNvCxnSpPr>
            <a:stCxn xmlns:a="http://schemas.openxmlformats.org/drawingml/2006/main" id="7" idx="3"/>
            <a:endCxn xmlns:a="http://schemas.openxmlformats.org/drawingml/2006/main" id="8" idx="1"/>
          </p:cNvCxnSpPr>
          <p:nvPr/>
        </p:nvCxnSpPr>
        <p:spPr>
          <a:xfrm xmlns:a="http://schemas.openxmlformats.org/drawingml/2006/main">
            <a:off x="7823200"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1" name="Semantic Bridge">
            <a:extLst xmlns:a="http://schemas.openxmlformats.org/drawingml/2006/main">
              <a:ext uri="{FF2B5EF4-FFF2-40B4-BE49-F238E27FC236}">
                <a16:creationId xmlns:a16="http://schemas.microsoft.com/office/drawing/2014/main" id="{93023943-94C5-4E78-9743-080496DE0768}"/>
              </a:ext>
            </a:extLst>
          </p:cNvPr>
          <p:cNvSpPr>
            <a:spLocks xmlns:a="http://schemas.openxmlformats.org/drawingml/2006/main" noGrp="1"/>
          </p:cNvSpPr>
          <p:nvPr/>
        </p:nvSpPr>
        <p:spPr>
          <a:xfrm xmlns:a="http://schemas.openxmlformats.org/drawingml/2006/main">
            <a:off x="571500" y="38481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Semantic Bridge</a:t>
            </a:r>
          </a:p>
        </p:txBody>
      </p:sp>
      <p:sp>
        <p:nvSpPr>
          <p:cNvPr id="12" name="Saved preview">
            <a:extLst xmlns:a="http://schemas.openxmlformats.org/drawingml/2006/main">
              <a:ext uri="{FF2B5EF4-FFF2-40B4-BE49-F238E27FC236}">
                <a16:creationId xmlns:a16="http://schemas.microsoft.com/office/drawing/2014/main" id="{F799516B-E101-400B-92B7-6808484DBDC7}"/>
              </a:ext>
            </a:extLst>
          </p:cNvPr>
          <p:cNvSpPr>
            <a:spLocks xmlns:a="http://schemas.openxmlformats.org/drawingml/2006/main" noGrp="1"/>
          </p:cNvSpPr>
          <p:nvPr/>
        </p:nvSpPr>
        <p:spPr>
          <a:xfrm xmlns:a="http://schemas.openxmlformats.org/drawingml/2006/main">
            <a:off x="571500" y="4276725"/>
            <a:ext cx="3454400"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Saved preview</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Reviewer selects eligible mapping candidates</a:t>
            </a:r>
          </a:p>
        </p:txBody>
      </p:sp>
      <p:sp>
        <p:nvSpPr>
          <p:cNvPr id="13" name="Agentic approval">
            <a:extLst xmlns:a="http://schemas.openxmlformats.org/drawingml/2006/main">
              <a:ext uri="{FF2B5EF4-FFF2-40B4-BE49-F238E27FC236}">
                <a16:creationId xmlns:a16="http://schemas.microsoft.com/office/drawing/2014/main" id="{720E2EA4-52DE-4056-A4A7-AE28FE2A2537}"/>
              </a:ext>
            </a:extLst>
          </p:cNvPr>
          <p:cNvSpPr>
            <a:spLocks xmlns:a="http://schemas.openxmlformats.org/drawingml/2006/main" noGrp="1"/>
          </p:cNvSpPr>
          <p:nvPr/>
        </p:nvSpPr>
        <p:spPr>
          <a:xfrm xmlns:a="http://schemas.openxmlformats.org/drawingml/2006/main">
            <a:off x="4368800" y="4276725"/>
            <a:ext cx="3454400" cy="128587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Agentic approval</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Checks snapshot and fixes the approved selection</a:t>
            </a:r>
          </a:p>
        </p:txBody>
      </p:sp>
      <p:sp>
        <p:nvSpPr>
          <p:cNvPr id="14" name="Graph Bridge API">
            <a:extLst xmlns:a="http://schemas.openxmlformats.org/drawingml/2006/main">
              <a:ext uri="{FF2B5EF4-FFF2-40B4-BE49-F238E27FC236}">
                <a16:creationId xmlns:a16="http://schemas.microsoft.com/office/drawing/2014/main" id="{5759665C-5557-4EA5-A4D6-6CEBDE7BD2BA}"/>
              </a:ext>
            </a:extLst>
          </p:cNvPr>
          <p:cNvSpPr>
            <a:spLocks xmlns:a="http://schemas.openxmlformats.org/drawingml/2006/main" noGrp="1"/>
          </p:cNvSpPr>
          <p:nvPr/>
        </p:nvSpPr>
        <p:spPr>
          <a:xfrm xmlns:a="http://schemas.openxmlformats.org/drawingml/2006/main">
            <a:off x="8166100" y="4276725"/>
            <a:ext cx="3454400" cy="128587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Graph Bridge API</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Commits mappings and a durable receipt</a:t>
            </a:r>
          </a:p>
        </p:txBody>
      </p:sp>
      <p:cxnSp>
        <p:nvCxnSpPr>
          <p:cNvPr id="80" name=""/>
          <p:cNvCxnSpPr>
            <a:stCxn xmlns:a="http://schemas.openxmlformats.org/drawingml/2006/main" id="12" idx="3"/>
            <a:endCxn xmlns:a="http://schemas.openxmlformats.org/drawingml/2006/main" id="13" idx="1"/>
          </p:cNvCxnSpPr>
          <p:nvPr/>
        </p:nvCxnSpPr>
        <p:spPr>
          <a:xfrm xmlns:a="http://schemas.openxmlformats.org/drawingml/2006/main">
            <a:off x="4025900" y="491966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81" name=""/>
          <p:cNvCxnSpPr>
            <a:stCxn xmlns:a="http://schemas.openxmlformats.org/drawingml/2006/main" id="13" idx="3"/>
            <a:endCxn xmlns:a="http://schemas.openxmlformats.org/drawingml/2006/main" id="14" idx="1"/>
          </p:cNvCxnSpPr>
          <p:nvPr/>
        </p:nvCxnSpPr>
        <p:spPr>
          <a:xfrm xmlns:a="http://schemas.openxmlformats.org/drawingml/2006/main">
            <a:off x="7823200" y="491966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7" name="The browser never receives the private Graph publication credential.">
            <a:extLst xmlns:a="http://schemas.openxmlformats.org/drawingml/2006/main">
              <a:ext uri="{FF2B5EF4-FFF2-40B4-BE49-F238E27FC236}">
                <a16:creationId xmlns:a16="http://schemas.microsoft.com/office/drawing/2014/main" id="{C6D43487-FCF1-4386-8B1E-E63F7C1C4CA0}"/>
              </a:ext>
            </a:extLst>
          </p:cNvPr>
          <p:cNvSpPr>
            <a:spLocks xmlns:a="http://schemas.openxmlformats.org/drawingml/2006/main" noGrp="1"/>
          </p:cNvSpPr>
          <p:nvPr/>
        </p:nvSpPr>
        <p:spPr>
          <a:xfrm xmlns:a="http://schemas.openxmlformats.org/drawingml/2006/main">
            <a:off x="571500" y="5924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007F8B"/>
                </a:solidFill>
                <a:latin typeface="Arial"/>
                <a:ea typeface="Arial"/>
                <a:cs typeface="Arial"/>
              </a:defRPr>
            </a:pPr>
            <a:r>
              <a:rPr sz="1725" b="1">
                <a:solidFill>
                  <a:srgbClr val="007F8B"/>
                </a:solidFill>
                <a:latin typeface="Arial"/>
                <a:ea typeface="Arial"/>
                <a:cs typeface="Arial"/>
              </a:rPr>
              <a:t>The browser never receives the private Graph publication credential.</a:t>
            </a:r>
          </a:p>
        </p:txBody>
      </p:sp>
    </p:spTree>
    <p:extLst>
      <p:ext uri="{BB962C8B-B14F-4D97-AF65-F5344CB8AC3E}">
        <p14:creationId xmlns:p14="http://schemas.microsoft.com/office/powerpoint/2010/main" val="1550356793"/>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8" name="Semantic Bridge review and recovery">
            <a:extLst xmlns:a="http://schemas.openxmlformats.org/drawingml/2006/main">
              <a:ext uri="{FF2B5EF4-FFF2-40B4-BE49-F238E27FC236}">
                <a16:creationId xmlns:a16="http://schemas.microsoft.com/office/drawing/2014/main" id="{8C68DFCF-5765-4CFB-92B6-F77BC9B62999}"/>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Semantic Bridge review and recovery</a:t>
            </a:r>
          </a:p>
        </p:txBody>
      </p:sp>
      <p:sp>
        <p:nvSpPr>
          <p:cNvPr id="2" name="A saved preview connects a selected import to a selected ontology.">
            <a:extLst xmlns:a="http://schemas.openxmlformats.org/drawingml/2006/main">
              <a:ext uri="{FF2B5EF4-FFF2-40B4-BE49-F238E27FC236}">
                <a16:creationId xmlns:a16="http://schemas.microsoft.com/office/drawing/2014/main" id="{F77F8162-56B1-4C73-8F57-69EB5901F259}"/>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A saved preview connects a selected import to a selected ontology.</a:t>
            </a:r>
          </a:p>
        </p:txBody>
      </p:sp>
      <p:sp>
        <p:nvSpPr>
          <p:cNvPr id="3" name="DEPO  /  Functional architecture">
            <a:extLst xmlns:a="http://schemas.openxmlformats.org/drawingml/2006/main">
              <a:ext uri="{FF2B5EF4-FFF2-40B4-BE49-F238E27FC236}">
                <a16:creationId xmlns:a16="http://schemas.microsoft.com/office/drawing/2014/main" id="{EAE8475A-A921-433D-8101-529C11F3C070}"/>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5">
            <a:extLst xmlns:a="http://schemas.openxmlformats.org/drawingml/2006/main">
              <a:ext uri="{FF2B5EF4-FFF2-40B4-BE49-F238E27FC236}">
                <a16:creationId xmlns:a16="http://schemas.microsoft.com/office/drawing/2014/main" id="{796B1BC8-B8B1-48C8-8950-3FA5F23D2B18}"/>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05</a:t>
            </a:r>
          </a:p>
        </p:txBody>
      </p:sp>
      <p:sp>
        <p:nvSpPr>
          <p:cNvPr id="5" name="Preview">
            <a:extLst xmlns:a="http://schemas.openxmlformats.org/drawingml/2006/main">
              <a:ext uri="{FF2B5EF4-FFF2-40B4-BE49-F238E27FC236}">
                <a16:creationId xmlns:a16="http://schemas.microsoft.com/office/drawing/2014/main" id="{30E7DE05-355E-4851-9320-53E7286B655A}"/>
              </a:ext>
            </a:extLst>
          </p:cNvPr>
          <p:cNvSpPr>
            <a:spLocks xmlns:a="http://schemas.openxmlformats.org/drawingml/2006/main" noGrp="1"/>
          </p:cNvSpPr>
          <p:nvPr/>
        </p:nvSpPr>
        <p:spPr>
          <a:xfrm xmlns:a="http://schemas.openxmlformats.org/drawingml/2006/main">
            <a:off x="571500" y="2143125"/>
            <a:ext cx="250507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Preview</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Snapshot source and ontology. Save candidate IDs.</a:t>
            </a:r>
          </a:p>
        </p:txBody>
      </p:sp>
      <p:sp>
        <p:nvSpPr>
          <p:cNvPr id="6" name="Review">
            <a:extLst xmlns:a="http://schemas.openxmlformats.org/drawingml/2006/main">
              <a:ext uri="{FF2B5EF4-FFF2-40B4-BE49-F238E27FC236}">
                <a16:creationId xmlns:a16="http://schemas.microsoft.com/office/drawing/2014/main" id="{07214FCC-8DEA-47B1-B455-5641483D6C8B}"/>
              </a:ext>
            </a:extLst>
          </p:cNvPr>
          <p:cNvSpPr>
            <a:spLocks xmlns:a="http://schemas.openxmlformats.org/drawingml/2006/main" noGrp="1"/>
          </p:cNvSpPr>
          <p:nvPr/>
        </p:nvSpPr>
        <p:spPr>
          <a:xfrm xmlns:a="http://schemas.openxmlformats.org/drawingml/2006/main">
            <a:off x="3419475" y="2143125"/>
            <a:ext cx="250507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Review</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Select eligible mappings. Nothing starts selected.</a:t>
            </a:r>
          </a:p>
        </p:txBody>
      </p:sp>
      <p:sp>
        <p:nvSpPr>
          <p:cNvPr id="7" name="Approve">
            <a:extLst xmlns:a="http://schemas.openxmlformats.org/drawingml/2006/main">
              <a:ext uri="{FF2B5EF4-FFF2-40B4-BE49-F238E27FC236}">
                <a16:creationId xmlns:a16="http://schemas.microsoft.com/office/drawing/2014/main" id="{34C7DB99-25BC-4906-AD7D-8CE7B3BD91C6}"/>
              </a:ext>
            </a:extLst>
          </p:cNvPr>
          <p:cNvSpPr>
            <a:spLocks xmlns:a="http://schemas.openxmlformats.org/drawingml/2006/main" noGrp="1"/>
          </p:cNvSpPr>
          <p:nvPr/>
        </p:nvSpPr>
        <p:spPr>
          <a:xfrm xmlns:a="http://schemas.openxmlformats.org/drawingml/2006/main">
            <a:off x="6267450" y="2143125"/>
            <a:ext cx="2505075" cy="1619250"/>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Approve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Supply approver identity and approval key.</a:t>
            </a:r>
          </a:p>
        </p:txBody>
      </p:sp>
      <p:sp>
        <p:nvSpPr>
          <p:cNvPr id="8" name="Publish">
            <a:extLst xmlns:a="http://schemas.openxmlformats.org/drawingml/2006/main">
              <a:ext uri="{FF2B5EF4-FFF2-40B4-BE49-F238E27FC236}">
                <a16:creationId xmlns:a16="http://schemas.microsoft.com/office/drawing/2014/main" id="{9364F71E-DAE6-4350-A64A-B44F0D424C14}"/>
              </a:ext>
            </a:extLst>
          </p:cNvPr>
          <p:cNvSpPr>
            <a:spLocks xmlns:a="http://schemas.openxmlformats.org/drawingml/2006/main" noGrp="1"/>
          </p:cNvSpPr>
          <p:nvPr/>
        </p:nvSpPr>
        <p:spPr>
          <a:xfrm xmlns:a="http://schemas.openxmlformats.org/drawingml/2006/main">
            <a:off x="9115425" y="2143125"/>
            <a:ext cx="2505075" cy="1619250"/>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Publish</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Graph transaction writes mappings and receipt.</a:t>
            </a:r>
          </a:p>
        </p:txBody>
      </p:sp>
      <p:cxnSp>
        <p:nvCxnSpPr>
          <p:cNvPr id="59" name=""/>
          <p:cNvCxnSpPr>
            <a:stCxn xmlns:a="http://schemas.openxmlformats.org/drawingml/2006/main" id="5" idx="3"/>
            <a:endCxn xmlns:a="http://schemas.openxmlformats.org/drawingml/2006/main" id="6" idx="1"/>
          </p:cNvCxnSpPr>
          <p:nvPr/>
        </p:nvCxnSpPr>
        <p:spPr>
          <a:xfrm xmlns:a="http://schemas.openxmlformats.org/drawingml/2006/main">
            <a:off x="3076575" y="2952750"/>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5924550" y="2952750"/>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61" name=""/>
          <p:cNvCxnSpPr>
            <a:stCxn xmlns:a="http://schemas.openxmlformats.org/drawingml/2006/main" id="7" idx="3"/>
            <a:endCxn xmlns:a="http://schemas.openxmlformats.org/drawingml/2006/main" id="8" idx="1"/>
          </p:cNvCxnSpPr>
          <p:nvPr/>
        </p:nvCxnSpPr>
        <p:spPr>
          <a:xfrm xmlns:a="http://schemas.openxmlformats.org/drawingml/2006/main">
            <a:off x="8772525" y="2952750"/>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Changed source">
            <a:extLst xmlns:a="http://schemas.openxmlformats.org/drawingml/2006/main">
              <a:ext uri="{FF2B5EF4-FFF2-40B4-BE49-F238E27FC236}">
                <a16:creationId xmlns:a16="http://schemas.microsoft.com/office/drawing/2014/main" id="{2A51CF85-FA0F-4C7F-B048-08ED499E6FC8}"/>
              </a:ext>
            </a:extLst>
          </p:cNvPr>
          <p:cNvSpPr>
            <a:spLocks xmlns:a="http://schemas.openxmlformats.org/drawingml/2006/main" noGrp="1"/>
          </p:cNvSpPr>
          <p:nvPr/>
        </p:nvSpPr>
        <p:spPr>
          <a:xfrm xmlns:a="http://schemas.openxmlformats.org/drawingml/2006/main">
            <a:off x="571500" y="4286250"/>
            <a:ext cx="339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Changed source</a:t>
            </a:r>
          </a:p>
        </p:txBody>
      </p:sp>
      <p:sp>
        <p:nvSpPr>
          <p:cNvPr id="13" name="A stale snapshot requires a new preview and review.">
            <a:extLst xmlns:a="http://schemas.openxmlformats.org/drawingml/2006/main">
              <a:ext uri="{FF2B5EF4-FFF2-40B4-BE49-F238E27FC236}">
                <a16:creationId xmlns:a16="http://schemas.microsoft.com/office/drawing/2014/main" id="{9BE9B9DC-FED0-4212-8F71-5FDC112D1A52}"/>
              </a:ext>
            </a:extLst>
          </p:cNvPr>
          <p:cNvSpPr>
            <a:spLocks xmlns:a="http://schemas.openxmlformats.org/drawingml/2006/main" noGrp="1"/>
          </p:cNvSpPr>
          <p:nvPr/>
        </p:nvSpPr>
        <p:spPr>
          <a:xfrm xmlns:a="http://schemas.openxmlformats.org/drawingml/2006/main">
            <a:off x="571500" y="4743450"/>
            <a:ext cx="3349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A stale snapshot requires a new preview and review.</a:t>
            </a:r>
          </a:p>
        </p:txBody>
      </p:sp>
      <p:sp>
        <p:nvSpPr>
          <p:cNvPr id="14" name="Interrupted response">
            <a:extLst xmlns:a="http://schemas.openxmlformats.org/drawingml/2006/main">
              <a:ext uri="{FF2B5EF4-FFF2-40B4-BE49-F238E27FC236}">
                <a16:creationId xmlns:a16="http://schemas.microsoft.com/office/drawing/2014/main" id="{9191C3B7-E25F-40DD-993B-F5D5AF794467}"/>
              </a:ext>
            </a:extLst>
          </p:cNvPr>
          <p:cNvSpPr>
            <a:spLocks xmlns:a="http://schemas.openxmlformats.org/drawingml/2006/main" noGrp="1"/>
          </p:cNvSpPr>
          <p:nvPr/>
        </p:nvSpPr>
        <p:spPr>
          <a:xfrm xmlns:a="http://schemas.openxmlformats.org/drawingml/2006/main">
            <a:off x="4254500" y="4286250"/>
            <a:ext cx="339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Interrupted response</a:t>
            </a:r>
          </a:p>
        </p:txBody>
      </p:sp>
      <p:sp>
        <p:nvSpPr>
          <p:cNvPr id="15" name="Retry the same selection. Reconcile the durable graph receipt.">
            <a:extLst xmlns:a="http://schemas.openxmlformats.org/drawingml/2006/main">
              <a:ext uri="{FF2B5EF4-FFF2-40B4-BE49-F238E27FC236}">
                <a16:creationId xmlns:a16="http://schemas.microsoft.com/office/drawing/2014/main" id="{35388D10-C26B-48AC-A1A9-4286B36695B8}"/>
              </a:ext>
            </a:extLst>
          </p:cNvPr>
          <p:cNvSpPr>
            <a:spLocks xmlns:a="http://schemas.openxmlformats.org/drawingml/2006/main" noGrp="1"/>
          </p:cNvSpPr>
          <p:nvPr/>
        </p:nvSpPr>
        <p:spPr>
          <a:xfrm xmlns:a="http://schemas.openxmlformats.org/drawingml/2006/main">
            <a:off x="4254500" y="4743450"/>
            <a:ext cx="3349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Retry the same selection. Reconcile the durable graph receipt.</a:t>
            </a:r>
          </a:p>
        </p:txBody>
      </p:sp>
      <p:sp>
        <p:nvSpPr>
          <p:cNvPr id="16" name="UI evidence">
            <a:extLst xmlns:a="http://schemas.openxmlformats.org/drawingml/2006/main">
              <a:ext uri="{FF2B5EF4-FFF2-40B4-BE49-F238E27FC236}">
                <a16:creationId xmlns:a16="http://schemas.microsoft.com/office/drawing/2014/main" id="{755A7002-4A1B-41D0-858A-E16CB4A3146F}"/>
              </a:ext>
            </a:extLst>
          </p:cNvPr>
          <p:cNvSpPr>
            <a:spLocks xmlns:a="http://schemas.openxmlformats.org/drawingml/2006/main" noGrp="1"/>
          </p:cNvSpPr>
          <p:nvPr/>
        </p:nvSpPr>
        <p:spPr>
          <a:xfrm xmlns:a="http://schemas.openxmlformats.org/drawingml/2006/main">
            <a:off x="7937500" y="4286250"/>
            <a:ext cx="339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UI evidence</a:t>
            </a:r>
          </a:p>
        </p:txBody>
      </p:sp>
      <p:sp>
        <p:nvSpPr>
          <p:cNvPr id="17" name="Load a saved preview, refresh status and download the job artifact.">
            <a:extLst xmlns:a="http://schemas.openxmlformats.org/drawingml/2006/main">
              <a:ext uri="{FF2B5EF4-FFF2-40B4-BE49-F238E27FC236}">
                <a16:creationId xmlns:a16="http://schemas.microsoft.com/office/drawing/2014/main" id="{629D8BB3-85DB-44D6-9DE7-8039755CD2C0}"/>
              </a:ext>
            </a:extLst>
          </p:cNvPr>
          <p:cNvSpPr>
            <a:spLocks xmlns:a="http://schemas.openxmlformats.org/drawingml/2006/main" noGrp="1"/>
          </p:cNvSpPr>
          <p:nvPr/>
        </p:nvSpPr>
        <p:spPr>
          <a:xfrm xmlns:a="http://schemas.openxmlformats.org/drawingml/2006/main">
            <a:off x="7937500" y="4743450"/>
            <a:ext cx="3349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Load a saved preview, refresh status and download the job artifact.</a:t>
            </a:r>
          </a:p>
        </p:txBody>
      </p:sp>
    </p:spTree>
    <p:extLst>
      <p:ext uri="{BB962C8B-B14F-4D97-AF65-F5344CB8AC3E}">
        <p14:creationId xmlns:p14="http://schemas.microsoft.com/office/powerpoint/2010/main" val="61538804"/>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Data-job execution and checkpoint control">
            <a:extLst xmlns:a="http://schemas.openxmlformats.org/drawingml/2006/main">
              <a:ext uri="{FF2B5EF4-FFF2-40B4-BE49-F238E27FC236}">
                <a16:creationId xmlns:a16="http://schemas.microsoft.com/office/drawing/2014/main" id="{0CE78E93-832E-4F95-8252-6816228A2775}"/>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Data-job execution and checkpoint control</a:t>
            </a:r>
          </a:p>
        </p:txBody>
      </p:sp>
      <p:sp>
        <p:nvSpPr>
          <p:cNvPr id="2" name="A successful compute run and a successful graph publication are separa">
            <a:extLst xmlns:a="http://schemas.openxmlformats.org/drawingml/2006/main">
              <a:ext uri="{FF2B5EF4-FFF2-40B4-BE49-F238E27FC236}">
                <a16:creationId xmlns:a16="http://schemas.microsoft.com/office/drawing/2014/main" id="{CD04BC62-C3E4-4467-A5AF-85CCA45C969C}"/>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A successful compute run and a successful graph publication are separate states.</a:t>
            </a:r>
          </a:p>
        </p:txBody>
      </p:sp>
      <p:sp>
        <p:nvSpPr>
          <p:cNvPr id="3" name="DEPO  /  Functional architecture">
            <a:extLst xmlns:a="http://schemas.openxmlformats.org/drawingml/2006/main">
              <a:ext uri="{FF2B5EF4-FFF2-40B4-BE49-F238E27FC236}">
                <a16:creationId xmlns:a16="http://schemas.microsoft.com/office/drawing/2014/main" id="{889B2718-F949-4A01-B6F2-B6885E81FBDB}"/>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6">
            <a:extLst xmlns:a="http://schemas.openxmlformats.org/drawingml/2006/main">
              <a:ext uri="{FF2B5EF4-FFF2-40B4-BE49-F238E27FC236}">
                <a16:creationId xmlns:a16="http://schemas.microsoft.com/office/drawing/2014/main" id="{B8F3888F-A3B5-4BA9-8864-917D0B1E26A9}"/>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06</a:t>
            </a:r>
          </a:p>
        </p:txBody>
      </p:sp>
      <p:sp>
        <p:nvSpPr>
          <p:cNvPr id="5" name="Job definition">
            <a:extLst xmlns:a="http://schemas.openxmlformats.org/drawingml/2006/main">
              <a:ext uri="{FF2B5EF4-FFF2-40B4-BE49-F238E27FC236}">
                <a16:creationId xmlns:a16="http://schemas.microsoft.com/office/drawing/2014/main" id="{B5121DBF-A77D-4B64-AA83-BAE6B1D06A69}"/>
              </a:ext>
            </a:extLst>
          </p:cNvPr>
          <p:cNvSpPr>
            <a:spLocks xmlns:a="http://schemas.openxmlformats.org/drawingml/2006/main" noGrp="1"/>
          </p:cNvSpPr>
          <p:nvPr/>
        </p:nvSpPr>
        <p:spPr>
          <a:xfrm xmlns:a="http://schemas.openxmlformats.org/drawingml/2006/main">
            <a:off x="571500" y="2095500"/>
            <a:ext cx="2505075" cy="152400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Job definition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Version, owner, contracts and approval</a:t>
            </a:r>
          </a:p>
        </p:txBody>
      </p:sp>
      <p:sp>
        <p:nvSpPr>
          <p:cNvPr id="6" name="Run">
            <a:extLst xmlns:a="http://schemas.openxmlformats.org/drawingml/2006/main">
              <a:ext uri="{FF2B5EF4-FFF2-40B4-BE49-F238E27FC236}">
                <a16:creationId xmlns:a16="http://schemas.microsoft.com/office/drawing/2014/main" id="{D8378A50-808E-4FD8-9167-6ACEF9763F1B}"/>
              </a:ext>
            </a:extLst>
          </p:cNvPr>
          <p:cNvSpPr>
            <a:spLocks xmlns:a="http://schemas.openxmlformats.org/drawingml/2006/main" noGrp="1"/>
          </p:cNvSpPr>
          <p:nvPr/>
        </p:nvSpPr>
        <p:spPr>
          <a:xfrm xmlns:a="http://schemas.openxmlformats.org/drawingml/2006/main">
            <a:off x="3419475" y="2095500"/>
            <a:ext cx="2505075" cy="1524000"/>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Run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Resolve retained input and execute the handler</a:t>
            </a:r>
          </a:p>
        </p:txBody>
      </p:sp>
      <p:sp>
        <p:nvSpPr>
          <p:cNvPr id="7" name="Quality result">
            <a:extLst xmlns:a="http://schemas.openxmlformats.org/drawingml/2006/main">
              <a:ext uri="{FF2B5EF4-FFF2-40B4-BE49-F238E27FC236}">
                <a16:creationId xmlns:a16="http://schemas.microsoft.com/office/drawing/2014/main" id="{AB3FFE28-D0F7-4090-BDC2-05756529DB6E}"/>
              </a:ext>
            </a:extLst>
          </p:cNvPr>
          <p:cNvSpPr>
            <a:spLocks xmlns:a="http://schemas.openxmlformats.org/drawingml/2006/main" noGrp="1"/>
          </p:cNvSpPr>
          <p:nvPr/>
        </p:nvSpPr>
        <p:spPr>
          <a:xfrm xmlns:a="http://schemas.openxmlformats.org/drawingml/2006/main">
            <a:off x="6267450" y="2095500"/>
            <a:ext cx="2505075" cy="152400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Quality result</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Keep accepted/rejected partitions and run evidence</a:t>
            </a:r>
          </a:p>
        </p:txBody>
      </p:sp>
      <p:sp>
        <p:nvSpPr>
          <p:cNvPr id="8" name="Publication">
            <a:extLst xmlns:a="http://schemas.openxmlformats.org/drawingml/2006/main">
              <a:ext uri="{FF2B5EF4-FFF2-40B4-BE49-F238E27FC236}">
                <a16:creationId xmlns:a16="http://schemas.microsoft.com/office/drawing/2014/main" id="{DA101E9A-6B58-4984-9371-B088476AFCB1}"/>
              </a:ext>
            </a:extLst>
          </p:cNvPr>
          <p:cNvSpPr>
            <a:spLocks xmlns:a="http://schemas.openxmlformats.org/drawingml/2006/main" noGrp="1"/>
          </p:cNvSpPr>
          <p:nvPr/>
        </p:nvSpPr>
        <p:spPr>
          <a:xfrm xmlns:a="http://schemas.openxmlformats.org/drawingml/2006/main">
            <a:off x="9115425" y="2095500"/>
            <a:ext cx="2505075" cy="1524000"/>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Publication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Approve the accepted semantic partition</a:t>
            </a:r>
          </a:p>
        </p:txBody>
      </p:sp>
      <p:cxnSp>
        <p:nvCxnSpPr>
          <p:cNvPr id="66" name=""/>
          <p:cNvCxnSpPr>
            <a:stCxn xmlns:a="http://schemas.openxmlformats.org/drawingml/2006/main" id="5" idx="3"/>
            <a:endCxn xmlns:a="http://schemas.openxmlformats.org/drawingml/2006/main" id="6" idx="1"/>
          </p:cNvCxnSpPr>
          <p:nvPr/>
        </p:nvCxnSpPr>
        <p:spPr>
          <a:xfrm xmlns:a="http://schemas.openxmlformats.org/drawingml/2006/main">
            <a:off x="3076575" y="2857500"/>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67" name=""/>
          <p:cNvCxnSpPr>
            <a:stCxn xmlns:a="http://schemas.openxmlformats.org/drawingml/2006/main" id="6" idx="3"/>
            <a:endCxn xmlns:a="http://schemas.openxmlformats.org/drawingml/2006/main" id="7" idx="1"/>
          </p:cNvCxnSpPr>
          <p:nvPr/>
        </p:nvCxnSpPr>
        <p:spPr>
          <a:xfrm xmlns:a="http://schemas.openxmlformats.org/drawingml/2006/main">
            <a:off x="5924550" y="2857500"/>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68" name=""/>
          <p:cNvCxnSpPr>
            <a:stCxn xmlns:a="http://schemas.openxmlformats.org/drawingml/2006/main" id="7" idx="3"/>
            <a:endCxn xmlns:a="http://schemas.openxmlformats.org/drawingml/2006/main" id="8" idx="1"/>
          </p:cNvCxnSpPr>
          <p:nvPr/>
        </p:nvCxnSpPr>
        <p:spPr>
          <a:xfrm xmlns:a="http://schemas.openxmlformats.org/drawingml/2006/main">
            <a:off x="8772525" y="2857500"/>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Accepted output">
            <a:extLst xmlns:a="http://schemas.openxmlformats.org/drawingml/2006/main">
              <a:ext uri="{FF2B5EF4-FFF2-40B4-BE49-F238E27FC236}">
                <a16:creationId xmlns:a16="http://schemas.microsoft.com/office/drawing/2014/main" id="{F1F9B67D-9D35-4262-9432-CFF92E1E3113}"/>
              </a:ext>
            </a:extLst>
          </p:cNvPr>
          <p:cNvSpPr>
            <a:spLocks xmlns:a="http://schemas.openxmlformats.org/drawingml/2006/main" noGrp="1"/>
          </p:cNvSpPr>
          <p:nvPr/>
        </p:nvSpPr>
        <p:spPr>
          <a:xfrm xmlns:a="http://schemas.openxmlformats.org/drawingml/2006/main">
            <a:off x="1571625" y="4238625"/>
            <a:ext cx="3905250" cy="110490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Accepted output</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Candidate checkpoint waits for publication</a:t>
            </a:r>
          </a:p>
        </p:txBody>
      </p:sp>
      <p:sp>
        <p:nvSpPr>
          <p:cNvPr id="13" name="Confirmed graph receipt">
            <a:extLst xmlns:a="http://schemas.openxmlformats.org/drawingml/2006/main">
              <a:ext uri="{FF2B5EF4-FFF2-40B4-BE49-F238E27FC236}">
                <a16:creationId xmlns:a16="http://schemas.microsoft.com/office/drawing/2014/main" id="{C170521F-50C4-4B93-9699-741A834E8815}"/>
              </a:ext>
            </a:extLst>
          </p:cNvPr>
          <p:cNvSpPr>
            <a:spLocks xmlns:a="http://schemas.openxmlformats.org/drawingml/2006/main" noGrp="1"/>
          </p:cNvSpPr>
          <p:nvPr/>
        </p:nvSpPr>
        <p:spPr>
          <a:xfrm xmlns:a="http://schemas.openxmlformats.org/drawingml/2006/main">
            <a:off x="6619875" y="4238625"/>
            <a:ext cx="3905250" cy="1104900"/>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Confirmed graph receipt</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Advance the checkpoint after publication succeeds</a:t>
            </a:r>
          </a:p>
        </p:txBody>
      </p:sp>
      <p:cxnSp>
        <p:nvCxnSpPr>
          <p:cNvPr id="71" name=""/>
          <p:cNvCxnSpPr>
            <a:stCxn xmlns:a="http://schemas.openxmlformats.org/drawingml/2006/main" id="12" idx="3"/>
            <a:endCxn xmlns:a="http://schemas.openxmlformats.org/drawingml/2006/main" id="13" idx="1"/>
          </p:cNvCxnSpPr>
          <p:nvPr/>
        </p:nvCxnSpPr>
        <p:spPr>
          <a:xfrm xmlns:a="http://schemas.openxmlformats.org/drawingml/2006/main">
            <a:off x="5476875" y="4791075"/>
            <a:ext cx="11430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5" name="Failed quality or uncertain publication keeps the checkpoint pending f">
            <a:extLst xmlns:a="http://schemas.openxmlformats.org/drawingml/2006/main">
              <a:ext uri="{FF2B5EF4-FFF2-40B4-BE49-F238E27FC236}">
                <a16:creationId xmlns:a16="http://schemas.microsoft.com/office/drawing/2014/main" id="{EB95A594-6284-485F-B028-A90B19EABA75}"/>
              </a:ext>
            </a:extLst>
          </p:cNvPr>
          <p:cNvSpPr>
            <a:spLocks xmlns:a="http://schemas.openxmlformats.org/drawingml/2006/main" noGrp="1"/>
          </p:cNvSpPr>
          <p:nvPr/>
        </p:nvSpPr>
        <p:spPr>
          <a:xfrm xmlns:a="http://schemas.openxmlformats.org/drawingml/2006/main">
            <a:off x="571500" y="579120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007F8B"/>
                </a:solidFill>
                <a:latin typeface="Arial"/>
                <a:ea typeface="Arial"/>
                <a:cs typeface="Arial"/>
              </a:defRPr>
            </a:pPr>
            <a:r>
              <a:rPr sz="1725" b="1">
                <a:solidFill>
                  <a:srgbClr val="007F8B"/>
                </a:solidFill>
                <a:latin typeface="Arial"/>
                <a:ea typeface="Arial"/>
                <a:cs typeface="Arial"/>
              </a:rPr>
              <a:t>Failed quality or uncertain publication keeps the checkpoint pending for review or recovery.</a:t>
            </a:r>
          </a:p>
        </p:txBody>
      </p:sp>
    </p:spTree>
    <p:extLst>
      <p:ext uri="{BB962C8B-B14F-4D97-AF65-F5344CB8AC3E}">
        <p14:creationId xmlns:p14="http://schemas.microsoft.com/office/powerpoint/2010/main" val="115243954"/>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Semantic and document job contracts">
            <a:extLst xmlns:a="http://schemas.openxmlformats.org/drawingml/2006/main">
              <a:ext uri="{FF2B5EF4-FFF2-40B4-BE49-F238E27FC236}">
                <a16:creationId xmlns:a16="http://schemas.microsoft.com/office/drawing/2014/main" id="{0B971D63-682E-415A-A787-1E069A18BECF}"/>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Semantic and document job contracts</a:t>
            </a:r>
          </a:p>
        </p:txBody>
      </p:sp>
      <p:sp>
        <p:nvSpPr>
          <p:cNvPr id="2" name="Registered handlers define explicit input and output contracts.">
            <a:extLst xmlns:a="http://schemas.openxmlformats.org/drawingml/2006/main">
              <a:ext uri="{FF2B5EF4-FFF2-40B4-BE49-F238E27FC236}">
                <a16:creationId xmlns:a16="http://schemas.microsoft.com/office/drawing/2014/main" id="{4C1D60CC-FAF3-4F9F-95B6-3D539D0288C9}"/>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Registered handlers define explicit input and output contracts.</a:t>
            </a:r>
          </a:p>
        </p:txBody>
      </p:sp>
      <p:sp>
        <p:nvSpPr>
          <p:cNvPr id="3" name="DEPO  /  Functional architecture">
            <a:extLst xmlns:a="http://schemas.openxmlformats.org/drawingml/2006/main">
              <a:ext uri="{FF2B5EF4-FFF2-40B4-BE49-F238E27FC236}">
                <a16:creationId xmlns:a16="http://schemas.microsoft.com/office/drawing/2014/main" id="{D7CBB513-88C1-4481-B7FA-BEA503BE9020}"/>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7">
            <a:extLst xmlns:a="http://schemas.openxmlformats.org/drawingml/2006/main">
              <a:ext uri="{FF2B5EF4-FFF2-40B4-BE49-F238E27FC236}">
                <a16:creationId xmlns:a16="http://schemas.microsoft.com/office/drawing/2014/main" id="{E68FEDF3-AE34-4171-A451-52172847A9FA}"/>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07</a:t>
            </a:r>
          </a:p>
        </p:txBody>
      </p:sp>
      <p:graphicFrame>
        <p:nvGraphicFramePr>
          <p:cNvPr id="13" name=""/>
          <p:cNvGraphicFramePr/>
          <p:nvPr/>
        </p:nvGraphicFramePr>
        <p:xfrm>
          <a:off xmlns:a="http://schemas.openxmlformats.org/drawingml/2006/main" x="571500" y="1847850"/>
          <a:ext xmlns:a="http://schemas.openxmlformats.org/drawingml/2006/main" cx="11049000" cy="3790950"/>
        </p:xfrm>
        <a:graphic xmlns:a="http://schemas.openxmlformats.org/drawingml/2006/main">
          <a:graphicData uri="http://schemas.openxmlformats.org/drawingml/2006/table">
            <a:tbl>
              <a:tblPr/>
              <a:tblGrid>
                <a:gridCol w="3857625"/>
                <a:gridCol w="3095625"/>
                <a:gridCol w="4095750"/>
              </a:tblGrid>
              <a:tr h="631825">
                <a:tc>
                  <a:txBody>
                    <a:bodyPr/>
                    <a:lstStyle/>
                    <a:p>
                      <a:r>
                        <a:rPr sz="1575" b="1">
                          <a:solidFill>
                            <a:srgbClr val="FFFFFF"/>
                          </a:solidFill>
                          <a:latin typeface="Arial"/>
                          <a:ea typeface="Arial"/>
                          <a:cs typeface="Arial"/>
                        </a:rPr>
                        <a:t>Job type</a:t>
                      </a:r>
                    </a:p>
                  </a:txBody>
                  <a:tcPr marL="91440" marR="91440" marT="45720" marB="45720">
                    <a:solidFill>
                      <a:srgbClr val="0B2133"/>
                    </a:solidFill>
                  </a:tcPr>
                </a:tc>
                <a:tc>
                  <a:txBody>
                    <a:bodyPr/>
                    <a:lstStyle/>
                    <a:p>
                      <a:r>
                        <a:rPr sz="1575" b="1">
                          <a:solidFill>
                            <a:srgbClr val="FFFFFF"/>
                          </a:solidFill>
                          <a:latin typeface="Arial"/>
                          <a:ea typeface="Arial"/>
                          <a:cs typeface="Arial"/>
                        </a:rPr>
                        <a:t>Input</a:t>
                      </a:r>
                    </a:p>
                  </a:txBody>
                  <a:tcPr marL="91440" marR="91440" marT="45720" marB="45720">
                    <a:solidFill>
                      <a:srgbClr val="0B2133"/>
                    </a:solidFill>
                  </a:tcPr>
                </a:tc>
                <a:tc>
                  <a:txBody>
                    <a:bodyPr/>
                    <a:lstStyle/>
                    <a:p>
                      <a:r>
                        <a:rPr sz="1575" b="1">
                          <a:solidFill>
                            <a:srgbClr val="FFFFFF"/>
                          </a:solidFill>
                          <a:latin typeface="Arial"/>
                          <a:ea typeface="Arial"/>
                          <a:cs typeface="Arial"/>
                        </a:rPr>
                        <a:t>Functional output</a:t>
                      </a:r>
                    </a:p>
                  </a:txBody>
                  <a:tcPr marL="91440" marR="91440" marT="45720" marB="45720">
                    <a:solidFill>
                      <a:srgbClr val="0B2133"/>
                    </a:solidFill>
                  </a:tcPr>
                </a:tc>
              </a:tr>
              <a:tr h="631825">
                <a:tc>
                  <a:txBody>
                    <a:bodyPr/>
                    <a:lstStyle/>
                    <a:p>
                      <a:r>
                        <a:rPr sz="1575" b="0">
                          <a:solidFill>
                            <a:srgbClr val="20313E"/>
                          </a:solidFill>
                          <a:latin typeface="Arial"/>
                          <a:ea typeface="Arial"/>
                          <a:cs typeface="Arial"/>
                        </a:rPr>
                        <a:t>normalize-ceim</a:t>
                      </a:r>
                    </a:p>
                  </a:txBody>
                  <a:tcPr marL="91440" marR="91440" marT="45720" marB="45720">
                    <a:solidFill>
                      <a:srgbClr val="FFFFFF"/>
                    </a:solidFill>
                  </a:tcPr>
                </a:tc>
                <a:tc>
                  <a:txBody>
                    <a:bodyPr/>
                    <a:lstStyle/>
                    <a:p>
                      <a:r>
                        <a:rPr sz="1575" b="0">
                          <a:solidFill>
                            <a:srgbClr val="20313E"/>
                          </a:solidFill>
                          <a:latin typeface="Arial"/>
                          <a:ea typeface="Arial"/>
                          <a:cs typeface="Arial"/>
                        </a:rPr>
                        <a:t>Source CEIM batch</a:t>
                      </a:r>
                    </a:p>
                  </a:txBody>
                  <a:tcPr marL="91440" marR="91440" marT="45720" marB="45720">
                    <a:solidFill>
                      <a:srgbClr val="FFFFFF"/>
                    </a:solidFill>
                  </a:tcPr>
                </a:tc>
                <a:tc>
                  <a:txBody>
                    <a:bodyPr/>
                    <a:lstStyle/>
                    <a:p>
                      <a:r>
                        <a:rPr sz="1575" b="0">
                          <a:solidFill>
                            <a:srgbClr val="20313E"/>
                          </a:solidFill>
                          <a:latin typeface="Arial"/>
                          <a:ea typeface="Arial"/>
                          <a:cs typeface="Arial"/>
                        </a:rPr>
                        <a:t>Normalized canonical batch</a:t>
                      </a:r>
                    </a:p>
                  </a:txBody>
                  <a:tcPr marL="91440" marR="91440" marT="45720" marB="45720">
                    <a:solidFill>
                      <a:srgbClr val="FFFFFF"/>
                    </a:solidFill>
                  </a:tcPr>
                </a:tc>
              </a:tr>
              <a:tr h="631825">
                <a:tc>
                  <a:txBody>
                    <a:bodyPr/>
                    <a:lstStyle/>
                    <a:p>
                      <a:r>
                        <a:rPr sz="1575" b="0">
                          <a:solidFill>
                            <a:srgbClr val="20313E"/>
                          </a:solidFill>
                          <a:latin typeface="Arial"/>
                          <a:ea typeface="Arial"/>
                          <a:cs typeface="Arial"/>
                        </a:rPr>
                        <a:t>validate-semantic-batch</a:t>
                      </a:r>
                    </a:p>
                  </a:txBody>
                  <a:tcPr marL="91440" marR="91440" marT="45720" marB="45720">
                    <a:solidFill>
                      <a:srgbClr val="DFF0F5"/>
                    </a:solidFill>
                  </a:tcPr>
                </a:tc>
                <a:tc>
                  <a:txBody>
                    <a:bodyPr/>
                    <a:lstStyle/>
                    <a:p>
                      <a:r>
                        <a:rPr sz="1575" b="0">
                          <a:solidFill>
                            <a:srgbClr val="20313E"/>
                          </a:solidFill>
                          <a:latin typeface="Arial"/>
                          <a:ea typeface="Arial"/>
                          <a:cs typeface="Arial"/>
                        </a:rPr>
                        <a:t>Source CEIM batch</a:t>
                      </a:r>
                    </a:p>
                  </a:txBody>
                  <a:tcPr marL="91440" marR="91440" marT="45720" marB="45720">
                    <a:solidFill>
                      <a:srgbClr val="DFF0F5"/>
                    </a:solidFill>
                  </a:tcPr>
                </a:tc>
                <a:tc>
                  <a:txBody>
                    <a:bodyPr/>
                    <a:lstStyle/>
                    <a:p>
                      <a:r>
                        <a:rPr sz="1575" b="0">
                          <a:solidFill>
                            <a:srgbClr val="20313E"/>
                          </a:solidFill>
                          <a:latin typeface="Arial"/>
                          <a:ea typeface="Arial"/>
                          <a:cs typeface="Arial"/>
                        </a:rPr>
                        <a:t>Semantic validation report</a:t>
                      </a:r>
                    </a:p>
                  </a:txBody>
                  <a:tcPr marL="91440" marR="91440" marT="45720" marB="45720">
                    <a:solidFill>
                      <a:srgbClr val="DFF0F5"/>
                    </a:solidFill>
                  </a:tcPr>
                </a:tc>
              </a:tr>
              <a:tr h="631825">
                <a:tc>
                  <a:txBody>
                    <a:bodyPr/>
                    <a:lstStyle/>
                    <a:p>
                      <a:r>
                        <a:rPr sz="1575" b="0">
                          <a:solidFill>
                            <a:srgbClr val="20313E"/>
                          </a:solidFill>
                          <a:latin typeface="Arial"/>
                          <a:ea typeface="Arial"/>
                          <a:cs typeface="Arial"/>
                        </a:rPr>
                        <a:t>validate-unstructured-evidence</a:t>
                      </a:r>
                    </a:p>
                  </a:txBody>
                  <a:tcPr marL="91440" marR="91440" marT="45720" marB="45720">
                    <a:solidFill>
                      <a:srgbClr val="FFFFFF"/>
                    </a:solidFill>
                  </a:tcPr>
                </a:tc>
                <a:tc>
                  <a:txBody>
                    <a:bodyPr/>
                    <a:lstStyle/>
                    <a:p>
                      <a:r>
                        <a:rPr sz="1575" b="0">
                          <a:solidFill>
                            <a:srgbClr val="20313E"/>
                          </a:solidFill>
                          <a:latin typeface="Arial"/>
                          <a:ea typeface="Arial"/>
                          <a:cs typeface="Arial"/>
                        </a:rPr>
                        <a:t>Document evidence batch</a:t>
                      </a:r>
                    </a:p>
                  </a:txBody>
                  <a:tcPr marL="91440" marR="91440" marT="45720" marB="45720">
                    <a:solidFill>
                      <a:srgbClr val="FFFFFF"/>
                    </a:solidFill>
                  </a:tcPr>
                </a:tc>
                <a:tc>
                  <a:txBody>
                    <a:bodyPr/>
                    <a:lstStyle/>
                    <a:p>
                      <a:r>
                        <a:rPr sz="1575" b="0">
                          <a:solidFill>
                            <a:srgbClr val="20313E"/>
                          </a:solidFill>
                          <a:latin typeface="Arial"/>
                          <a:ea typeface="Arial"/>
                          <a:cs typeface="Arial"/>
                        </a:rPr>
                        <a:t>Validated artifact/chunk evidence</a:t>
                      </a:r>
                    </a:p>
                  </a:txBody>
                  <a:tcPr marL="91440" marR="91440" marT="45720" marB="45720">
                    <a:solidFill>
                      <a:srgbClr val="FFFFFF"/>
                    </a:solidFill>
                  </a:tcPr>
                </a:tc>
              </a:tr>
              <a:tr h="631825">
                <a:tc>
                  <a:txBody>
                    <a:bodyPr/>
                    <a:lstStyle/>
                    <a:p>
                      <a:r>
                        <a:rPr sz="1575" b="0">
                          <a:solidFill>
                            <a:srgbClr val="20313E"/>
                          </a:solidFill>
                          <a:latin typeface="Arial"/>
                          <a:ea typeface="Arial"/>
                          <a:cs typeface="Arial"/>
                        </a:rPr>
                        <a:t>enrich-document-evidence</a:t>
                      </a:r>
                    </a:p>
                  </a:txBody>
                  <a:tcPr marL="91440" marR="91440" marT="45720" marB="45720">
                    <a:solidFill>
                      <a:srgbClr val="DFF0F5"/>
                    </a:solidFill>
                  </a:tcPr>
                </a:tc>
                <a:tc>
                  <a:txBody>
                    <a:bodyPr/>
                    <a:lstStyle/>
                    <a:p>
                      <a:r>
                        <a:rPr sz="1575" b="0">
                          <a:solidFill>
                            <a:srgbClr val="20313E"/>
                          </a:solidFill>
                          <a:latin typeface="Arial"/>
                          <a:ea typeface="Arial"/>
                          <a:cs typeface="Arial"/>
                        </a:rPr>
                        <a:t>Document evidence batch</a:t>
                      </a:r>
                    </a:p>
                  </a:txBody>
                  <a:tcPr marL="91440" marR="91440" marT="45720" marB="45720">
                    <a:solidFill>
                      <a:srgbClr val="DFF0F5"/>
                    </a:solidFill>
                  </a:tcPr>
                </a:tc>
                <a:tc>
                  <a:txBody>
                    <a:bodyPr/>
                    <a:lstStyle/>
                    <a:p>
                      <a:r>
                        <a:rPr sz="1575" b="0">
                          <a:solidFill>
                            <a:srgbClr val="20313E"/>
                          </a:solidFill>
                          <a:latin typeface="Arial"/>
                          <a:ea typeface="Arial"/>
                          <a:cs typeface="Arial"/>
                        </a:rPr>
                        <a:t>Document graph proposal</a:t>
                      </a:r>
                    </a:p>
                  </a:txBody>
                  <a:tcPr marL="91440" marR="91440" marT="45720" marB="45720">
                    <a:solidFill>
                      <a:srgbClr val="DFF0F5"/>
                    </a:solidFill>
                  </a:tcPr>
                </a:tc>
              </a:tr>
              <a:tr h="631825">
                <a:tc>
                  <a:txBody>
                    <a:bodyPr/>
                    <a:lstStyle/>
                    <a:p>
                      <a:r>
                        <a:rPr sz="1575" b="0">
                          <a:solidFill>
                            <a:srgbClr val="20313E"/>
                          </a:solidFill>
                          <a:latin typeface="Arial"/>
                          <a:ea typeface="Arial"/>
                          <a:cs typeface="Arial"/>
                        </a:rPr>
                        <a:t>normalize-unstructured-ceim</a:t>
                      </a:r>
                    </a:p>
                  </a:txBody>
                  <a:tcPr marL="91440" marR="91440" marT="45720" marB="45720">
                    <a:solidFill>
                      <a:srgbClr val="FFFFFF"/>
                    </a:solidFill>
                  </a:tcPr>
                </a:tc>
                <a:tc>
                  <a:txBody>
                    <a:bodyPr/>
                    <a:lstStyle/>
                    <a:p>
                      <a:r>
                        <a:rPr sz="1575" b="0">
                          <a:solidFill>
                            <a:srgbClr val="20313E"/>
                          </a:solidFill>
                          <a:latin typeface="Arial"/>
                          <a:ea typeface="Arial"/>
                          <a:cs typeface="Arial"/>
                        </a:rPr>
                        <a:t>Document graph proposal</a:t>
                      </a:r>
                    </a:p>
                  </a:txBody>
                  <a:tcPr marL="91440" marR="91440" marT="45720" marB="45720">
                    <a:solidFill>
                      <a:srgbClr val="FFFFFF"/>
                    </a:solidFill>
                  </a:tcPr>
                </a:tc>
                <a:tc>
                  <a:txBody>
                    <a:bodyPr/>
                    <a:lstStyle/>
                    <a:p>
                      <a:r>
                        <a:rPr sz="1575" b="0">
                          <a:solidFill>
                            <a:srgbClr val="20313E"/>
                          </a:solidFill>
                          <a:latin typeface="Arial"/>
                          <a:ea typeface="Arial"/>
                          <a:cs typeface="Arial"/>
                        </a:rPr>
                        <a:t>Canonical semantic validation report</a:t>
                      </a:r>
                    </a:p>
                  </a:txBody>
                  <a:tcPr marL="91440" marR="91440" marT="45720" marB="45720">
                    <a:solidFill>
                      <a:srgbClr val="FFFFFF"/>
                    </a:solidFill>
                  </a:tcPr>
                </a:tc>
              </a:tr>
            </a:tbl>
          </a:graphicData>
        </a:graphic>
      </p:graphicFrame>
      <p:sp>
        <p:nvSpPr>
          <p:cNvPr id="6" name="Configured runs retain the input, quality report and output references">
            <a:extLst xmlns:a="http://schemas.openxmlformats.org/drawingml/2006/main">
              <a:ext uri="{FF2B5EF4-FFF2-40B4-BE49-F238E27FC236}">
                <a16:creationId xmlns:a16="http://schemas.microsoft.com/office/drawing/2014/main" id="{C500EC49-2FDD-4DAD-989C-310CB89C4568}"/>
              </a:ext>
            </a:extLst>
          </p:cNvPr>
          <p:cNvSpPr>
            <a:spLocks xmlns:a="http://schemas.openxmlformats.org/drawingml/2006/main" noGrp="1"/>
          </p:cNvSpPr>
          <p:nvPr/>
        </p:nvSpPr>
        <p:spPr>
          <a:xfrm xmlns:a="http://schemas.openxmlformats.org/drawingml/2006/main">
            <a:off x="571500" y="58769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007F8B"/>
                </a:solidFill>
                <a:latin typeface="Arial"/>
                <a:ea typeface="Arial"/>
                <a:cs typeface="Arial"/>
              </a:defRPr>
            </a:pPr>
            <a:r>
              <a:rPr sz="1800" b="1">
                <a:solidFill>
                  <a:srgbClr val="007F8B"/>
                </a:solidFill>
                <a:latin typeface="Arial"/>
                <a:ea typeface="Arial"/>
                <a:cs typeface="Arial"/>
              </a:rPr>
              <a:t>Configured runs retain the input, quality report and output references for later review.</a:t>
            </a:r>
          </a:p>
        </p:txBody>
      </p:sp>
    </p:spTree>
    <p:extLst>
      <p:ext uri="{BB962C8B-B14F-4D97-AF65-F5344CB8AC3E}">
        <p14:creationId xmlns:p14="http://schemas.microsoft.com/office/powerpoint/2010/main" val="770472272"/>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Quality, schema and RDF job contracts">
            <a:extLst xmlns:a="http://schemas.openxmlformats.org/drawingml/2006/main">
              <a:ext uri="{FF2B5EF4-FFF2-40B4-BE49-F238E27FC236}">
                <a16:creationId xmlns:a16="http://schemas.microsoft.com/office/drawing/2014/main" id="{D403EB12-0630-49D5-9BAF-2DD436BAACD0}"/>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Quality, schema and RDF job contracts</a:t>
            </a:r>
          </a:p>
        </p:txBody>
      </p:sp>
      <p:sp>
        <p:nvSpPr>
          <p:cNvPr id="2" name="These outputs support analysis and preparation before a separate publi">
            <a:extLst xmlns:a="http://schemas.openxmlformats.org/drawingml/2006/main">
              <a:ext uri="{FF2B5EF4-FFF2-40B4-BE49-F238E27FC236}">
                <a16:creationId xmlns:a16="http://schemas.microsoft.com/office/drawing/2014/main" id="{AA82F645-E759-49DA-9D77-6948A06F1617}"/>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These outputs support analysis and preparation before a separate publication decision.</a:t>
            </a:r>
          </a:p>
        </p:txBody>
      </p:sp>
      <p:sp>
        <p:nvSpPr>
          <p:cNvPr id="3" name="DEPO  /  Functional architecture">
            <a:extLst xmlns:a="http://schemas.openxmlformats.org/drawingml/2006/main">
              <a:ext uri="{FF2B5EF4-FFF2-40B4-BE49-F238E27FC236}">
                <a16:creationId xmlns:a16="http://schemas.microsoft.com/office/drawing/2014/main" id="{FF4675AC-EDF7-4A1C-9938-2C5531B8699F}"/>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8">
            <a:extLst xmlns:a="http://schemas.openxmlformats.org/drawingml/2006/main">
              <a:ext uri="{FF2B5EF4-FFF2-40B4-BE49-F238E27FC236}">
                <a16:creationId xmlns:a16="http://schemas.microsoft.com/office/drawing/2014/main" id="{1CACFED5-6C64-4292-9FBE-7DBF85AD41E5}"/>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08</a:t>
            </a:r>
          </a:p>
        </p:txBody>
      </p:sp>
      <p:graphicFrame>
        <p:nvGraphicFramePr>
          <p:cNvPr id="13" name=""/>
          <p:cNvGraphicFramePr/>
          <p:nvPr/>
        </p:nvGraphicFramePr>
        <p:xfrm>
          <a:off xmlns:a="http://schemas.openxmlformats.org/drawingml/2006/main" x="571500" y="1847850"/>
          <a:ext xmlns:a="http://schemas.openxmlformats.org/drawingml/2006/main" cx="11049000" cy="3790950"/>
        </p:xfrm>
        <a:graphic xmlns:a="http://schemas.openxmlformats.org/drawingml/2006/main">
          <a:graphicData uri="http://schemas.openxmlformats.org/drawingml/2006/table">
            <a:tbl>
              <a:tblPr/>
              <a:tblGrid>
                <a:gridCol w="3857625"/>
                <a:gridCol w="3095625"/>
                <a:gridCol w="4095750"/>
              </a:tblGrid>
              <a:tr h="631825">
                <a:tc>
                  <a:txBody>
                    <a:bodyPr/>
                    <a:lstStyle/>
                    <a:p>
                      <a:r>
                        <a:rPr sz="1575" b="1">
                          <a:solidFill>
                            <a:srgbClr val="FFFFFF"/>
                          </a:solidFill>
                          <a:latin typeface="Arial"/>
                          <a:ea typeface="Arial"/>
                          <a:cs typeface="Arial"/>
                        </a:rPr>
                        <a:t>Job type</a:t>
                      </a:r>
                    </a:p>
                  </a:txBody>
                  <a:tcPr marL="91440" marR="91440" marT="45720" marB="45720">
                    <a:solidFill>
                      <a:srgbClr val="0B2133"/>
                    </a:solidFill>
                  </a:tcPr>
                </a:tc>
                <a:tc>
                  <a:txBody>
                    <a:bodyPr/>
                    <a:lstStyle/>
                    <a:p>
                      <a:r>
                        <a:rPr sz="1575" b="1">
                          <a:solidFill>
                            <a:srgbClr val="FFFFFF"/>
                          </a:solidFill>
                          <a:latin typeface="Arial"/>
                          <a:ea typeface="Arial"/>
                          <a:cs typeface="Arial"/>
                        </a:rPr>
                        <a:t>Input</a:t>
                      </a:r>
                    </a:p>
                  </a:txBody>
                  <a:tcPr marL="91440" marR="91440" marT="45720" marB="45720">
                    <a:solidFill>
                      <a:srgbClr val="0B2133"/>
                    </a:solidFill>
                  </a:tcPr>
                </a:tc>
                <a:tc>
                  <a:txBody>
                    <a:bodyPr/>
                    <a:lstStyle/>
                    <a:p>
                      <a:r>
                        <a:rPr sz="1575" b="1">
                          <a:solidFill>
                            <a:srgbClr val="FFFFFF"/>
                          </a:solidFill>
                          <a:latin typeface="Arial"/>
                          <a:ea typeface="Arial"/>
                          <a:cs typeface="Arial"/>
                        </a:rPr>
                        <a:t>Functional output</a:t>
                      </a:r>
                    </a:p>
                  </a:txBody>
                  <a:tcPr marL="91440" marR="91440" marT="45720" marB="45720">
                    <a:solidFill>
                      <a:srgbClr val="0B2133"/>
                    </a:solidFill>
                  </a:tcPr>
                </a:tc>
              </a:tr>
              <a:tr h="631825">
                <a:tc>
                  <a:txBody>
                    <a:bodyPr/>
                    <a:lstStyle/>
                    <a:p>
                      <a:r>
                        <a:rPr sz="1575" b="0">
                          <a:solidFill>
                            <a:srgbClr val="20313E"/>
                          </a:solidFill>
                          <a:latin typeface="Arial"/>
                          <a:ea typeface="Arial"/>
                          <a:cs typeface="Arial"/>
                        </a:rPr>
                        <a:t>interactive-quality-summary</a:t>
                      </a:r>
                    </a:p>
                  </a:txBody>
                  <a:tcPr marL="91440" marR="91440" marT="45720" marB="45720">
                    <a:solidFill>
                      <a:srgbClr val="FFFFFF"/>
                    </a:solidFill>
                  </a:tcPr>
                </a:tc>
                <a:tc>
                  <a:txBody>
                    <a:bodyPr/>
                    <a:lstStyle/>
                    <a:p>
                      <a:r>
                        <a:rPr sz="1575" b="0">
                          <a:solidFill>
                            <a:srgbClr val="20313E"/>
                          </a:solidFill>
                          <a:latin typeface="Arial"/>
                          <a:ea typeface="Arial"/>
                          <a:cs typeface="Arial"/>
                        </a:rPr>
                        <a:t>Quality records</a:t>
                      </a:r>
                    </a:p>
                  </a:txBody>
                  <a:tcPr marL="91440" marR="91440" marT="45720" marB="45720">
                    <a:solidFill>
                      <a:srgbClr val="FFFFFF"/>
                    </a:solidFill>
                  </a:tcPr>
                </a:tc>
                <a:tc>
                  <a:txBody>
                    <a:bodyPr/>
                    <a:lstStyle/>
                    <a:p>
                      <a:r>
                        <a:rPr sz="1575" b="0">
                          <a:solidFill>
                            <a:srgbClr val="20313E"/>
                          </a:solidFill>
                          <a:latin typeface="Arial"/>
                          <a:ea typeface="Arial"/>
                          <a:cs typeface="Arial"/>
                        </a:rPr>
                        <a:t>Summary for interactive inspection</a:t>
                      </a:r>
                    </a:p>
                  </a:txBody>
                  <a:tcPr marL="91440" marR="91440" marT="45720" marB="45720">
                    <a:solidFill>
                      <a:srgbClr val="FFFFFF"/>
                    </a:solidFill>
                  </a:tcPr>
                </a:tc>
              </a:tr>
              <a:tr h="631825">
                <a:tc>
                  <a:txBody>
                    <a:bodyPr/>
                    <a:lstStyle/>
                    <a:p>
                      <a:r>
                        <a:rPr sz="1575" b="0">
                          <a:solidFill>
                            <a:srgbClr val="20313E"/>
                          </a:solidFill>
                          <a:latin typeface="Arial"/>
                          <a:ea typeface="Arial"/>
                          <a:cs typeface="Arial"/>
                        </a:rPr>
                        <a:t>data-quality-assessment</a:t>
                      </a:r>
                    </a:p>
                  </a:txBody>
                  <a:tcPr marL="91440" marR="91440" marT="45720" marB="45720">
                    <a:solidFill>
                      <a:srgbClr val="DFF0F5"/>
                    </a:solidFill>
                  </a:tcPr>
                </a:tc>
                <a:tc>
                  <a:txBody>
                    <a:bodyPr/>
                    <a:lstStyle/>
                    <a:p>
                      <a:r>
                        <a:rPr sz="1575" b="0">
                          <a:solidFill>
                            <a:srgbClr val="20313E"/>
                          </a:solidFill>
                          <a:latin typeface="Arial"/>
                          <a:ea typeface="Arial"/>
                          <a:cs typeface="Arial"/>
                        </a:rPr>
                        <a:t>Quality records</a:t>
                      </a:r>
                    </a:p>
                  </a:txBody>
                  <a:tcPr marL="91440" marR="91440" marT="45720" marB="45720">
                    <a:solidFill>
                      <a:srgbClr val="DFF0F5"/>
                    </a:solidFill>
                  </a:tcPr>
                </a:tc>
                <a:tc>
                  <a:txBody>
                    <a:bodyPr/>
                    <a:lstStyle/>
                    <a:p>
                      <a:r>
                        <a:rPr sz="1575" b="0">
                          <a:solidFill>
                            <a:srgbClr val="20313E"/>
                          </a:solidFill>
                          <a:latin typeface="Arial"/>
                          <a:ea typeface="Arial"/>
                          <a:cs typeface="Arial"/>
                        </a:rPr>
                        <a:t>Quality assessment report</a:t>
                      </a:r>
                    </a:p>
                  </a:txBody>
                  <a:tcPr marL="91440" marR="91440" marT="45720" marB="45720">
                    <a:solidFill>
                      <a:srgbClr val="DFF0F5"/>
                    </a:solidFill>
                  </a:tcPr>
                </a:tc>
              </a:tr>
              <a:tr h="631825">
                <a:tc>
                  <a:txBody>
                    <a:bodyPr/>
                    <a:lstStyle/>
                    <a:p>
                      <a:r>
                        <a:rPr sz="1575" b="0">
                          <a:solidFill>
                            <a:srgbClr val="20313E"/>
                          </a:solidFill>
                          <a:latin typeface="Arial"/>
                          <a:ea typeface="Arial"/>
                          <a:cs typeface="Arial"/>
                        </a:rPr>
                        <a:t>schema-analytics-product</a:t>
                      </a:r>
                    </a:p>
                  </a:txBody>
                  <a:tcPr marL="91440" marR="91440" marT="45720" marB="45720">
                    <a:solidFill>
                      <a:srgbClr val="FFFFFF"/>
                    </a:solidFill>
                  </a:tcPr>
                </a:tc>
                <a:tc>
                  <a:txBody>
                    <a:bodyPr/>
                    <a:lstStyle/>
                    <a:p>
                      <a:r>
                        <a:rPr sz="1575" b="0">
                          <a:solidFill>
                            <a:srgbClr val="20313E"/>
                          </a:solidFill>
                          <a:latin typeface="Arial"/>
                          <a:ea typeface="Arial"/>
                          <a:cs typeface="Arial"/>
                        </a:rPr>
                        <a:t>Engineering schema artifact</a:t>
                      </a:r>
                    </a:p>
                  </a:txBody>
                  <a:tcPr marL="91440" marR="91440" marT="45720" marB="45720">
                    <a:solidFill>
                      <a:srgbClr val="FFFFFF"/>
                    </a:solidFill>
                  </a:tcPr>
                </a:tc>
                <a:tc>
                  <a:txBody>
                    <a:bodyPr/>
                    <a:lstStyle/>
                    <a:p>
                      <a:r>
                        <a:rPr sz="1575" b="0">
                          <a:solidFill>
                            <a:srgbClr val="20313E"/>
                          </a:solidFill>
                          <a:latin typeface="Arial"/>
                          <a:ea typeface="Arial"/>
                          <a:cs typeface="Arial"/>
                        </a:rPr>
                        <a:t>Draft schema analytics product</a:t>
                      </a:r>
                    </a:p>
                  </a:txBody>
                  <a:tcPr marL="91440" marR="91440" marT="45720" marB="45720">
                    <a:solidFill>
                      <a:srgbClr val="FFFFFF"/>
                    </a:solidFill>
                  </a:tcPr>
                </a:tc>
              </a:tr>
              <a:tr h="631825">
                <a:tc>
                  <a:txBody>
                    <a:bodyPr/>
                    <a:lstStyle/>
                    <a:p>
                      <a:r>
                        <a:rPr sz="1575" b="0">
                          <a:solidFill>
                            <a:srgbClr val="20313E"/>
                          </a:solidFill>
                          <a:latin typeface="Arial"/>
                          <a:ea typeface="Arial"/>
                          <a:cs typeface="Arial"/>
                        </a:rPr>
                        <a:t>rdf-quality-statistics</a:t>
                      </a:r>
                    </a:p>
                  </a:txBody>
                  <a:tcPr marL="91440" marR="91440" marT="45720" marB="45720">
                    <a:solidFill>
                      <a:srgbClr val="DFF0F5"/>
                    </a:solidFill>
                  </a:tcPr>
                </a:tc>
                <a:tc>
                  <a:txBody>
                    <a:bodyPr/>
                    <a:lstStyle/>
                    <a:p>
                      <a:r>
                        <a:rPr sz="1575" b="0">
                          <a:solidFill>
                            <a:srgbClr val="20313E"/>
                          </a:solidFill>
                          <a:latin typeface="Arial"/>
                          <a:ea typeface="Arial"/>
                          <a:cs typeface="Arial"/>
                        </a:rPr>
                        <a:t>N-Triples artifact</a:t>
                      </a:r>
                    </a:p>
                  </a:txBody>
                  <a:tcPr marL="91440" marR="91440" marT="45720" marB="45720">
                    <a:solidFill>
                      <a:srgbClr val="DFF0F5"/>
                    </a:solidFill>
                  </a:tcPr>
                </a:tc>
                <a:tc>
                  <a:txBody>
                    <a:bodyPr/>
                    <a:lstStyle/>
                    <a:p>
                      <a:r>
                        <a:rPr sz="1575" b="0">
                          <a:solidFill>
                            <a:srgbClr val="20313E"/>
                          </a:solidFill>
                          <a:latin typeface="Arial"/>
                          <a:ea typeface="Arial"/>
                          <a:cs typeface="Arial"/>
                        </a:rPr>
                        <a:t>RDF quality report</a:t>
                      </a:r>
                    </a:p>
                  </a:txBody>
                  <a:tcPr marL="91440" marR="91440" marT="45720" marB="45720">
                    <a:solidFill>
                      <a:srgbClr val="DFF0F5"/>
                    </a:solidFill>
                  </a:tcPr>
                </a:tc>
              </a:tr>
              <a:tr h="631825">
                <a:tc>
                  <a:txBody>
                    <a:bodyPr/>
                    <a:lstStyle/>
                    <a:p>
                      <a:r>
                        <a:rPr sz="1575" b="0">
                          <a:solidFill>
                            <a:srgbClr val="20313E"/>
                          </a:solidFill>
                          <a:latin typeface="Arial"/>
                          <a:ea typeface="Arial"/>
                          <a:cs typeface="Arial"/>
                        </a:rPr>
                        <a:t>rdf-deduplicate-serialize</a:t>
                      </a:r>
                    </a:p>
                  </a:txBody>
                  <a:tcPr marL="91440" marR="91440" marT="45720" marB="45720">
                    <a:solidFill>
                      <a:srgbClr val="FFFFFF"/>
                    </a:solidFill>
                  </a:tcPr>
                </a:tc>
                <a:tc>
                  <a:txBody>
                    <a:bodyPr/>
                    <a:lstStyle/>
                    <a:p>
                      <a:r>
                        <a:rPr sz="1575" b="0">
                          <a:solidFill>
                            <a:srgbClr val="20313E"/>
                          </a:solidFill>
                          <a:latin typeface="Arial"/>
                          <a:ea typeface="Arial"/>
                          <a:cs typeface="Arial"/>
                        </a:rPr>
                        <a:t>N-Triples artifact</a:t>
                      </a:r>
                    </a:p>
                  </a:txBody>
                  <a:tcPr marL="91440" marR="91440" marT="45720" marB="45720">
                    <a:solidFill>
                      <a:srgbClr val="FFFFFF"/>
                    </a:solidFill>
                  </a:tcPr>
                </a:tc>
                <a:tc>
                  <a:txBody>
                    <a:bodyPr/>
                    <a:lstStyle/>
                    <a:p>
                      <a:r>
                        <a:rPr sz="1575" b="0">
                          <a:solidFill>
                            <a:srgbClr val="20313E"/>
                          </a:solidFill>
                          <a:latin typeface="Arial"/>
                          <a:ea typeface="Arial"/>
                          <a:cs typeface="Arial"/>
                        </a:rPr>
                        <a:t>Canonical deduplicated N-Triples</a:t>
                      </a:r>
                    </a:p>
                  </a:txBody>
                  <a:tcPr marL="91440" marR="91440" marT="45720" marB="45720">
                    <a:solidFill>
                      <a:srgbClr val="FFFFFF"/>
                    </a:solidFill>
                  </a:tcPr>
                </a:tc>
              </a:tr>
            </a:tbl>
          </a:graphicData>
        </a:graphic>
      </p:graphicFrame>
      <p:sp>
        <p:nvSpPr>
          <p:cNvPr id="6" name="RDF profiling and deduplication currently accept N-Triples artifacts.">
            <a:extLst xmlns:a="http://schemas.openxmlformats.org/drawingml/2006/main">
              <a:ext uri="{FF2B5EF4-FFF2-40B4-BE49-F238E27FC236}">
                <a16:creationId xmlns:a16="http://schemas.microsoft.com/office/drawing/2014/main" id="{F2A3A672-A113-44DF-BEA4-44C637EC8B7E}"/>
              </a:ext>
            </a:extLst>
          </p:cNvPr>
          <p:cNvSpPr>
            <a:spLocks xmlns:a="http://schemas.openxmlformats.org/drawingml/2006/main" noGrp="1"/>
          </p:cNvSpPr>
          <p:nvPr/>
        </p:nvSpPr>
        <p:spPr>
          <a:xfrm xmlns:a="http://schemas.openxmlformats.org/drawingml/2006/main">
            <a:off x="571500" y="58769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007F8B"/>
                </a:solidFill>
                <a:latin typeface="Arial"/>
                <a:ea typeface="Arial"/>
                <a:cs typeface="Arial"/>
              </a:defRPr>
            </a:pPr>
            <a:r>
              <a:rPr sz="1800" b="1">
                <a:solidFill>
                  <a:srgbClr val="007F8B"/>
                </a:solidFill>
                <a:latin typeface="Arial"/>
                <a:ea typeface="Arial"/>
                <a:cs typeface="Arial"/>
              </a:rPr>
              <a:t>RDF profiling and deduplication currently accept N-Triples artifacts.</a:t>
            </a:r>
          </a:p>
        </p:txBody>
      </p:sp>
    </p:spTree>
    <p:extLst>
      <p:ext uri="{BB962C8B-B14F-4D97-AF65-F5344CB8AC3E}">
        <p14:creationId xmlns:p14="http://schemas.microsoft.com/office/powerpoint/2010/main" val="822747444"/>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8" name="Batch and event reconciliation">
            <a:extLst xmlns:a="http://schemas.openxmlformats.org/drawingml/2006/main">
              <a:ext uri="{FF2B5EF4-FFF2-40B4-BE49-F238E27FC236}">
                <a16:creationId xmlns:a16="http://schemas.microsoft.com/office/drawing/2014/main" id="{4AA09911-5041-42E7-8C36-8C6355082E2A}"/>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Batch and event reconciliation</a:t>
            </a:r>
          </a:p>
        </p:txBody>
      </p:sp>
      <p:sp>
        <p:nvSpPr>
          <p:cNvPr id="2" name="Both paths retain evidence and use CEIM for semantic batch publication">
            <a:extLst xmlns:a="http://schemas.openxmlformats.org/drawingml/2006/main">
              <a:ext uri="{FF2B5EF4-FFF2-40B4-BE49-F238E27FC236}">
                <a16:creationId xmlns:a16="http://schemas.microsoft.com/office/drawing/2014/main" id="{A68C5C34-B806-42DB-AB55-E621B281C026}"/>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Both paths retain evidence and use CEIM for semantic batch publication.</a:t>
            </a:r>
          </a:p>
        </p:txBody>
      </p:sp>
      <p:sp>
        <p:nvSpPr>
          <p:cNvPr id="3" name="DEPO  /  Functional architecture">
            <a:extLst xmlns:a="http://schemas.openxmlformats.org/drawingml/2006/main">
              <a:ext uri="{FF2B5EF4-FFF2-40B4-BE49-F238E27FC236}">
                <a16:creationId xmlns:a16="http://schemas.microsoft.com/office/drawing/2014/main" id="{0071BAB0-6EBD-4A33-BAA2-BB2AF2350B93}"/>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09">
            <a:extLst xmlns:a="http://schemas.openxmlformats.org/drawingml/2006/main">
              <a:ext uri="{FF2B5EF4-FFF2-40B4-BE49-F238E27FC236}">
                <a16:creationId xmlns:a16="http://schemas.microsoft.com/office/drawing/2014/main" id="{B6EBAAE7-7DAD-4FD9-BE7D-E267C8369962}"/>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09</a:t>
            </a:r>
          </a:p>
        </p:txBody>
      </p:sp>
      <p:sp>
        <p:nvSpPr>
          <p:cNvPr id="5" name="Batch path">
            <a:extLst xmlns:a="http://schemas.openxmlformats.org/drawingml/2006/main">
              <a:ext uri="{FF2B5EF4-FFF2-40B4-BE49-F238E27FC236}">
                <a16:creationId xmlns:a16="http://schemas.microsoft.com/office/drawing/2014/main" id="{86DD76F5-908C-4F4C-A363-B6B143DE1A37}"/>
              </a:ext>
            </a:extLst>
          </p:cNvPr>
          <p:cNvSpPr>
            <a:spLocks xmlns:a="http://schemas.openxmlformats.org/drawingml/2006/main" noGrp="1"/>
          </p:cNvSpPr>
          <p:nvPr/>
        </p:nvSpPr>
        <p:spPr>
          <a:xfrm xmlns:a="http://schemas.openxmlformats.org/drawingml/2006/main">
            <a:off x="571500" y="1809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Batch path</a:t>
            </a:r>
          </a:p>
        </p:txBody>
      </p:sp>
      <p:sp>
        <p:nvSpPr>
          <p:cNvPr id="6" name="Retained artifact">
            <a:extLst xmlns:a="http://schemas.openxmlformats.org/drawingml/2006/main">
              <a:ext uri="{FF2B5EF4-FFF2-40B4-BE49-F238E27FC236}">
                <a16:creationId xmlns:a16="http://schemas.microsoft.com/office/drawing/2014/main" id="{B34BB0CE-0EBE-4C93-BDAA-D178BD9D0A4D}"/>
              </a:ext>
            </a:extLst>
          </p:cNvPr>
          <p:cNvSpPr>
            <a:spLocks xmlns:a="http://schemas.openxmlformats.org/drawingml/2006/main" noGrp="1"/>
          </p:cNvSpPr>
          <p:nvPr/>
        </p:nvSpPr>
        <p:spPr>
          <a:xfrm xmlns:a="http://schemas.openxmlformats.org/drawingml/2006/main">
            <a:off x="571500" y="2200275"/>
            <a:ext cx="3454400" cy="12287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Retained artifact</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Source manifest and version</a:t>
            </a:r>
          </a:p>
        </p:txBody>
      </p:sp>
      <p:sp>
        <p:nvSpPr>
          <p:cNvPr id="7" name="Approved data job">
            <a:extLst xmlns:a="http://schemas.openxmlformats.org/drawingml/2006/main">
              <a:ext uri="{FF2B5EF4-FFF2-40B4-BE49-F238E27FC236}">
                <a16:creationId xmlns:a16="http://schemas.microsoft.com/office/drawing/2014/main" id="{DCE773CB-6702-4FCA-882D-0CFDD61C8F6B}"/>
              </a:ext>
            </a:extLst>
          </p:cNvPr>
          <p:cNvSpPr>
            <a:spLocks xmlns:a="http://schemas.openxmlformats.org/drawingml/2006/main" noGrp="1"/>
          </p:cNvSpPr>
          <p:nvPr/>
        </p:nvSpPr>
        <p:spPr>
          <a:xfrm xmlns:a="http://schemas.openxmlformats.org/drawingml/2006/main">
            <a:off x="4368800" y="2200275"/>
            <a:ext cx="3454400" cy="122872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Approved data job</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Spark/PySpark transformation</a:t>
            </a:r>
          </a:p>
        </p:txBody>
      </p:sp>
      <p:sp>
        <p:nvSpPr>
          <p:cNvPr id="8" name="Accepted partition">
            <a:extLst xmlns:a="http://schemas.openxmlformats.org/drawingml/2006/main">
              <a:ext uri="{FF2B5EF4-FFF2-40B4-BE49-F238E27FC236}">
                <a16:creationId xmlns:a16="http://schemas.microsoft.com/office/drawing/2014/main" id="{739F9A13-34A3-4358-A4AC-46A97016FA4B}"/>
              </a:ext>
            </a:extLst>
          </p:cNvPr>
          <p:cNvSpPr>
            <a:spLocks xmlns:a="http://schemas.openxmlformats.org/drawingml/2006/main" noGrp="1"/>
          </p:cNvSpPr>
          <p:nvPr/>
        </p:nvSpPr>
        <p:spPr>
          <a:xfrm xmlns:a="http://schemas.openxmlformats.org/drawingml/2006/main">
            <a:off x="8166100" y="2200275"/>
            <a:ext cx="3454400" cy="122872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Accepted partition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CEIM publication approval</a:t>
            </a:r>
          </a:p>
        </p:txBody>
      </p:sp>
      <p:cxnSp>
        <p:nvCxnSpPr>
          <p:cNvPr id="74" name=""/>
          <p:cNvCxnSpPr>
            <a:stCxn xmlns:a="http://schemas.openxmlformats.org/drawingml/2006/main" id="6" idx="3"/>
            <a:endCxn xmlns:a="http://schemas.openxmlformats.org/drawingml/2006/main" id="7" idx="1"/>
          </p:cNvCxnSpPr>
          <p:nvPr/>
        </p:nvCxnSpPr>
        <p:spPr>
          <a:xfrm xmlns:a="http://schemas.openxmlformats.org/drawingml/2006/main">
            <a:off x="4025900" y="28146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75" name=""/>
          <p:cNvCxnSpPr>
            <a:stCxn xmlns:a="http://schemas.openxmlformats.org/drawingml/2006/main" id="7" idx="3"/>
            <a:endCxn xmlns:a="http://schemas.openxmlformats.org/drawingml/2006/main" id="8" idx="1"/>
          </p:cNvCxnSpPr>
          <p:nvPr/>
        </p:nvCxnSpPr>
        <p:spPr>
          <a:xfrm xmlns:a="http://schemas.openxmlformats.org/drawingml/2006/main">
            <a:off x="7823200" y="28146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1" name="Event path">
            <a:extLst xmlns:a="http://schemas.openxmlformats.org/drawingml/2006/main">
              <a:ext uri="{FF2B5EF4-FFF2-40B4-BE49-F238E27FC236}">
                <a16:creationId xmlns:a16="http://schemas.microsoft.com/office/drawing/2014/main" id="{5B94B716-4576-484A-A27F-B2F56001F320}"/>
              </a:ext>
            </a:extLst>
          </p:cNvPr>
          <p:cNvSpPr>
            <a:spLocks xmlns:a="http://schemas.openxmlformats.org/drawingml/2006/main" noGrp="1"/>
          </p:cNvSpPr>
          <p:nvPr/>
        </p:nvSpPr>
        <p:spPr>
          <a:xfrm xmlns:a="http://schemas.openxmlformats.org/drawingml/2006/main">
            <a:off x="571500" y="37814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Event path</a:t>
            </a:r>
          </a:p>
        </p:txBody>
      </p:sp>
      <p:sp>
        <p:nvSpPr>
          <p:cNvPr id="12" name="Approved source">
            <a:extLst xmlns:a="http://schemas.openxmlformats.org/drawingml/2006/main">
              <a:ext uri="{FF2B5EF4-FFF2-40B4-BE49-F238E27FC236}">
                <a16:creationId xmlns:a16="http://schemas.microsoft.com/office/drawing/2014/main" id="{AD1BE657-7015-4DF1-B4AD-32B41C2BE44F}"/>
              </a:ext>
            </a:extLst>
          </p:cNvPr>
          <p:cNvSpPr>
            <a:spLocks xmlns:a="http://schemas.openxmlformats.org/drawingml/2006/main" noGrp="1"/>
          </p:cNvSpPr>
          <p:nvPr/>
        </p:nvSpPr>
        <p:spPr>
          <a:xfrm xmlns:a="http://schemas.openxmlformats.org/drawingml/2006/main">
            <a:off x="571500" y="4171950"/>
            <a:ext cx="3454400" cy="12287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Approved source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Capture events with source policy</a:t>
            </a:r>
          </a:p>
        </p:txBody>
      </p:sp>
      <p:sp>
        <p:nvSpPr>
          <p:cNvPr id="13" name="Reconciliation">
            <a:extLst xmlns:a="http://schemas.openxmlformats.org/drawingml/2006/main">
              <a:ext uri="{FF2B5EF4-FFF2-40B4-BE49-F238E27FC236}">
                <a16:creationId xmlns:a16="http://schemas.microsoft.com/office/drawing/2014/main" id="{845A1993-3722-447B-8163-D87064543597}"/>
              </a:ext>
            </a:extLst>
          </p:cNvPr>
          <p:cNvSpPr>
            <a:spLocks xmlns:a="http://schemas.openxmlformats.org/drawingml/2006/main" noGrp="1"/>
          </p:cNvSpPr>
          <p:nvPr/>
        </p:nvSpPr>
        <p:spPr>
          <a:xfrm xmlns:a="http://schemas.openxmlformats.org/drawingml/2006/main">
            <a:off x="4368800" y="4171950"/>
            <a:ext cx="3454400" cy="122872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Reconciliation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Idempotency and event policy checks</a:t>
            </a:r>
          </a:p>
        </p:txBody>
      </p:sp>
      <p:sp>
        <p:nvSpPr>
          <p:cNvPr id="14" name="Ready partition">
            <a:extLst xmlns:a="http://schemas.openxmlformats.org/drawingml/2006/main">
              <a:ext uri="{FF2B5EF4-FFF2-40B4-BE49-F238E27FC236}">
                <a16:creationId xmlns:a16="http://schemas.microsoft.com/office/drawing/2014/main" id="{E843CB73-8FAE-4355-9F05-95252438048C}"/>
              </a:ext>
            </a:extLst>
          </p:cNvPr>
          <p:cNvSpPr>
            <a:spLocks xmlns:a="http://schemas.openxmlformats.org/drawingml/2006/main" noGrp="1"/>
          </p:cNvSpPr>
          <p:nvPr/>
        </p:nvSpPr>
        <p:spPr>
          <a:xfrm xmlns:a="http://schemas.openxmlformats.org/drawingml/2006/main">
            <a:off x="8166100" y="4171950"/>
            <a:ext cx="3454400" cy="122872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Ready partition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CEIM publication approval</a:t>
            </a:r>
          </a:p>
        </p:txBody>
      </p:sp>
      <p:cxnSp>
        <p:nvCxnSpPr>
          <p:cNvPr id="80" name=""/>
          <p:cNvCxnSpPr>
            <a:stCxn xmlns:a="http://schemas.openxmlformats.org/drawingml/2006/main" id="12" idx="3"/>
            <a:endCxn xmlns:a="http://schemas.openxmlformats.org/drawingml/2006/main" id="13" idx="1"/>
          </p:cNvCxnSpPr>
          <p:nvPr/>
        </p:nvCxnSpPr>
        <p:spPr>
          <a:xfrm xmlns:a="http://schemas.openxmlformats.org/drawingml/2006/main">
            <a:off x="4025900" y="4786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81" name=""/>
          <p:cNvCxnSpPr>
            <a:stCxn xmlns:a="http://schemas.openxmlformats.org/drawingml/2006/main" id="13" idx="3"/>
            <a:endCxn xmlns:a="http://schemas.openxmlformats.org/drawingml/2006/main" id="14" idx="1"/>
          </p:cNvCxnSpPr>
          <p:nvPr/>
        </p:nvCxnSpPr>
        <p:spPr>
          <a:xfrm xmlns:a="http://schemas.openxmlformats.org/drawingml/2006/main">
            <a:off x="7823200" y="4786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7" name="Customer CDC/message-bus adapters and throughput targets still need de">
            <a:extLst xmlns:a="http://schemas.openxmlformats.org/drawingml/2006/main">
              <a:ext uri="{FF2B5EF4-FFF2-40B4-BE49-F238E27FC236}">
                <a16:creationId xmlns:a16="http://schemas.microsoft.com/office/drawing/2014/main" id="{886B26BB-1880-4799-8555-326D07B940B8}"/>
              </a:ext>
            </a:extLst>
          </p:cNvPr>
          <p:cNvSpPr>
            <a:spLocks xmlns:a="http://schemas.openxmlformats.org/drawingml/2006/main" noGrp="1"/>
          </p:cNvSpPr>
          <p:nvPr/>
        </p:nvSpPr>
        <p:spPr>
          <a:xfrm xmlns:a="http://schemas.openxmlformats.org/drawingml/2006/main">
            <a:off x="571500" y="581977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Customer CDC/message-bus adapters and throughput targets still need deployment-specific acceptance.</a:t>
            </a:r>
          </a:p>
        </p:txBody>
      </p:sp>
    </p:spTree>
    <p:extLst>
      <p:ext uri="{BB962C8B-B14F-4D97-AF65-F5344CB8AC3E}">
        <p14:creationId xmlns:p14="http://schemas.microsoft.com/office/powerpoint/2010/main" val="855868255"/>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Document evidence workflow">
            <a:extLst xmlns:a="http://schemas.openxmlformats.org/drawingml/2006/main">
              <a:ext uri="{FF2B5EF4-FFF2-40B4-BE49-F238E27FC236}">
                <a16:creationId xmlns:a16="http://schemas.microsoft.com/office/drawing/2014/main" id="{B77D2756-45B5-45C7-AE9B-099EEC160146}"/>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Document evidence workflow</a:t>
            </a:r>
          </a:p>
        </p:txBody>
      </p:sp>
      <p:sp>
        <p:nvSpPr>
          <p:cNvPr id="2" name="Structural enrichment preserves the link between a document and its pr">
            <a:extLst xmlns:a="http://schemas.openxmlformats.org/drawingml/2006/main">
              <a:ext uri="{FF2B5EF4-FFF2-40B4-BE49-F238E27FC236}">
                <a16:creationId xmlns:a16="http://schemas.microsoft.com/office/drawing/2014/main" id="{B77482A6-374E-4C3D-AA91-1DC6875F79C4}"/>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Structural enrichment preserves the link between a document and its proposed graph facts.</a:t>
            </a:r>
          </a:p>
        </p:txBody>
      </p:sp>
      <p:sp>
        <p:nvSpPr>
          <p:cNvPr id="3" name="DEPO  /  Functional architecture">
            <a:extLst xmlns:a="http://schemas.openxmlformats.org/drawingml/2006/main">
              <a:ext uri="{FF2B5EF4-FFF2-40B4-BE49-F238E27FC236}">
                <a16:creationId xmlns:a16="http://schemas.microsoft.com/office/drawing/2014/main" id="{4785B757-3DA4-44DB-AB7B-B4109562DE02}"/>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0">
            <a:extLst xmlns:a="http://schemas.openxmlformats.org/drawingml/2006/main">
              <a:ext uri="{FF2B5EF4-FFF2-40B4-BE49-F238E27FC236}">
                <a16:creationId xmlns:a16="http://schemas.microsoft.com/office/drawing/2014/main" id="{17E3A08B-471F-491F-98D4-2AE9D5F53615}"/>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10</a:t>
            </a:r>
          </a:p>
        </p:txBody>
      </p:sp>
      <p:sp>
        <p:nvSpPr>
          <p:cNvPr id="5" name="Retain">
            <a:extLst xmlns:a="http://schemas.openxmlformats.org/drawingml/2006/main">
              <a:ext uri="{FF2B5EF4-FFF2-40B4-BE49-F238E27FC236}">
                <a16:creationId xmlns:a16="http://schemas.microsoft.com/office/drawing/2014/main" id="{DA2B8D3A-2B9C-4975-9C0F-61ED8B516303}"/>
              </a:ext>
            </a:extLst>
          </p:cNvPr>
          <p:cNvSpPr>
            <a:spLocks xmlns:a="http://schemas.openxmlformats.org/drawingml/2006/main" noGrp="1"/>
          </p:cNvSpPr>
          <p:nvPr/>
        </p:nvSpPr>
        <p:spPr>
          <a:xfrm xmlns:a="http://schemas.openxmlformats.org/drawingml/2006/main">
            <a:off x="571500" y="2095500"/>
            <a:ext cx="2505075" cy="1666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Retain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Store the original artifact and chunk references.</a:t>
            </a:r>
          </a:p>
        </p:txBody>
      </p:sp>
      <p:sp>
        <p:nvSpPr>
          <p:cNvPr id="6" name="Validate">
            <a:extLst xmlns:a="http://schemas.openxmlformats.org/drawingml/2006/main">
              <a:ext uri="{FF2B5EF4-FFF2-40B4-BE49-F238E27FC236}">
                <a16:creationId xmlns:a16="http://schemas.microsoft.com/office/drawing/2014/main" id="{8770EB4C-7F63-44A2-A136-05143B844126}"/>
              </a:ext>
            </a:extLst>
          </p:cNvPr>
          <p:cNvSpPr>
            <a:spLocks xmlns:a="http://schemas.openxmlformats.org/drawingml/2006/main" noGrp="1"/>
          </p:cNvSpPr>
          <p:nvPr/>
        </p:nvSpPr>
        <p:spPr>
          <a:xfrm xmlns:a="http://schemas.openxmlformats.org/drawingml/2006/main">
            <a:off x="3419475" y="2095500"/>
            <a:ext cx="2505075" cy="166687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Validate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Check evidence structure and source identity.</a:t>
            </a:r>
          </a:p>
        </p:txBody>
      </p:sp>
      <p:sp>
        <p:nvSpPr>
          <p:cNvPr id="7" name="Enrich">
            <a:extLst xmlns:a="http://schemas.openxmlformats.org/drawingml/2006/main">
              <a:ext uri="{FF2B5EF4-FFF2-40B4-BE49-F238E27FC236}">
                <a16:creationId xmlns:a16="http://schemas.microsoft.com/office/drawing/2014/main" id="{D1424D72-4617-4CA7-AAAC-9B9F2095A54A}"/>
              </a:ext>
            </a:extLst>
          </p:cNvPr>
          <p:cNvSpPr>
            <a:spLocks xmlns:a="http://schemas.openxmlformats.org/drawingml/2006/main" noGrp="1"/>
          </p:cNvSpPr>
          <p:nvPr/>
        </p:nvSpPr>
        <p:spPr>
          <a:xfrm xmlns:a="http://schemas.openxmlformats.org/drawingml/2006/main">
            <a:off x="6267450" y="2095500"/>
            <a:ext cx="2505075" cy="1666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Enrich</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Produce Document and DocumentChunk proposals.</a:t>
            </a:r>
          </a:p>
        </p:txBody>
      </p:sp>
      <p:sp>
        <p:nvSpPr>
          <p:cNvPr id="8" name="Normalize">
            <a:extLst xmlns:a="http://schemas.openxmlformats.org/drawingml/2006/main">
              <a:ext uri="{FF2B5EF4-FFF2-40B4-BE49-F238E27FC236}">
                <a16:creationId xmlns:a16="http://schemas.microsoft.com/office/drawing/2014/main" id="{90476516-3336-4069-9149-BDA1DB7C8581}"/>
              </a:ext>
            </a:extLst>
          </p:cNvPr>
          <p:cNvSpPr>
            <a:spLocks xmlns:a="http://schemas.openxmlformats.org/drawingml/2006/main" noGrp="1"/>
          </p:cNvSpPr>
          <p:nvPr/>
        </p:nvSpPr>
        <p:spPr>
          <a:xfrm xmlns:a="http://schemas.openxmlformats.org/drawingml/2006/main">
            <a:off x="9115425" y="2095500"/>
            <a:ext cx="2505075" cy="166687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Normalize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Apply the approved CEIM mapping and validation.</a:t>
            </a:r>
          </a:p>
        </p:txBody>
      </p:sp>
      <p:cxnSp>
        <p:nvCxnSpPr>
          <p:cNvPr id="57" name=""/>
          <p:cNvCxnSpPr>
            <a:stCxn xmlns:a="http://schemas.openxmlformats.org/drawingml/2006/main" id="5" idx="3"/>
            <a:endCxn xmlns:a="http://schemas.openxmlformats.org/drawingml/2006/main" id="6" idx="1"/>
          </p:cNvCxnSpPr>
          <p:nvPr/>
        </p:nvCxnSpPr>
        <p:spPr>
          <a:xfrm xmlns:a="http://schemas.openxmlformats.org/drawingml/2006/main">
            <a:off x="3076575" y="29289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8" name=""/>
          <p:cNvCxnSpPr>
            <a:stCxn xmlns:a="http://schemas.openxmlformats.org/drawingml/2006/main" id="6" idx="3"/>
            <a:endCxn xmlns:a="http://schemas.openxmlformats.org/drawingml/2006/main" id="7" idx="1"/>
          </p:cNvCxnSpPr>
          <p:nvPr/>
        </p:nvCxnSpPr>
        <p:spPr>
          <a:xfrm xmlns:a="http://schemas.openxmlformats.org/drawingml/2006/main">
            <a:off x="5924550" y="29289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9" name=""/>
          <p:cNvCxnSpPr>
            <a:stCxn xmlns:a="http://schemas.openxmlformats.org/drawingml/2006/main" id="7" idx="3"/>
            <a:endCxn xmlns:a="http://schemas.openxmlformats.org/drawingml/2006/main" id="8" idx="1"/>
          </p:cNvCxnSpPr>
          <p:nvPr/>
        </p:nvCxnSpPr>
        <p:spPr>
          <a:xfrm xmlns:a="http://schemas.openxmlformats.org/drawingml/2006/main">
            <a:off x="8772525" y="29289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Reviewer context">
            <a:extLst xmlns:a="http://schemas.openxmlformats.org/drawingml/2006/main">
              <a:ext uri="{FF2B5EF4-FFF2-40B4-BE49-F238E27FC236}">
                <a16:creationId xmlns:a16="http://schemas.microsoft.com/office/drawing/2014/main" id="{C69C736F-2B79-4ADB-8BA8-7A7E037AA0BB}"/>
              </a:ext>
            </a:extLst>
          </p:cNvPr>
          <p:cNvSpPr>
            <a:spLocks xmlns:a="http://schemas.openxmlformats.org/drawingml/2006/main" noGrp="1"/>
          </p:cNvSpPr>
          <p:nvPr/>
        </p:nvSpPr>
        <p:spPr>
          <a:xfrm xmlns:a="http://schemas.openxmlformats.org/drawingml/2006/main">
            <a:off x="571500" y="42862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Reviewer context</a:t>
            </a:r>
          </a:p>
        </p:txBody>
      </p:sp>
      <p:sp>
        <p:nvSpPr>
          <p:cNvPr id="13" name="The proposal carries provenance and content digests for traceability.">
            <a:extLst xmlns:a="http://schemas.openxmlformats.org/drawingml/2006/main">
              <a:ext uri="{FF2B5EF4-FFF2-40B4-BE49-F238E27FC236}">
                <a16:creationId xmlns:a16="http://schemas.microsoft.com/office/drawing/2014/main" id="{40A7D90D-B1BF-4988-822F-A289D53A2A30}"/>
              </a:ext>
            </a:extLst>
          </p:cNvPr>
          <p:cNvSpPr>
            <a:spLocks xmlns:a="http://schemas.openxmlformats.org/drawingml/2006/main" noGrp="1"/>
          </p:cNvSpPr>
          <p:nvPr/>
        </p:nvSpPr>
        <p:spPr>
          <a:xfrm xmlns:a="http://schemas.openxmlformats.org/drawingml/2006/main">
            <a:off x="571500" y="4743450"/>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The proposal carries provenance and content digests for traceability.</a:t>
            </a:r>
          </a:p>
        </p:txBody>
      </p:sp>
      <p:sp>
        <p:nvSpPr>
          <p:cNvPr id="14" name="Scope">
            <a:extLst xmlns:a="http://schemas.openxmlformats.org/drawingml/2006/main">
              <a:ext uri="{FF2B5EF4-FFF2-40B4-BE49-F238E27FC236}">
                <a16:creationId xmlns:a16="http://schemas.microsoft.com/office/drawing/2014/main" id="{F724719D-F759-4F9D-9AD3-FDA1595B76F2}"/>
              </a:ext>
            </a:extLst>
          </p:cNvPr>
          <p:cNvSpPr>
            <a:spLocks xmlns:a="http://schemas.openxmlformats.org/drawingml/2006/main" noGrp="1"/>
          </p:cNvSpPr>
          <p:nvPr/>
        </p:nvSpPr>
        <p:spPr>
          <a:xfrm xmlns:a="http://schemas.openxmlformats.org/drawingml/2006/main">
            <a:off x="6096000" y="42862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Scope</a:t>
            </a:r>
          </a:p>
        </p:txBody>
      </p:sp>
      <p:sp>
        <p:nvSpPr>
          <p:cNvPr id="15" name="OCR, model-based entity extraction and embeddings require separate mod">
            <a:extLst xmlns:a="http://schemas.openxmlformats.org/drawingml/2006/main">
              <a:ext uri="{FF2B5EF4-FFF2-40B4-BE49-F238E27FC236}">
                <a16:creationId xmlns:a16="http://schemas.microsoft.com/office/drawing/2014/main" id="{59AFF63C-1E1F-4609-A26E-2E78C7AB3F5C}"/>
              </a:ext>
            </a:extLst>
          </p:cNvPr>
          <p:cNvSpPr>
            <a:spLocks xmlns:a="http://schemas.openxmlformats.org/drawingml/2006/main" noGrp="1"/>
          </p:cNvSpPr>
          <p:nvPr/>
        </p:nvSpPr>
        <p:spPr>
          <a:xfrm xmlns:a="http://schemas.openxmlformats.org/drawingml/2006/main">
            <a:off x="6096000" y="4743450"/>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OCR, model-based entity extraction and embeddings require separate model and corpus controls.</a:t>
            </a:r>
          </a:p>
        </p:txBody>
      </p:sp>
    </p:spTree>
    <p:extLst>
      <p:ext uri="{BB962C8B-B14F-4D97-AF65-F5344CB8AC3E}">
        <p14:creationId xmlns:p14="http://schemas.microsoft.com/office/powerpoint/2010/main" val="1929783521"/>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Data-product packaging and catalog registration">
            <a:extLst xmlns:a="http://schemas.openxmlformats.org/drawingml/2006/main">
              <a:ext uri="{FF2B5EF4-FFF2-40B4-BE49-F238E27FC236}">
                <a16:creationId xmlns:a16="http://schemas.microsoft.com/office/drawing/2014/main" id="{F9598A66-6D72-4E85-890A-B992FE103F5F}"/>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Data-product packaging and catalog registration</a:t>
            </a:r>
          </a:p>
        </p:txBody>
      </p:sp>
      <p:sp>
        <p:nvSpPr>
          <p:cNvPr id="2" name="A product exposes a versioned package and its evidence for reuse.">
            <a:extLst xmlns:a="http://schemas.openxmlformats.org/drawingml/2006/main">
              <a:ext uri="{FF2B5EF4-FFF2-40B4-BE49-F238E27FC236}">
                <a16:creationId xmlns:a16="http://schemas.microsoft.com/office/drawing/2014/main" id="{3D6253FC-0459-4697-B84D-F445EF85070E}"/>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A product exposes a versioned package and its evidence for reuse.</a:t>
            </a:r>
          </a:p>
        </p:txBody>
      </p:sp>
      <p:sp>
        <p:nvSpPr>
          <p:cNvPr id="3" name="DEPO  /  Functional architecture">
            <a:extLst xmlns:a="http://schemas.openxmlformats.org/drawingml/2006/main">
              <a:ext uri="{FF2B5EF4-FFF2-40B4-BE49-F238E27FC236}">
                <a16:creationId xmlns:a16="http://schemas.microsoft.com/office/drawing/2014/main" id="{1604482B-3E32-42A7-8BAB-DC643D7C73FF}"/>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1">
            <a:extLst xmlns:a="http://schemas.openxmlformats.org/drawingml/2006/main">
              <a:ext uri="{FF2B5EF4-FFF2-40B4-BE49-F238E27FC236}">
                <a16:creationId xmlns:a16="http://schemas.microsoft.com/office/drawing/2014/main" id="{AE7B9362-0F3E-4660-B8D5-2AADE9E29EF8}"/>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11</a:t>
            </a:r>
          </a:p>
        </p:txBody>
      </p:sp>
      <p:sp>
        <p:nvSpPr>
          <p:cNvPr id="5" name="Evidence">
            <a:extLst xmlns:a="http://schemas.openxmlformats.org/drawingml/2006/main">
              <a:ext uri="{FF2B5EF4-FFF2-40B4-BE49-F238E27FC236}">
                <a16:creationId xmlns:a16="http://schemas.microsoft.com/office/drawing/2014/main" id="{D27A814F-0444-4010-88E3-5ACCA449CB59}"/>
              </a:ext>
            </a:extLst>
          </p:cNvPr>
          <p:cNvSpPr>
            <a:spLocks xmlns:a="http://schemas.openxmlformats.org/drawingml/2006/main" noGrp="1"/>
          </p:cNvSpPr>
          <p:nvPr/>
        </p:nvSpPr>
        <p:spPr>
          <a:xfrm xmlns:a="http://schemas.openxmlformats.org/drawingml/2006/main">
            <a:off x="571500" y="2143125"/>
            <a:ext cx="2505075"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Evidence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Artifact references and semantic release</a:t>
            </a:r>
          </a:p>
        </p:txBody>
      </p:sp>
      <p:sp>
        <p:nvSpPr>
          <p:cNvPr id="6" name="Product manifest">
            <a:extLst xmlns:a="http://schemas.openxmlformats.org/drawingml/2006/main">
              <a:ext uri="{FF2B5EF4-FFF2-40B4-BE49-F238E27FC236}">
                <a16:creationId xmlns:a16="http://schemas.microsoft.com/office/drawing/2014/main" id="{D2E4E9D0-E21A-46FD-84F8-B1633C16AABB}"/>
              </a:ext>
            </a:extLst>
          </p:cNvPr>
          <p:cNvSpPr>
            <a:spLocks xmlns:a="http://schemas.openxmlformats.org/drawingml/2006/main" noGrp="1"/>
          </p:cNvSpPr>
          <p:nvPr/>
        </p:nvSpPr>
        <p:spPr>
          <a:xfrm xmlns:a="http://schemas.openxmlformats.org/drawingml/2006/main">
            <a:off x="3419475" y="2143125"/>
            <a:ext cx="2505075" cy="157162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Product manifest</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Versioned package and validation status</a:t>
            </a:r>
          </a:p>
        </p:txBody>
      </p:sp>
      <p:sp>
        <p:nvSpPr>
          <p:cNvPr id="7" name="Durable outbox">
            <a:extLst xmlns:a="http://schemas.openxmlformats.org/drawingml/2006/main">
              <a:ext uri="{FF2B5EF4-FFF2-40B4-BE49-F238E27FC236}">
                <a16:creationId xmlns:a16="http://schemas.microsoft.com/office/drawing/2014/main" id="{5D0BC655-BE5C-4C72-BE90-5D149A1777E1}"/>
              </a:ext>
            </a:extLst>
          </p:cNvPr>
          <p:cNvSpPr>
            <a:spLocks xmlns:a="http://schemas.openxmlformats.org/drawingml/2006/main" noGrp="1"/>
          </p:cNvSpPr>
          <p:nvPr/>
        </p:nvSpPr>
        <p:spPr>
          <a:xfrm xmlns:a="http://schemas.openxmlformats.org/drawingml/2006/main">
            <a:off x="6267450" y="2143125"/>
            <a:ext cx="2505075"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Durable outbox</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Retain pending catalog registration</a:t>
            </a:r>
          </a:p>
        </p:txBody>
      </p:sp>
      <p:sp>
        <p:nvSpPr>
          <p:cNvPr id="8" name="Catalog">
            <a:extLst xmlns:a="http://schemas.openxmlformats.org/drawingml/2006/main">
              <a:ext uri="{FF2B5EF4-FFF2-40B4-BE49-F238E27FC236}">
                <a16:creationId xmlns:a16="http://schemas.microsoft.com/office/drawing/2014/main" id="{8CE3D710-987B-4082-B26D-3435982A0318}"/>
              </a:ext>
            </a:extLst>
          </p:cNvPr>
          <p:cNvSpPr>
            <a:spLocks xmlns:a="http://schemas.openxmlformats.org/drawingml/2006/main" noGrp="1"/>
          </p:cNvSpPr>
          <p:nvPr/>
        </p:nvSpPr>
        <p:spPr>
          <a:xfrm xmlns:a="http://schemas.openxmlformats.org/drawingml/2006/main">
            <a:off x="9115425" y="2143125"/>
            <a:ext cx="2505075" cy="157162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Catalog</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Discover the product and retrieve its metadata</a:t>
            </a:r>
          </a:p>
        </p:txBody>
      </p:sp>
      <p:cxnSp>
        <p:nvCxnSpPr>
          <p:cNvPr id="57" name=""/>
          <p:cNvCxnSpPr>
            <a:stCxn xmlns:a="http://schemas.openxmlformats.org/drawingml/2006/main" id="5" idx="3"/>
            <a:endCxn xmlns:a="http://schemas.openxmlformats.org/drawingml/2006/main" id="6" idx="1"/>
          </p:cNvCxnSpPr>
          <p:nvPr/>
        </p:nvCxnSpPr>
        <p:spPr>
          <a:xfrm xmlns:a="http://schemas.openxmlformats.org/drawingml/2006/main">
            <a:off x="3076575" y="29289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8" name=""/>
          <p:cNvCxnSpPr>
            <a:stCxn xmlns:a="http://schemas.openxmlformats.org/drawingml/2006/main" id="6" idx="3"/>
            <a:endCxn xmlns:a="http://schemas.openxmlformats.org/drawingml/2006/main" id="7" idx="1"/>
          </p:cNvCxnSpPr>
          <p:nvPr/>
        </p:nvCxnSpPr>
        <p:spPr>
          <a:xfrm xmlns:a="http://schemas.openxmlformats.org/drawingml/2006/main">
            <a:off x="5924550" y="29289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9" name=""/>
          <p:cNvCxnSpPr>
            <a:stCxn xmlns:a="http://schemas.openxmlformats.org/drawingml/2006/main" id="7" idx="3"/>
            <a:endCxn xmlns:a="http://schemas.openxmlformats.org/drawingml/2006/main" id="8" idx="1"/>
          </p:cNvCxnSpPr>
          <p:nvPr/>
        </p:nvCxnSpPr>
        <p:spPr>
          <a:xfrm xmlns:a="http://schemas.openxmlformats.org/drawingml/2006/main">
            <a:off x="8772525" y="2928938"/>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Recovery">
            <a:extLst xmlns:a="http://schemas.openxmlformats.org/drawingml/2006/main">
              <a:ext uri="{FF2B5EF4-FFF2-40B4-BE49-F238E27FC236}">
                <a16:creationId xmlns:a16="http://schemas.microsoft.com/office/drawing/2014/main" id="{4D1C4EFE-94B7-49A4-8808-5BF2EB524946}"/>
              </a:ext>
            </a:extLst>
          </p:cNvPr>
          <p:cNvSpPr>
            <a:spLocks xmlns:a="http://schemas.openxmlformats.org/drawingml/2006/main" noGrp="1"/>
          </p:cNvSpPr>
          <p:nvPr/>
        </p:nvSpPr>
        <p:spPr>
          <a:xfrm xmlns:a="http://schemas.openxmlformats.org/drawingml/2006/main">
            <a:off x="571500" y="42862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Recovery</a:t>
            </a:r>
          </a:p>
        </p:txBody>
      </p:sp>
      <p:sp>
        <p:nvSpPr>
          <p:cNvPr id="13" name="The outbox worker periodically reconciles pending registrations.">
            <a:extLst xmlns:a="http://schemas.openxmlformats.org/drawingml/2006/main">
              <a:ext uri="{FF2B5EF4-FFF2-40B4-BE49-F238E27FC236}">
                <a16:creationId xmlns:a16="http://schemas.microsoft.com/office/drawing/2014/main" id="{75FE99D2-A73B-4EBF-B426-73E9999F1CC5}"/>
              </a:ext>
            </a:extLst>
          </p:cNvPr>
          <p:cNvSpPr>
            <a:spLocks xmlns:a="http://schemas.openxmlformats.org/drawingml/2006/main" noGrp="1"/>
          </p:cNvSpPr>
          <p:nvPr/>
        </p:nvSpPr>
        <p:spPr>
          <a:xfrm xmlns:a="http://schemas.openxmlformats.org/drawingml/2006/main">
            <a:off x="571500" y="4743450"/>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The outbox worker periodically reconciles pending registrations.</a:t>
            </a:r>
          </a:p>
        </p:txBody>
      </p:sp>
      <p:sp>
        <p:nvSpPr>
          <p:cNvPr id="14" name="Boundary">
            <a:extLst xmlns:a="http://schemas.openxmlformats.org/drawingml/2006/main">
              <a:ext uri="{FF2B5EF4-FFF2-40B4-BE49-F238E27FC236}">
                <a16:creationId xmlns:a16="http://schemas.microsoft.com/office/drawing/2014/main" id="{015F5706-EE1F-49B4-B40C-16122BAC2BEE}"/>
              </a:ext>
            </a:extLst>
          </p:cNvPr>
          <p:cNvSpPr>
            <a:spLocks xmlns:a="http://schemas.openxmlformats.org/drawingml/2006/main" noGrp="1"/>
          </p:cNvSpPr>
          <p:nvPr/>
        </p:nvSpPr>
        <p:spPr>
          <a:xfrm xmlns:a="http://schemas.openxmlformats.org/drawingml/2006/main">
            <a:off x="6096000" y="42862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Boundary</a:t>
            </a:r>
          </a:p>
        </p:txBody>
      </p:sp>
      <p:sp>
        <p:nvSpPr>
          <p:cNvPr id="15" name="Packaging and catalog registration are separate from graph mutation. A">
            <a:extLst xmlns:a="http://schemas.openxmlformats.org/drawingml/2006/main">
              <a:ext uri="{FF2B5EF4-FFF2-40B4-BE49-F238E27FC236}">
                <a16:creationId xmlns:a16="http://schemas.microsoft.com/office/drawing/2014/main" id="{4921A355-1371-492D-84D4-A9F18E995263}"/>
              </a:ext>
            </a:extLst>
          </p:cNvPr>
          <p:cNvSpPr>
            <a:spLocks xmlns:a="http://schemas.openxmlformats.org/drawingml/2006/main" noGrp="1"/>
          </p:cNvSpPr>
          <p:nvPr/>
        </p:nvSpPr>
        <p:spPr>
          <a:xfrm xmlns:a="http://schemas.openxmlformats.org/drawingml/2006/main">
            <a:off x="6096000" y="4743450"/>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Packaging and catalog registration are separate from graph mutation. A manifest alone grants no write authority.</a:t>
            </a:r>
          </a:p>
        </p:txBody>
      </p:sp>
    </p:spTree>
    <p:extLst>
      <p:ext uri="{BB962C8B-B14F-4D97-AF65-F5344CB8AC3E}">
        <p14:creationId xmlns:p14="http://schemas.microsoft.com/office/powerpoint/2010/main" val="133838991"/>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Agentic assistance and semantic retrieval">
            <a:extLst xmlns:a="http://schemas.openxmlformats.org/drawingml/2006/main">
              <a:ext uri="{FF2B5EF4-FFF2-40B4-BE49-F238E27FC236}">
                <a16:creationId xmlns:a16="http://schemas.microsoft.com/office/drawing/2014/main" id="{521D7402-456B-436C-BD03-4B796F290B2D}"/>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Agentic assistance and semantic retrieval</a:t>
            </a:r>
          </a:p>
        </p:txBody>
      </p:sp>
      <p:sp>
        <p:nvSpPr>
          <p:cNvPr id="2" name="The Knowledge Companion retrieves bounded graph evidence. Tool workflo">
            <a:extLst xmlns:a="http://schemas.openxmlformats.org/drawingml/2006/main">
              <a:ext uri="{FF2B5EF4-FFF2-40B4-BE49-F238E27FC236}">
                <a16:creationId xmlns:a16="http://schemas.microsoft.com/office/drawing/2014/main" id="{39D862E7-A1F4-4D33-A36D-3531AAA84AEE}"/>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The Knowledge Companion retrieves bounded graph evidence. Tool workflows use explicit authorization.</a:t>
            </a:r>
          </a:p>
        </p:txBody>
      </p:sp>
      <p:sp>
        <p:nvSpPr>
          <p:cNvPr id="3" name="DEPO  /  Functional architecture">
            <a:extLst xmlns:a="http://schemas.openxmlformats.org/drawingml/2006/main">
              <a:ext uri="{FF2B5EF4-FFF2-40B4-BE49-F238E27FC236}">
                <a16:creationId xmlns:a16="http://schemas.microsoft.com/office/drawing/2014/main" id="{CBCDCF09-94B7-49DA-BFDF-F6F45076BF9F}"/>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2">
            <a:extLst xmlns:a="http://schemas.openxmlformats.org/drawingml/2006/main">
              <a:ext uri="{FF2B5EF4-FFF2-40B4-BE49-F238E27FC236}">
                <a16:creationId xmlns:a16="http://schemas.microsoft.com/office/drawing/2014/main" id="{B619E487-9D21-4D09-A111-58D2DBBD4918}"/>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12</a:t>
            </a:r>
          </a:p>
        </p:txBody>
      </p:sp>
      <p:sp>
        <p:nvSpPr>
          <p:cNvPr id="5" name="User request">
            <a:extLst xmlns:a="http://schemas.openxmlformats.org/drawingml/2006/main">
              <a:ext uri="{FF2B5EF4-FFF2-40B4-BE49-F238E27FC236}">
                <a16:creationId xmlns:a16="http://schemas.microsoft.com/office/drawing/2014/main" id="{23018E6D-844B-4F38-BE49-670F227439CC}"/>
              </a:ext>
            </a:extLst>
          </p:cNvPr>
          <p:cNvSpPr>
            <a:spLocks xmlns:a="http://schemas.openxmlformats.org/drawingml/2006/main" noGrp="1"/>
          </p:cNvSpPr>
          <p:nvPr/>
        </p:nvSpPr>
        <p:spPr>
          <a:xfrm xmlns:a="http://schemas.openxmlformats.org/drawingml/2006/main">
            <a:off x="571500" y="2095500"/>
            <a:ext cx="2505075"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User request</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Read API key authorizes retrieval</a:t>
            </a:r>
          </a:p>
        </p:txBody>
      </p:sp>
      <p:sp>
        <p:nvSpPr>
          <p:cNvPr id="6" name="Agentic service">
            <a:extLst xmlns:a="http://schemas.openxmlformats.org/drawingml/2006/main">
              <a:ext uri="{FF2B5EF4-FFF2-40B4-BE49-F238E27FC236}">
                <a16:creationId xmlns:a16="http://schemas.microsoft.com/office/drawing/2014/main" id="{9FF198BD-70F3-43D0-87F4-A38D5FCAFE5B}"/>
              </a:ext>
            </a:extLst>
          </p:cNvPr>
          <p:cNvSpPr>
            <a:spLocks xmlns:a="http://schemas.openxmlformats.org/drawingml/2006/main" noGrp="1"/>
          </p:cNvSpPr>
          <p:nvPr/>
        </p:nvSpPr>
        <p:spPr>
          <a:xfrm xmlns:a="http://schemas.openxmlformats.org/drawingml/2006/main">
            <a:off x="3419475" y="2095500"/>
            <a:ext cx="2505075" cy="157162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Agentic service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Selects allowed tools or searches graph evidence</a:t>
            </a:r>
          </a:p>
        </p:txBody>
      </p:sp>
      <p:sp>
        <p:nvSpPr>
          <p:cNvPr id="7" name="Serving APIs">
            <a:extLst xmlns:a="http://schemas.openxmlformats.org/drawingml/2006/main">
              <a:ext uri="{FF2B5EF4-FFF2-40B4-BE49-F238E27FC236}">
                <a16:creationId xmlns:a16="http://schemas.microsoft.com/office/drawing/2014/main" id="{70963B78-C35B-4786-98C0-A255FCE8D59D}"/>
              </a:ext>
            </a:extLst>
          </p:cNvPr>
          <p:cNvSpPr>
            <a:spLocks xmlns:a="http://schemas.openxmlformats.org/drawingml/2006/main" noGrp="1"/>
          </p:cNvSpPr>
          <p:nvPr/>
        </p:nvSpPr>
        <p:spPr>
          <a:xfrm xmlns:a="http://schemas.openxmlformats.org/drawingml/2006/main">
            <a:off x="6267450" y="2095500"/>
            <a:ext cx="2505075"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Serving APIs</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Graph search, traversal and read projections</a:t>
            </a:r>
          </a:p>
        </p:txBody>
      </p:sp>
      <p:sp>
        <p:nvSpPr>
          <p:cNvPr id="8" name="Response">
            <a:extLst xmlns:a="http://schemas.openxmlformats.org/drawingml/2006/main">
              <a:ext uri="{FF2B5EF4-FFF2-40B4-BE49-F238E27FC236}">
                <a16:creationId xmlns:a16="http://schemas.microsoft.com/office/drawing/2014/main" id="{98865D50-5D7F-47CB-A7FB-9EC0C5C10AD8}"/>
              </a:ext>
            </a:extLst>
          </p:cNvPr>
          <p:cNvSpPr>
            <a:spLocks xmlns:a="http://schemas.openxmlformats.org/drawingml/2006/main" noGrp="1"/>
          </p:cNvSpPr>
          <p:nvPr/>
        </p:nvSpPr>
        <p:spPr>
          <a:xfrm xmlns:a="http://schemas.openxmlformats.org/drawingml/2006/main">
            <a:off x="9115425" y="2095500"/>
            <a:ext cx="2505075" cy="157162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Response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Evidence references or an insufficient-evidence result</a:t>
            </a:r>
          </a:p>
        </p:txBody>
      </p:sp>
      <p:cxnSp>
        <p:nvCxnSpPr>
          <p:cNvPr id="58" name=""/>
          <p:cNvCxnSpPr>
            <a:stCxn xmlns:a="http://schemas.openxmlformats.org/drawingml/2006/main" id="5" idx="3"/>
            <a:endCxn xmlns:a="http://schemas.openxmlformats.org/drawingml/2006/main" id="6" idx="1"/>
          </p:cNvCxnSpPr>
          <p:nvPr/>
        </p:nvCxnSpPr>
        <p:spPr>
          <a:xfrm xmlns:a="http://schemas.openxmlformats.org/drawingml/2006/main">
            <a:off x="3076575"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9" name=""/>
          <p:cNvCxnSpPr>
            <a:stCxn xmlns:a="http://schemas.openxmlformats.org/drawingml/2006/main" id="6" idx="3"/>
            <a:endCxn xmlns:a="http://schemas.openxmlformats.org/drawingml/2006/main" id="7" idx="1"/>
          </p:cNvCxnSpPr>
          <p:nvPr/>
        </p:nvCxnSpPr>
        <p:spPr>
          <a:xfrm xmlns:a="http://schemas.openxmlformats.org/drawingml/2006/main">
            <a:off x="5924550"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60" name=""/>
          <p:cNvCxnSpPr>
            <a:stCxn xmlns:a="http://schemas.openxmlformats.org/drawingml/2006/main" id="7" idx="3"/>
            <a:endCxn xmlns:a="http://schemas.openxmlformats.org/drawingml/2006/main" id="8" idx="1"/>
          </p:cNvCxnSpPr>
          <p:nvPr/>
        </p:nvCxnSpPr>
        <p:spPr>
          <a:xfrm xmlns:a="http://schemas.openxmlformats.org/drawingml/2006/main">
            <a:off x="8772525"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Mutation requests">
            <a:extLst xmlns:a="http://schemas.openxmlformats.org/drawingml/2006/main">
              <a:ext uri="{FF2B5EF4-FFF2-40B4-BE49-F238E27FC236}">
                <a16:creationId xmlns:a16="http://schemas.microsoft.com/office/drawing/2014/main" id="{37D1B4C6-EFBF-4FA0-B431-0470CB4C77D9}"/>
              </a:ext>
            </a:extLst>
          </p:cNvPr>
          <p:cNvSpPr>
            <a:spLocks xmlns:a="http://schemas.openxmlformats.org/drawingml/2006/main" noGrp="1"/>
          </p:cNvSpPr>
          <p:nvPr/>
        </p:nvSpPr>
        <p:spPr>
          <a:xfrm xmlns:a="http://schemas.openxmlformats.org/drawingml/2006/main">
            <a:off x="571500" y="41433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Mutation requests</a:t>
            </a:r>
          </a:p>
        </p:txBody>
      </p:sp>
      <p:sp>
        <p:nvSpPr>
          <p:cNvPr id="13" name="Tool and Bridge actions require the relevant approval. Services own pu">
            <a:extLst xmlns:a="http://schemas.openxmlformats.org/drawingml/2006/main">
              <a:ext uri="{FF2B5EF4-FFF2-40B4-BE49-F238E27FC236}">
                <a16:creationId xmlns:a16="http://schemas.microsoft.com/office/drawing/2014/main" id="{60A1E75A-2397-4290-AE88-C3453D7362DE}"/>
              </a:ext>
            </a:extLst>
          </p:cNvPr>
          <p:cNvSpPr>
            <a:spLocks xmlns:a="http://schemas.openxmlformats.org/drawingml/2006/main" noGrp="1"/>
          </p:cNvSpPr>
          <p:nvPr/>
        </p:nvSpPr>
        <p:spPr>
          <a:xfrm xmlns:a="http://schemas.openxmlformats.org/drawingml/2006/main">
            <a:off x="571500" y="4600575"/>
            <a:ext cx="51911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Tool and Bridge actions require the relevant approval. Services own publication.</a:t>
            </a:r>
          </a:p>
        </p:txBody>
      </p:sp>
      <p:sp>
        <p:nvSpPr>
          <p:cNvPr id="14" name="Optional integrations">
            <a:extLst xmlns:a="http://schemas.openxmlformats.org/drawingml/2006/main">
              <a:ext uri="{FF2B5EF4-FFF2-40B4-BE49-F238E27FC236}">
                <a16:creationId xmlns:a16="http://schemas.microsoft.com/office/drawing/2014/main" id="{5E095BD9-9B6D-46D3-A191-176C44D0D0D7}"/>
              </a:ext>
            </a:extLst>
          </p:cNvPr>
          <p:cNvSpPr>
            <a:spLocks xmlns:a="http://schemas.openxmlformats.org/drawingml/2006/main" noGrp="1"/>
          </p:cNvSpPr>
          <p:nvPr/>
        </p:nvSpPr>
        <p:spPr>
          <a:xfrm xmlns:a="http://schemas.openxmlformats.org/drawingml/2006/main">
            <a:off x="6096000" y="41433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Optional integrations</a:t>
            </a:r>
          </a:p>
        </p:txBody>
      </p:sp>
      <p:sp>
        <p:nvSpPr>
          <p:cNvPr id="15" name="Remote DT agent and OSLC remain disabled until configured. An external">
            <a:extLst xmlns:a="http://schemas.openxmlformats.org/drawingml/2006/main">
              <a:ext uri="{FF2B5EF4-FFF2-40B4-BE49-F238E27FC236}">
                <a16:creationId xmlns:a16="http://schemas.microsoft.com/office/drawing/2014/main" id="{90A02A0A-C181-42C9-B651-441BECE73C74}"/>
              </a:ext>
            </a:extLst>
          </p:cNvPr>
          <p:cNvSpPr>
            <a:spLocks xmlns:a="http://schemas.openxmlformats.org/drawingml/2006/main" noGrp="1"/>
          </p:cNvSpPr>
          <p:nvPr/>
        </p:nvSpPr>
        <p:spPr>
          <a:xfrm xmlns:a="http://schemas.openxmlformats.org/drawingml/2006/main">
            <a:off x="6096000" y="4600575"/>
            <a:ext cx="51911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Remote DT agent and OSLC remain disabled until configured. An external LLM is not required by the Companion path.</a:t>
            </a:r>
          </a:p>
        </p:txBody>
      </p:sp>
      <p:sp>
        <p:nvSpPr>
          <p:cNvPr id="16" name="Bounded SPARQL and approved federation APIs exist. They need configure">
            <a:extLst xmlns:a="http://schemas.openxmlformats.org/drawingml/2006/main">
              <a:ext uri="{FF2B5EF4-FFF2-40B4-BE49-F238E27FC236}">
                <a16:creationId xmlns:a16="http://schemas.microsoft.com/office/drawing/2014/main" id="{336052E1-F7C3-4DC6-845F-FD9344A1A890}"/>
              </a:ext>
            </a:extLst>
          </p:cNvPr>
          <p:cNvSpPr>
            <a:spLocks xmlns:a="http://schemas.openxmlformats.org/drawingml/2006/main" noGrp="1"/>
          </p:cNvSpPr>
          <p:nvPr/>
        </p:nvSpPr>
        <p:spPr>
          <a:xfrm xmlns:a="http://schemas.openxmlformats.org/drawingml/2006/main">
            <a:off x="571500" y="589597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526779"/>
                </a:solidFill>
                <a:latin typeface="Arial"/>
                <a:ea typeface="Arial"/>
                <a:cs typeface="Arial"/>
              </a:defRPr>
            </a:pPr>
            <a:r>
              <a:rPr sz="1575" b="0">
                <a:solidFill>
                  <a:srgbClr val="526779"/>
                </a:solidFill>
                <a:latin typeface="Arial"/>
                <a:ea typeface="Arial"/>
                <a:cs typeface="Arial"/>
              </a:rPr>
              <a:t>Bounded SPARQL and approved federation APIs exist. They need configured data and authorized peers.</a:t>
            </a:r>
          </a:p>
        </p:txBody>
      </p:sp>
    </p:spTree>
    <p:extLst>
      <p:ext uri="{BB962C8B-B14F-4D97-AF65-F5344CB8AC3E}">
        <p14:creationId xmlns:p14="http://schemas.microsoft.com/office/powerpoint/2010/main" val="1656090923"/>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Functional workflows in the frontend">
            <a:extLst xmlns:a="http://schemas.openxmlformats.org/drawingml/2006/main">
              <a:ext uri="{FF2B5EF4-FFF2-40B4-BE49-F238E27FC236}">
                <a16:creationId xmlns:a16="http://schemas.microsoft.com/office/drawing/2014/main" id="{C8BD5CA7-7332-4EBD-8CDF-316DE6B0C365}"/>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Functional workflows in the frontend</a:t>
            </a:r>
          </a:p>
        </p:txBody>
      </p:sp>
      <p:sp>
        <p:nvSpPr>
          <p:cNvPr id="2" name="The UI connects user decisions to service-owned evidence and authoriza">
            <a:extLst xmlns:a="http://schemas.openxmlformats.org/drawingml/2006/main">
              <a:ext uri="{FF2B5EF4-FFF2-40B4-BE49-F238E27FC236}">
                <a16:creationId xmlns:a16="http://schemas.microsoft.com/office/drawing/2014/main" id="{F4D20C75-4EA0-4891-97D5-3EFEC6851F41}"/>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The UI connects user decisions to service-owned evidence and authorization.</a:t>
            </a:r>
          </a:p>
        </p:txBody>
      </p:sp>
      <p:sp>
        <p:nvSpPr>
          <p:cNvPr id="3" name="DEPO  /  Functional architecture">
            <a:extLst xmlns:a="http://schemas.openxmlformats.org/drawingml/2006/main">
              <a:ext uri="{FF2B5EF4-FFF2-40B4-BE49-F238E27FC236}">
                <a16:creationId xmlns:a16="http://schemas.microsoft.com/office/drawing/2014/main" id="{CB9EA31B-61C7-4B2D-895F-0AA03D038C84}"/>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3">
            <a:extLst xmlns:a="http://schemas.openxmlformats.org/drawingml/2006/main">
              <a:ext uri="{FF2B5EF4-FFF2-40B4-BE49-F238E27FC236}">
                <a16:creationId xmlns:a16="http://schemas.microsoft.com/office/drawing/2014/main" id="{09A3088A-A6B2-4659-9995-61F0B4BA39A7}"/>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13</a:t>
            </a:r>
          </a:p>
        </p:txBody>
      </p:sp>
      <p:graphicFrame>
        <p:nvGraphicFramePr>
          <p:cNvPr id="13" name=""/>
          <p:cNvGraphicFramePr/>
          <p:nvPr/>
        </p:nvGraphicFramePr>
        <p:xfrm>
          <a:off xmlns:a="http://schemas.openxmlformats.org/drawingml/2006/main" x="571500" y="1952625"/>
          <a:ext xmlns:a="http://schemas.openxmlformats.org/drawingml/2006/main" cx="11049000" cy="3609975"/>
        </p:xfrm>
        <a:graphic xmlns:a="http://schemas.openxmlformats.org/drawingml/2006/main">
          <a:graphicData uri="http://schemas.openxmlformats.org/drawingml/2006/table">
            <a:tbl>
              <a:tblPr/>
              <a:tblGrid>
                <a:gridCol w="2667000"/>
                <a:gridCol w="4524375"/>
                <a:gridCol w="3857625"/>
              </a:tblGrid>
              <a:tr h="721995">
                <a:tc>
                  <a:txBody>
                    <a:bodyPr/>
                    <a:lstStyle/>
                    <a:p>
                      <a:r>
                        <a:rPr sz="1650" b="1">
                          <a:solidFill>
                            <a:srgbClr val="FFFFFF"/>
                          </a:solidFill>
                          <a:latin typeface="Arial"/>
                          <a:ea typeface="Arial"/>
                          <a:cs typeface="Arial"/>
                        </a:rPr>
                        <a:t>User task</a:t>
                      </a:r>
                    </a:p>
                  </a:txBody>
                  <a:tcPr marL="91440" marR="91440" marT="45720" marB="45720">
                    <a:solidFill>
                      <a:srgbClr val="0B2133"/>
                    </a:solidFill>
                  </a:tcPr>
                </a:tc>
                <a:tc>
                  <a:txBody>
                    <a:bodyPr/>
                    <a:lstStyle/>
                    <a:p>
                      <a:r>
                        <a:rPr sz="1650" b="1">
                          <a:solidFill>
                            <a:srgbClr val="FFFFFF"/>
                          </a:solidFill>
                          <a:latin typeface="Arial"/>
                          <a:ea typeface="Arial"/>
                          <a:cs typeface="Arial"/>
                        </a:rPr>
                        <a:t>UI interaction</a:t>
                      </a:r>
                    </a:p>
                  </a:txBody>
                  <a:tcPr marL="91440" marR="91440" marT="45720" marB="45720">
                    <a:solidFill>
                      <a:srgbClr val="0B2133"/>
                    </a:solidFill>
                  </a:tcPr>
                </a:tc>
                <a:tc>
                  <a:txBody>
                    <a:bodyPr/>
                    <a:lstStyle/>
                    <a:p>
                      <a:r>
                        <a:rPr sz="1650" b="1">
                          <a:solidFill>
                            <a:srgbClr val="FFFFFF"/>
                          </a:solidFill>
                          <a:latin typeface="Arial"/>
                          <a:ea typeface="Arial"/>
                          <a:cs typeface="Arial"/>
                        </a:rPr>
                        <a:t>Visible result</a:t>
                      </a:r>
                    </a:p>
                  </a:txBody>
                  <a:tcPr marL="91440" marR="91440" marT="45720" marB="45720">
                    <a:solidFill>
                      <a:srgbClr val="0B2133"/>
                    </a:solidFill>
                  </a:tcPr>
                </a:tc>
              </a:tr>
              <a:tr h="721995">
                <a:tc>
                  <a:txBody>
                    <a:bodyPr/>
                    <a:lstStyle/>
                    <a:p>
                      <a:r>
                        <a:rPr sz="1650" b="0">
                          <a:solidFill>
                            <a:srgbClr val="20313E"/>
                          </a:solidFill>
                          <a:latin typeface="Arial"/>
                          <a:ea typeface="Arial"/>
                          <a:cs typeface="Arial"/>
                        </a:rPr>
                        <a:t>Map an imported instance</a:t>
                      </a:r>
                    </a:p>
                  </a:txBody>
                  <a:tcPr marL="91440" marR="91440" marT="45720" marB="45720">
                    <a:solidFill>
                      <a:srgbClr val="FFFFFF"/>
                    </a:solidFill>
                  </a:tcPr>
                </a:tc>
                <a:tc>
                  <a:txBody>
                    <a:bodyPr/>
                    <a:lstStyle/>
                    <a:p>
                      <a:r>
                        <a:rPr sz="1650" b="0">
                          <a:solidFill>
                            <a:srgbClr val="20313E"/>
                          </a:solidFill>
                          <a:latin typeface="Arial"/>
                          <a:ea typeface="Arial"/>
                          <a:cs typeface="Arial"/>
                        </a:rPr>
                        <a:t>Create/load Bridge preview, select mappings, approve</a:t>
                      </a:r>
                    </a:p>
                  </a:txBody>
                  <a:tcPr marL="91440" marR="91440" marT="45720" marB="45720">
                    <a:solidFill>
                      <a:srgbClr val="FFFFFF"/>
                    </a:solidFill>
                  </a:tcPr>
                </a:tc>
                <a:tc>
                  <a:txBody>
                    <a:bodyPr/>
                    <a:lstStyle/>
                    <a:p>
                      <a:r>
                        <a:rPr sz="1650" b="0">
                          <a:solidFill>
                            <a:srgbClr val="20313E"/>
                          </a:solidFill>
                          <a:latin typeface="Arial"/>
                          <a:ea typeface="Arial"/>
                          <a:cs typeface="Arial"/>
                        </a:rPr>
                        <a:t>Candidate evidence and publication status</a:t>
                      </a:r>
                    </a:p>
                  </a:txBody>
                  <a:tcPr marL="91440" marR="91440" marT="45720" marB="45720">
                    <a:solidFill>
                      <a:srgbClr val="FFFFFF"/>
                    </a:solidFill>
                  </a:tcPr>
                </a:tc>
              </a:tr>
              <a:tr h="721995">
                <a:tc>
                  <a:txBody>
                    <a:bodyPr/>
                    <a:lstStyle/>
                    <a:p>
                      <a:r>
                        <a:rPr sz="1650" b="0">
                          <a:solidFill>
                            <a:srgbClr val="20313E"/>
                          </a:solidFill>
                          <a:latin typeface="Arial"/>
                          <a:ea typeface="Arial"/>
                          <a:cs typeface="Arial"/>
                        </a:rPr>
                        <a:t>Operate data jobs</a:t>
                      </a:r>
                    </a:p>
                  </a:txBody>
                  <a:tcPr marL="91440" marR="91440" marT="45720" marB="45720">
                    <a:solidFill>
                      <a:srgbClr val="DFF0F5"/>
                    </a:solidFill>
                  </a:tcPr>
                </a:tc>
                <a:tc>
                  <a:txBody>
                    <a:bodyPr/>
                    <a:lstStyle/>
                    <a:p>
                      <a:r>
                        <a:rPr sz="1650" b="0">
                          <a:solidFill>
                            <a:srgbClr val="20313E"/>
                          </a:solidFill>
                          <a:latin typeface="Arial"/>
                          <a:ea typeface="Arial"/>
                          <a:cs typeface="Arial"/>
                        </a:rPr>
                        <a:t>Inspect definitions/runs, quality and replay controls</a:t>
                      </a:r>
                    </a:p>
                  </a:txBody>
                  <a:tcPr marL="91440" marR="91440" marT="45720" marB="45720">
                    <a:solidFill>
                      <a:srgbClr val="DFF0F5"/>
                    </a:solidFill>
                  </a:tcPr>
                </a:tc>
                <a:tc>
                  <a:txBody>
                    <a:bodyPr/>
                    <a:lstStyle/>
                    <a:p>
                      <a:r>
                        <a:rPr sz="1650" b="0">
                          <a:solidFill>
                            <a:srgbClr val="20313E"/>
                          </a:solidFill>
                          <a:latin typeface="Arial"/>
                          <a:ea typeface="Arial"/>
                          <a:cs typeface="Arial"/>
                        </a:rPr>
                        <a:t>Run telemetry, lineage and checkpoint state</a:t>
                      </a:r>
                    </a:p>
                  </a:txBody>
                  <a:tcPr marL="91440" marR="91440" marT="45720" marB="45720">
                    <a:solidFill>
                      <a:srgbClr val="DFF0F5"/>
                    </a:solidFill>
                  </a:tcPr>
                </a:tc>
              </a:tr>
              <a:tr h="721995">
                <a:tc>
                  <a:txBody>
                    <a:bodyPr/>
                    <a:lstStyle/>
                    <a:p>
                      <a:r>
                        <a:rPr sz="1650" b="0">
                          <a:solidFill>
                            <a:srgbClr val="20313E"/>
                          </a:solidFill>
                          <a:latin typeface="Arial"/>
                          <a:ea typeface="Arial"/>
                          <a:cs typeface="Arial"/>
                        </a:rPr>
                        <a:t>Explore published meaning</a:t>
                      </a:r>
                    </a:p>
                  </a:txBody>
                  <a:tcPr marL="91440" marR="91440" marT="45720" marB="45720">
                    <a:solidFill>
                      <a:srgbClr val="FFFFFF"/>
                    </a:solidFill>
                  </a:tcPr>
                </a:tc>
                <a:tc>
                  <a:txBody>
                    <a:bodyPr/>
                    <a:lstStyle/>
                    <a:p>
                      <a:r>
                        <a:rPr sz="1650" b="0">
                          <a:solidFill>
                            <a:srgbClr val="20313E"/>
                          </a:solidFill>
                          <a:latin typeface="Arial"/>
                          <a:ea typeface="Arial"/>
                          <a:cs typeface="Arial"/>
                        </a:rPr>
                        <a:t>Search and inspect graph neighborhoods</a:t>
                      </a:r>
                    </a:p>
                  </a:txBody>
                  <a:tcPr marL="91440" marR="91440" marT="45720" marB="45720">
                    <a:solidFill>
                      <a:srgbClr val="FFFFFF"/>
                    </a:solidFill>
                  </a:tcPr>
                </a:tc>
                <a:tc>
                  <a:txBody>
                    <a:bodyPr/>
                    <a:lstStyle/>
                    <a:p>
                      <a:r>
                        <a:rPr sz="1650" b="0">
                          <a:solidFill>
                            <a:srgbClr val="20313E"/>
                          </a:solidFill>
                          <a:latin typeface="Arial"/>
                          <a:ea typeface="Arial"/>
                          <a:cs typeface="Arial"/>
                        </a:rPr>
                        <a:t>Bounded resources and relationships</a:t>
                      </a:r>
                    </a:p>
                  </a:txBody>
                  <a:tcPr marL="91440" marR="91440" marT="45720" marB="45720">
                    <a:solidFill>
                      <a:srgbClr val="FFFFFF"/>
                    </a:solidFill>
                  </a:tcPr>
                </a:tc>
              </a:tr>
              <a:tr h="721995">
                <a:tc>
                  <a:txBody>
                    <a:bodyPr/>
                    <a:lstStyle/>
                    <a:p>
                      <a:r>
                        <a:rPr sz="1650" b="0">
                          <a:solidFill>
                            <a:srgbClr val="20313E"/>
                          </a:solidFill>
                          <a:latin typeface="Arial"/>
                          <a:ea typeface="Arial"/>
                          <a:cs typeface="Arial"/>
                        </a:rPr>
                        <a:t>Ask about graph evidence</a:t>
                      </a:r>
                    </a:p>
                  </a:txBody>
                  <a:tcPr marL="91440" marR="91440" marT="45720" marB="45720">
                    <a:solidFill>
                      <a:srgbClr val="DFF0F5"/>
                    </a:solidFill>
                  </a:tcPr>
                </a:tc>
                <a:tc>
                  <a:txBody>
                    <a:bodyPr/>
                    <a:lstStyle/>
                    <a:p>
                      <a:r>
                        <a:rPr sz="1650" b="0">
                          <a:solidFill>
                            <a:srgbClr val="20313E"/>
                          </a:solidFill>
                          <a:latin typeface="Arial"/>
                          <a:ea typeface="Arial"/>
                          <a:cs typeface="Arial"/>
                        </a:rPr>
                        <a:t>Enter a read API key and submit a question</a:t>
                      </a:r>
                    </a:p>
                  </a:txBody>
                  <a:tcPr marL="91440" marR="91440" marT="45720" marB="45720">
                    <a:solidFill>
                      <a:srgbClr val="DFF0F5"/>
                    </a:solidFill>
                  </a:tcPr>
                </a:tc>
                <a:tc>
                  <a:txBody>
                    <a:bodyPr/>
                    <a:lstStyle/>
                    <a:p>
                      <a:r>
                        <a:rPr sz="1650" b="0">
                          <a:solidFill>
                            <a:srgbClr val="20313E"/>
                          </a:solidFill>
                          <a:latin typeface="Arial"/>
                          <a:ea typeface="Arial"/>
                          <a:cs typeface="Arial"/>
                        </a:rPr>
                        <a:t>Evidence-backed response or no-evidence result</a:t>
                      </a:r>
                    </a:p>
                  </a:txBody>
                  <a:tcPr marL="91440" marR="91440" marT="45720" marB="45720">
                    <a:solidFill>
                      <a:srgbClr val="DFF0F5"/>
                    </a:solidFill>
                  </a:tcPr>
                </a:tc>
              </a:tr>
            </a:tbl>
          </a:graphicData>
        </a:graphic>
      </p:graphicFrame>
      <p:sp>
        <p:nvSpPr>
          <p:cNvPr id="6" name="Read credentials and approval credentials serve different operations. ">
            <a:extLst xmlns:a="http://schemas.openxmlformats.org/drawingml/2006/main">
              <a:ext uri="{FF2B5EF4-FFF2-40B4-BE49-F238E27FC236}">
                <a16:creationId xmlns:a16="http://schemas.microsoft.com/office/drawing/2014/main" id="{84E4DA61-686A-4B91-9DFA-5DB5FA59F5E2}"/>
              </a:ext>
            </a:extLst>
          </p:cNvPr>
          <p:cNvSpPr>
            <a:spLocks xmlns:a="http://schemas.openxmlformats.org/drawingml/2006/main" noGrp="1"/>
          </p:cNvSpPr>
          <p:nvPr/>
        </p:nvSpPr>
        <p:spPr>
          <a:xfrm xmlns:a="http://schemas.openxmlformats.org/drawingml/2006/main">
            <a:off x="571500" y="581977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007F8B"/>
                </a:solidFill>
                <a:latin typeface="Arial"/>
                <a:ea typeface="Arial"/>
                <a:cs typeface="Arial"/>
              </a:defRPr>
            </a:pPr>
            <a:r>
              <a:rPr sz="1800" b="1">
                <a:solidFill>
                  <a:srgbClr val="007F8B"/>
                </a:solidFill>
                <a:latin typeface="Arial"/>
                <a:ea typeface="Arial"/>
                <a:cs typeface="Arial"/>
              </a:rPr>
              <a:t>Read credentials and approval credentials serve different operations. Server secrets never belong in the browser build.</a:t>
            </a:r>
          </a:p>
        </p:txBody>
      </p:sp>
    </p:spTree>
    <p:extLst>
      <p:ext uri="{BB962C8B-B14F-4D97-AF65-F5344CB8AC3E}">
        <p14:creationId xmlns:p14="http://schemas.microsoft.com/office/powerpoint/2010/main" val="2001168931"/>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Customer deployment topology">
            <a:extLst xmlns:a="http://schemas.openxmlformats.org/drawingml/2006/main">
              <a:ext uri="{FF2B5EF4-FFF2-40B4-BE49-F238E27FC236}">
                <a16:creationId xmlns:a16="http://schemas.microsoft.com/office/drawing/2014/main" id="{9F1539E0-164A-4942-BB97-4C2D0CC62F06}"/>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Customer deployment topology</a:t>
            </a:r>
          </a:p>
        </p:txBody>
      </p:sp>
      <p:sp>
        <p:nvSpPr>
          <p:cNvPr id="2" name="The same application supports local or customer-managed databases.">
            <a:extLst xmlns:a="http://schemas.openxmlformats.org/drawingml/2006/main">
              <a:ext uri="{FF2B5EF4-FFF2-40B4-BE49-F238E27FC236}">
                <a16:creationId xmlns:a16="http://schemas.microsoft.com/office/drawing/2014/main" id="{1D1C066F-1B75-4886-A72E-0D5A579A6308}"/>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The same application supports local or customer-managed databases.</a:t>
            </a:r>
          </a:p>
        </p:txBody>
      </p:sp>
      <p:sp>
        <p:nvSpPr>
          <p:cNvPr id="3" name="DEPO  /  Functional architecture">
            <a:extLst xmlns:a="http://schemas.openxmlformats.org/drawingml/2006/main">
              <a:ext uri="{FF2B5EF4-FFF2-40B4-BE49-F238E27FC236}">
                <a16:creationId xmlns:a16="http://schemas.microsoft.com/office/drawing/2014/main" id="{191C3E15-5E6C-4FCC-958B-0AB4A4B2100C}"/>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4">
            <a:extLst xmlns:a="http://schemas.openxmlformats.org/drawingml/2006/main">
              <a:ext uri="{FF2B5EF4-FFF2-40B4-BE49-F238E27FC236}">
                <a16:creationId xmlns:a16="http://schemas.microsoft.com/office/drawing/2014/main" id="{12E09FA5-2E0C-4067-B111-5C255E885BC5}"/>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14</a:t>
            </a:r>
          </a:p>
        </p:txBody>
      </p:sp>
      <p:sp>
        <p:nvSpPr>
          <p:cNvPr id="5" name="Browser">
            <a:extLst xmlns:a="http://schemas.openxmlformats.org/drawingml/2006/main">
              <a:ext uri="{FF2B5EF4-FFF2-40B4-BE49-F238E27FC236}">
                <a16:creationId xmlns:a16="http://schemas.microsoft.com/office/drawing/2014/main" id="{CF252C22-A9E8-4548-83D7-775A571B8850}"/>
              </a:ext>
            </a:extLst>
          </p:cNvPr>
          <p:cNvSpPr>
            <a:spLocks xmlns:a="http://schemas.openxmlformats.org/drawingml/2006/main" noGrp="1"/>
          </p:cNvSpPr>
          <p:nvPr/>
        </p:nvSpPr>
        <p:spPr>
          <a:xfrm xmlns:a="http://schemas.openxmlformats.org/drawingml/2006/main">
            <a:off x="571500" y="2047875"/>
            <a:ext cx="3048000" cy="128587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Browser</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Frontend bundle via the selected HTTP/HTTPS deployment profile</a:t>
            </a:r>
          </a:p>
        </p:txBody>
      </p:sp>
      <p:sp>
        <p:nvSpPr>
          <p:cNvPr id="6" name="Web server / proxy">
            <a:extLst xmlns:a="http://schemas.openxmlformats.org/drawingml/2006/main">
              <a:ext uri="{FF2B5EF4-FFF2-40B4-BE49-F238E27FC236}">
                <a16:creationId xmlns:a16="http://schemas.microsoft.com/office/drawing/2014/main" id="{85D0C311-46AA-4D6B-8A43-54C749295CF7}"/>
              </a:ext>
            </a:extLst>
          </p:cNvPr>
          <p:cNvSpPr>
            <a:spLocks xmlns:a="http://schemas.openxmlformats.org/drawingml/2006/main" noGrp="1"/>
          </p:cNvSpPr>
          <p:nvPr/>
        </p:nvSpPr>
        <p:spPr>
          <a:xfrm xmlns:a="http://schemas.openxmlformats.org/drawingml/2006/main">
            <a:off x="4476750" y="2047875"/>
            <a:ext cx="3238500" cy="128587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Web server / proxy</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Serves frontend/dist and routes API requests</a:t>
            </a:r>
          </a:p>
        </p:txBody>
      </p:sp>
      <p:sp>
        <p:nvSpPr>
          <p:cNvPr id="7" name="DEPO services">
            <a:extLst xmlns:a="http://schemas.openxmlformats.org/drawingml/2006/main">
              <a:ext uri="{FF2B5EF4-FFF2-40B4-BE49-F238E27FC236}">
                <a16:creationId xmlns:a16="http://schemas.microsoft.com/office/drawing/2014/main" id="{A9278E0A-25D5-457D-95C3-6689E3FC4E96}"/>
              </a:ext>
            </a:extLst>
          </p:cNvPr>
          <p:cNvSpPr>
            <a:spLocks xmlns:a="http://schemas.openxmlformats.org/drawingml/2006/main" noGrp="1"/>
          </p:cNvSpPr>
          <p:nvPr/>
        </p:nvSpPr>
        <p:spPr>
          <a:xfrm xmlns:a="http://schemas.openxmlformats.org/drawingml/2006/main">
            <a:off x="8572500" y="2047875"/>
            <a:ext cx="3048000" cy="128587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DEPO services</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Ten APIs and two durable workers</a:t>
            </a:r>
          </a:p>
        </p:txBody>
      </p:sp>
      <p:cxnSp>
        <p:nvCxnSpPr>
          <p:cNvPr id="50" name=""/>
          <p:cNvCxnSpPr>
            <a:stCxn xmlns:a="http://schemas.openxmlformats.org/drawingml/2006/main" id="5" idx="3"/>
            <a:endCxn xmlns:a="http://schemas.openxmlformats.org/drawingml/2006/main" id="6" idx="1"/>
          </p:cNvCxnSpPr>
          <p:nvPr/>
        </p:nvCxnSpPr>
        <p:spPr>
          <a:xfrm xmlns:a="http://schemas.openxmlformats.org/drawingml/2006/main">
            <a:off x="3619500" y="2690813"/>
            <a:ext cx="85725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1" name=""/>
          <p:cNvCxnSpPr>
            <a:stCxn xmlns:a="http://schemas.openxmlformats.org/drawingml/2006/main" id="6" idx="3"/>
            <a:endCxn xmlns:a="http://schemas.openxmlformats.org/drawingml/2006/main" id="7" idx="1"/>
          </p:cNvCxnSpPr>
          <p:nvPr/>
        </p:nvCxnSpPr>
        <p:spPr>
          <a:xfrm xmlns:a="http://schemas.openxmlformats.org/drawingml/2006/main">
            <a:off x="7715250" y="2690813"/>
            <a:ext cx="85725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0" name="PostgreSQL">
            <a:extLst xmlns:a="http://schemas.openxmlformats.org/drawingml/2006/main">
              <a:ext uri="{FF2B5EF4-FFF2-40B4-BE49-F238E27FC236}">
                <a16:creationId xmlns:a16="http://schemas.microsoft.com/office/drawing/2014/main" id="{112C7075-E60F-4CD2-B426-221E205E4DDF}"/>
              </a:ext>
            </a:extLst>
          </p:cNvPr>
          <p:cNvSpPr>
            <a:spLocks xmlns:a="http://schemas.openxmlformats.org/drawingml/2006/main" noGrp="1"/>
          </p:cNvSpPr>
          <p:nvPr/>
        </p:nvSpPr>
        <p:spPr>
          <a:xfrm xmlns:a="http://schemas.openxmlformats.org/drawingml/2006/main">
            <a:off x="571500" y="4095750"/>
            <a:ext cx="339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PostgreSQL</a:t>
            </a:r>
          </a:p>
        </p:txBody>
      </p:sp>
      <p:sp>
        <p:nvSpPr>
          <p:cNvPr id="11" name="Local service, portable instance or managed database. Application sche">
            <a:extLst xmlns:a="http://schemas.openxmlformats.org/drawingml/2006/main">
              <a:ext uri="{FF2B5EF4-FFF2-40B4-BE49-F238E27FC236}">
                <a16:creationId xmlns:a16="http://schemas.microsoft.com/office/drawing/2014/main" id="{51A1D99A-4103-4F54-96CE-4DCA044529CD}"/>
              </a:ext>
            </a:extLst>
          </p:cNvPr>
          <p:cNvSpPr>
            <a:spLocks xmlns:a="http://schemas.openxmlformats.org/drawingml/2006/main" noGrp="1"/>
          </p:cNvSpPr>
          <p:nvPr/>
        </p:nvSpPr>
        <p:spPr>
          <a:xfrm xmlns:a="http://schemas.openxmlformats.org/drawingml/2006/main">
            <a:off x="571500" y="4552950"/>
            <a:ext cx="33496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Local service, portable instance or managed database. Application schema needs migration privileges.</a:t>
            </a:r>
          </a:p>
        </p:txBody>
      </p:sp>
      <p:sp>
        <p:nvSpPr>
          <p:cNvPr id="12" name="Neo4j">
            <a:extLst xmlns:a="http://schemas.openxmlformats.org/drawingml/2006/main">
              <a:ext uri="{FF2B5EF4-FFF2-40B4-BE49-F238E27FC236}">
                <a16:creationId xmlns:a16="http://schemas.microsoft.com/office/drawing/2014/main" id="{E196BE72-3145-4ACC-836B-3B1E88D0AB2D}"/>
              </a:ext>
            </a:extLst>
          </p:cNvPr>
          <p:cNvSpPr>
            <a:spLocks xmlns:a="http://schemas.openxmlformats.org/drawingml/2006/main" noGrp="1"/>
          </p:cNvSpPr>
          <p:nvPr/>
        </p:nvSpPr>
        <p:spPr>
          <a:xfrm xmlns:a="http://schemas.openxmlformats.org/drawingml/2006/main">
            <a:off x="4254500" y="4095750"/>
            <a:ext cx="339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Neo4j</a:t>
            </a:r>
          </a:p>
        </p:txBody>
      </p:sp>
      <p:sp>
        <p:nvSpPr>
          <p:cNvPr id="13" name="On-premises, hosted server or Aura. Production uses verified TLS with ">
            <a:extLst xmlns:a="http://schemas.openxmlformats.org/drawingml/2006/main">
              <a:ext uri="{FF2B5EF4-FFF2-40B4-BE49-F238E27FC236}">
                <a16:creationId xmlns:a16="http://schemas.microsoft.com/office/drawing/2014/main" id="{91573629-866F-404C-90E8-14382648DD04}"/>
              </a:ext>
            </a:extLst>
          </p:cNvPr>
          <p:cNvSpPr>
            <a:spLocks xmlns:a="http://schemas.openxmlformats.org/drawingml/2006/main" noGrp="1"/>
          </p:cNvSpPr>
          <p:nvPr/>
        </p:nvSpPr>
        <p:spPr>
          <a:xfrm xmlns:a="http://schemas.openxmlformats.org/drawingml/2006/main">
            <a:off x="4254500" y="4552950"/>
            <a:ext cx="33496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On-premises, Desktop or Aura. TLS is configurable; trusted private deployments can explicitly disable it.</a:t>
            </a:r>
          </a:p>
        </p:txBody>
      </p:sp>
      <p:sp>
        <p:nvSpPr>
          <p:cNvPr id="14" name="Spark / PySpark">
            <a:extLst xmlns:a="http://schemas.openxmlformats.org/drawingml/2006/main">
              <a:ext uri="{FF2B5EF4-FFF2-40B4-BE49-F238E27FC236}">
                <a16:creationId xmlns:a16="http://schemas.microsoft.com/office/drawing/2014/main" id="{BD2F7F2E-C11A-41C1-B143-7E02D078B2A8}"/>
              </a:ext>
            </a:extLst>
          </p:cNvPr>
          <p:cNvSpPr>
            <a:spLocks xmlns:a="http://schemas.openxmlformats.org/drawingml/2006/main" noGrp="1"/>
          </p:cNvSpPr>
          <p:nvPr/>
        </p:nvSpPr>
        <p:spPr>
          <a:xfrm xmlns:a="http://schemas.openxmlformats.org/drawingml/2006/main">
            <a:off x="7937500" y="4095750"/>
            <a:ext cx="339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Spark / PySpark</a:t>
            </a:r>
          </a:p>
        </p:txBody>
      </p:sp>
      <p:sp>
        <p:nvSpPr>
          <p:cNvPr id="15" name="Optional compute beside the pipeline service. Spark 4.1.2, Scala 2.13 ">
            <a:extLst xmlns:a="http://schemas.openxmlformats.org/drawingml/2006/main">
              <a:ext uri="{FF2B5EF4-FFF2-40B4-BE49-F238E27FC236}">
                <a16:creationId xmlns:a16="http://schemas.microsoft.com/office/drawing/2014/main" id="{AE62DE0E-9DF6-4127-8C82-52973C92915C}"/>
              </a:ext>
            </a:extLst>
          </p:cNvPr>
          <p:cNvSpPr>
            <a:spLocks xmlns:a="http://schemas.openxmlformats.org/drawingml/2006/main" noGrp="1"/>
          </p:cNvSpPr>
          <p:nvPr/>
        </p:nvSpPr>
        <p:spPr>
          <a:xfrm xmlns:a="http://schemas.openxmlformats.org/drawingml/2006/main">
            <a:off x="7937500" y="4552950"/>
            <a:ext cx="33496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Optional compute beside the pipeline service. Spark 4.1.2, Scala 2.13 and JDK 21 baseline.</a:t>
            </a:r>
          </a:p>
        </p:txBody>
      </p:sp>
    </p:spTree>
    <p:extLst>
      <p:ext uri="{BB962C8B-B14F-4D97-AF65-F5344CB8AC3E}">
        <p14:creationId xmlns:p14="http://schemas.microsoft.com/office/powerpoint/2010/main" val="1100213672"/>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One application installation sequence">
            <a:extLst xmlns:a="http://schemas.openxmlformats.org/drawingml/2006/main">
              <a:ext uri="{FF2B5EF4-FFF2-40B4-BE49-F238E27FC236}">
                <a16:creationId xmlns:a16="http://schemas.microsoft.com/office/drawing/2014/main" id="{5E7B0D97-B7DC-48B4-840A-E7F2CF638FE2}"/>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One application installation sequence</a:t>
            </a:r>
          </a:p>
        </p:txBody>
      </p:sp>
      <p:sp>
        <p:nvSpPr>
          <p:cNvPr id="2" name="A single installer owns frontend dependencies and the backend Python e">
            <a:extLst xmlns:a="http://schemas.openxmlformats.org/drawingml/2006/main">
              <a:ext uri="{FF2B5EF4-FFF2-40B4-BE49-F238E27FC236}">
                <a16:creationId xmlns:a16="http://schemas.microsoft.com/office/drawing/2014/main" id="{C1E822A3-CE9A-4044-A45C-2158BAEDD563}"/>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A single installer owns frontend dependencies and the backend Python environment.</a:t>
            </a:r>
          </a:p>
        </p:txBody>
      </p:sp>
      <p:sp>
        <p:nvSpPr>
          <p:cNvPr id="3" name="DEPO  /  Functional architecture">
            <a:extLst xmlns:a="http://schemas.openxmlformats.org/drawingml/2006/main">
              <a:ext uri="{FF2B5EF4-FFF2-40B4-BE49-F238E27FC236}">
                <a16:creationId xmlns:a16="http://schemas.microsoft.com/office/drawing/2014/main" id="{B096D4B8-73AE-443D-94C0-B963432A66D9}"/>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5">
            <a:extLst xmlns:a="http://schemas.openxmlformats.org/drawingml/2006/main">
              <a:ext uri="{FF2B5EF4-FFF2-40B4-BE49-F238E27FC236}">
                <a16:creationId xmlns:a16="http://schemas.microsoft.com/office/drawing/2014/main" id="{D53CF125-6372-431F-B1F6-A12065A6735A}"/>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15</a:t>
            </a:r>
          </a:p>
        </p:txBody>
      </p:sp>
      <p:sp>
        <p:nvSpPr>
          <p:cNvPr id="5" name="1  Provision">
            <a:extLst xmlns:a="http://schemas.openxmlformats.org/drawingml/2006/main">
              <a:ext uri="{FF2B5EF4-FFF2-40B4-BE49-F238E27FC236}">
                <a16:creationId xmlns:a16="http://schemas.microsoft.com/office/drawing/2014/main" id="{5156253B-8EDD-4440-BFD0-81F4513E79DE}"/>
              </a:ext>
            </a:extLst>
          </p:cNvPr>
          <p:cNvSpPr>
            <a:spLocks xmlns:a="http://schemas.openxmlformats.org/drawingml/2006/main" noGrp="1"/>
          </p:cNvSpPr>
          <p:nvPr/>
        </p:nvSpPr>
        <p:spPr>
          <a:xfrm xmlns:a="http://schemas.openxmlformats.org/drawingml/2006/main">
            <a:off x="571500" y="2095500"/>
            <a:ext cx="2505075" cy="16954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1  Provision</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PostgreSQL and Neo4j. Add Spark only when required.</a:t>
            </a:r>
          </a:p>
        </p:txBody>
      </p:sp>
      <p:sp>
        <p:nvSpPr>
          <p:cNvPr id="6" name="2  Configure">
            <a:extLst xmlns:a="http://schemas.openxmlformats.org/drawingml/2006/main">
              <a:ext uri="{FF2B5EF4-FFF2-40B4-BE49-F238E27FC236}">
                <a16:creationId xmlns:a16="http://schemas.microsoft.com/office/drawing/2014/main" id="{4DCB5014-CA79-4F69-8748-60EDAAF52948}"/>
              </a:ext>
            </a:extLst>
          </p:cNvPr>
          <p:cNvSpPr>
            <a:spLocks xmlns:a="http://schemas.openxmlformats.org/drawingml/2006/main" noGrp="1"/>
          </p:cNvSpPr>
          <p:nvPr/>
        </p:nvSpPr>
        <p:spPr>
          <a:xfrm xmlns:a="http://schemas.openxmlformats.org/drawingml/2006/main">
            <a:off x="3419475" y="2095500"/>
            <a:ext cx="2505075" cy="1695450"/>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2  Configure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Root server env and separate public browser env.</a:t>
            </a:r>
          </a:p>
        </p:txBody>
      </p:sp>
      <p:sp>
        <p:nvSpPr>
          <p:cNvPr id="7" name="3  Install">
            <a:extLst xmlns:a="http://schemas.openxmlformats.org/drawingml/2006/main">
              <a:ext uri="{FF2B5EF4-FFF2-40B4-BE49-F238E27FC236}">
                <a16:creationId xmlns:a16="http://schemas.microsoft.com/office/drawing/2014/main" id="{4B8110AA-5F2E-47CB-A8DD-2C6C0F2710B0}"/>
              </a:ext>
            </a:extLst>
          </p:cNvPr>
          <p:cNvSpPr>
            <a:spLocks xmlns:a="http://schemas.openxmlformats.org/drawingml/2006/main" noGrp="1"/>
          </p:cNvSpPr>
          <p:nvPr/>
        </p:nvSpPr>
        <p:spPr>
          <a:xfrm xmlns:a="http://schemas.openxmlformats.org/drawingml/2006/main">
            <a:off x="6267450" y="2095500"/>
            <a:ext cx="2505075" cy="1695450"/>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3  Install</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Python dependencies, npm ci and frontend build.</a:t>
            </a:r>
          </a:p>
        </p:txBody>
      </p:sp>
      <p:sp>
        <p:nvSpPr>
          <p:cNvPr id="8" name="4  Initialize">
            <a:extLst xmlns:a="http://schemas.openxmlformats.org/drawingml/2006/main">
              <a:ext uri="{FF2B5EF4-FFF2-40B4-BE49-F238E27FC236}">
                <a16:creationId xmlns:a16="http://schemas.microsoft.com/office/drawing/2014/main" id="{4E9A3D33-FE6C-41D8-A2AD-50BDF899D1DE}"/>
              </a:ext>
            </a:extLst>
          </p:cNvPr>
          <p:cNvSpPr>
            <a:spLocks xmlns:a="http://schemas.openxmlformats.org/drawingml/2006/main" noGrp="1"/>
          </p:cNvSpPr>
          <p:nvPr/>
        </p:nvSpPr>
        <p:spPr>
          <a:xfrm xmlns:a="http://schemas.openxmlformats.org/drawingml/2006/main">
            <a:off x="9115425" y="2095500"/>
            <a:ext cx="2505075" cy="1695450"/>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4  Initialize</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Apply migrations and check tables and columns.</a:t>
            </a:r>
          </a:p>
        </p:txBody>
      </p:sp>
      <p:cxnSp>
        <p:nvCxnSpPr>
          <p:cNvPr id="57" name=""/>
          <p:cNvCxnSpPr>
            <a:stCxn xmlns:a="http://schemas.openxmlformats.org/drawingml/2006/main" id="5" idx="3"/>
            <a:endCxn xmlns:a="http://schemas.openxmlformats.org/drawingml/2006/main" id="6" idx="1"/>
          </p:cNvCxnSpPr>
          <p:nvPr/>
        </p:nvCxnSpPr>
        <p:spPr>
          <a:xfrm xmlns:a="http://schemas.openxmlformats.org/drawingml/2006/main">
            <a:off x="3076575" y="294322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8" name=""/>
          <p:cNvCxnSpPr>
            <a:stCxn xmlns:a="http://schemas.openxmlformats.org/drawingml/2006/main" id="6" idx="3"/>
            <a:endCxn xmlns:a="http://schemas.openxmlformats.org/drawingml/2006/main" id="7" idx="1"/>
          </p:cNvCxnSpPr>
          <p:nvPr/>
        </p:nvCxnSpPr>
        <p:spPr>
          <a:xfrm xmlns:a="http://schemas.openxmlformats.org/drawingml/2006/main">
            <a:off x="5924550" y="294322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59" name=""/>
          <p:cNvCxnSpPr>
            <a:stCxn xmlns:a="http://schemas.openxmlformats.org/drawingml/2006/main" id="7" idx="3"/>
            <a:endCxn xmlns:a="http://schemas.openxmlformats.org/drawingml/2006/main" id="8" idx="1"/>
          </p:cNvCxnSpPr>
          <p:nvPr/>
        </p:nvCxnSpPr>
        <p:spPr>
          <a:xfrm xmlns:a="http://schemas.openxmlformats.org/drawingml/2006/main">
            <a:off x="8772525" y="2943225"/>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2" name="Runtime baseline">
            <a:extLst xmlns:a="http://schemas.openxmlformats.org/drawingml/2006/main">
              <a:ext uri="{FF2B5EF4-FFF2-40B4-BE49-F238E27FC236}">
                <a16:creationId xmlns:a16="http://schemas.microsoft.com/office/drawing/2014/main" id="{753CAB91-4075-42E4-84A3-253F9769A02E}"/>
              </a:ext>
            </a:extLst>
          </p:cNvPr>
          <p:cNvSpPr>
            <a:spLocks xmlns:a="http://schemas.openxmlformats.org/drawingml/2006/main" noGrp="1"/>
          </p:cNvSpPr>
          <p:nvPr/>
        </p:nvSpPr>
        <p:spPr>
          <a:xfrm xmlns:a="http://schemas.openxmlformats.org/drawingml/2006/main">
            <a:off x="571500" y="4238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Runtime baseline</a:t>
            </a:r>
          </a:p>
        </p:txBody>
      </p:sp>
      <p:sp>
        <p:nvSpPr>
          <p:cNvPr id="13" name="Python 3.11+, Node.js 24+ and npm 10.2+. PySpark comes from the approv">
            <a:extLst xmlns:a="http://schemas.openxmlformats.org/drawingml/2006/main">
              <a:ext uri="{FF2B5EF4-FFF2-40B4-BE49-F238E27FC236}">
                <a16:creationId xmlns:a16="http://schemas.microsoft.com/office/drawing/2014/main" id="{48D1E69A-9FF4-4850-B0C3-CE194FD69C61}"/>
              </a:ext>
            </a:extLst>
          </p:cNvPr>
          <p:cNvSpPr>
            <a:spLocks xmlns:a="http://schemas.openxmlformats.org/drawingml/2006/main" noGrp="1"/>
          </p:cNvSpPr>
          <p:nvPr/>
        </p:nvSpPr>
        <p:spPr>
          <a:xfrm xmlns:a="http://schemas.openxmlformats.org/drawingml/2006/main">
            <a:off x="571500" y="4695825"/>
            <a:ext cx="51911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Python 3.11+, Node.js 24+ and npm 10.2+. PySpark comes from the approved Spark distribution.</a:t>
            </a:r>
          </a:p>
        </p:txBody>
      </p:sp>
      <p:sp>
        <p:nvSpPr>
          <p:cNvPr id="14" name="Start and accept">
            <a:extLst xmlns:a="http://schemas.openxmlformats.org/drawingml/2006/main">
              <a:ext uri="{FF2B5EF4-FFF2-40B4-BE49-F238E27FC236}">
                <a16:creationId xmlns:a16="http://schemas.microsoft.com/office/drawing/2014/main" id="{9A791C0C-D959-4C24-AEC7-D324D4C40B27}"/>
              </a:ext>
            </a:extLst>
          </p:cNvPr>
          <p:cNvSpPr>
            <a:spLocks xmlns:a="http://schemas.openxmlformats.org/drawingml/2006/main" noGrp="1"/>
          </p:cNvSpPr>
          <p:nvPr/>
        </p:nvSpPr>
        <p:spPr>
          <a:xfrm xmlns:a="http://schemas.openxmlformats.org/drawingml/2006/main">
            <a:off x="6096000" y="4238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Start and accept</a:t>
            </a:r>
          </a:p>
        </p:txBody>
      </p:sp>
      <p:sp>
        <p:nvSpPr>
          <p:cNvPr id="15" name="Start services, serve frontend/dist, run Production preflight and veri">
            <a:extLst xmlns:a="http://schemas.openxmlformats.org/drawingml/2006/main">
              <a:ext uri="{FF2B5EF4-FFF2-40B4-BE49-F238E27FC236}">
                <a16:creationId xmlns:a16="http://schemas.microsoft.com/office/drawing/2014/main" id="{6ED2EB6D-C609-4EA5-824D-CDC4ED13C901}"/>
              </a:ext>
            </a:extLst>
          </p:cNvPr>
          <p:cNvSpPr>
            <a:spLocks xmlns:a="http://schemas.openxmlformats.org/drawingml/2006/main" noGrp="1"/>
          </p:cNvSpPr>
          <p:nvPr/>
        </p:nvSpPr>
        <p:spPr>
          <a:xfrm xmlns:a="http://schemas.openxmlformats.org/drawingml/2006/main">
            <a:off x="6096000" y="4695825"/>
            <a:ext cx="51911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Start services, serve frontend/dist, run Production preflight and verify the customer browser workflow.</a:t>
            </a:r>
          </a:p>
        </p:txBody>
      </p:sp>
    </p:spTree>
    <p:extLst>
      <p:ext uri="{BB962C8B-B14F-4D97-AF65-F5344CB8AC3E}">
        <p14:creationId xmlns:p14="http://schemas.microsoft.com/office/powerpoint/2010/main" val="1987408256"/>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PostgreSQL ownership and schema checks">
            <a:extLst xmlns:a="http://schemas.openxmlformats.org/drawingml/2006/main">
              <a:ext uri="{FF2B5EF4-FFF2-40B4-BE49-F238E27FC236}">
                <a16:creationId xmlns:a16="http://schemas.microsoft.com/office/drawing/2014/main" id="{4E469165-8789-459D-A6E8-53889D64FCAA}"/>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PostgreSQL ownership and schema checks</a:t>
            </a:r>
          </a:p>
        </p:txBody>
      </p:sp>
      <p:sp>
        <p:nvSpPr>
          <p:cNvPr id="2" name="Eight tables and one view contain forty required columns. JSON documen">
            <a:extLst xmlns:a="http://schemas.openxmlformats.org/drawingml/2006/main">
              <a:ext uri="{FF2B5EF4-FFF2-40B4-BE49-F238E27FC236}">
                <a16:creationId xmlns:a16="http://schemas.microsoft.com/office/drawing/2014/main" id="{C4A91A9C-9468-47BD-A73A-041BF4AF34B8}"/>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Versioned migrations own tables, credentials and analytics views. Registry JSON is organized by namespace.</a:t>
            </a:r>
          </a:p>
        </p:txBody>
      </p:sp>
      <p:sp>
        <p:nvSpPr>
          <p:cNvPr id="3" name="DEPO  /  Functional architecture">
            <a:extLst xmlns:a="http://schemas.openxmlformats.org/drawingml/2006/main">
              <a:ext uri="{FF2B5EF4-FFF2-40B4-BE49-F238E27FC236}">
                <a16:creationId xmlns:a16="http://schemas.microsoft.com/office/drawing/2014/main" id="{2827B342-C2D2-4AD4-A3E9-9A8FBBA225D1}"/>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6">
            <a:extLst xmlns:a="http://schemas.openxmlformats.org/drawingml/2006/main">
              <a:ext uri="{FF2B5EF4-FFF2-40B4-BE49-F238E27FC236}">
                <a16:creationId xmlns:a16="http://schemas.microsoft.com/office/drawing/2014/main" id="{801F4ABA-A040-413F-89A5-95838D044BFE}"/>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16</a:t>
            </a:r>
          </a:p>
        </p:txBody>
      </p:sp>
      <p:graphicFrame>
        <p:nvGraphicFramePr>
          <p:cNvPr id="13" name=""/>
          <p:cNvGraphicFramePr/>
          <p:nvPr/>
        </p:nvGraphicFramePr>
        <p:xfrm>
          <a:off xmlns:a="http://schemas.openxmlformats.org/drawingml/2006/main" x="571500" y="1847850"/>
          <a:ext xmlns:a="http://schemas.openxmlformats.org/drawingml/2006/main" cx="11049000" cy="3895725"/>
        </p:xfrm>
        <a:graphic xmlns:a="http://schemas.openxmlformats.org/drawingml/2006/main">
          <a:graphicData uri="http://schemas.openxmlformats.org/drawingml/2006/table">
            <a:tbl>
              <a:tblPr/>
              <a:tblGrid>
                <a:gridCol w="2619375"/>
                <a:gridCol w="3952875"/>
                <a:gridCol w="4476750"/>
              </a:tblGrid>
              <a:tr h="779145">
                <a:tc>
                  <a:txBody>
                    <a:bodyPr/>
                    <a:lstStyle/>
                    <a:p>
                      <a:r>
                        <a:rPr sz="1575" b="1">
                          <a:solidFill>
                            <a:srgbClr val="FFFFFF"/>
                          </a:solidFill>
                          <a:latin typeface="Arial"/>
                          <a:ea typeface="Arial"/>
                          <a:cs typeface="Arial"/>
                        </a:rPr>
                        <a:t>Data responsibility</a:t>
                      </a:r>
                    </a:p>
                  </a:txBody>
                  <a:tcPr marL="91440" marR="91440" marT="45720" marB="45720">
                    <a:solidFill>
                      <a:srgbClr val="0B2133"/>
                    </a:solidFill>
                  </a:tcPr>
                </a:tc>
                <a:tc>
                  <a:txBody>
                    <a:bodyPr/>
                    <a:lstStyle/>
                    <a:p>
                      <a:r>
                        <a:rPr sz="1575" b="1">
                          <a:solidFill>
                            <a:srgbClr val="FFFFFF"/>
                          </a:solidFill>
                          <a:latin typeface="Arial"/>
                          <a:ea typeface="Arial"/>
                          <a:cs typeface="Arial"/>
                        </a:rPr>
                        <a:t>Relations</a:t>
                      </a:r>
                    </a:p>
                  </a:txBody>
                  <a:tcPr marL="91440" marR="91440" marT="45720" marB="45720">
                    <a:solidFill>
                      <a:srgbClr val="0B2133"/>
                    </a:solidFill>
                  </a:tcPr>
                </a:tc>
                <a:tc>
                  <a:txBody>
                    <a:bodyPr/>
                    <a:lstStyle/>
                    <a:p>
                      <a:r>
                        <a:rPr sz="1575" b="1">
                          <a:solidFill>
                            <a:srgbClr val="FFFFFF"/>
                          </a:solidFill>
                          <a:latin typeface="Arial"/>
                          <a:ea typeface="Arial"/>
                          <a:cs typeface="Arial"/>
                        </a:rPr>
                        <a:t>Functional purpose</a:t>
                      </a:r>
                    </a:p>
                  </a:txBody>
                  <a:tcPr marL="91440" marR="91440" marT="45720" marB="45720">
                    <a:solidFill>
                      <a:srgbClr val="0B2133"/>
                    </a:solidFill>
                  </a:tcPr>
                </a:tc>
              </a:tr>
              <a:tr h="779145">
                <a:tc>
                  <a:txBody>
                    <a:bodyPr/>
                    <a:lstStyle/>
                    <a:p>
                      <a:r>
                        <a:rPr sz="1575" b="0">
                          <a:solidFill>
                            <a:srgbClr val="20313E"/>
                          </a:solidFill>
                          <a:latin typeface="Arial"/>
                          <a:ea typeface="Arial"/>
                          <a:cs typeface="Arial"/>
                        </a:rPr>
                        <a:t>Migration and registry</a:t>
                      </a:r>
                    </a:p>
                  </a:txBody>
                  <a:tcPr marL="91440" marR="91440" marT="45720" marB="45720">
                    <a:solidFill>
                      <a:srgbClr val="FFFFFF"/>
                    </a:solidFill>
                  </a:tcPr>
                </a:tc>
                <a:tc>
                  <a:txBody>
                    <a:bodyPr/>
                    <a:lstStyle/>
                    <a:p>
                      <a:r>
                        <a:rPr sz="1575" b="0">
                          <a:solidFill>
                            <a:srgbClr val="20313E"/>
                          </a:solidFill>
                          <a:latin typeface="Arial"/>
                          <a:ea typeface="Arial"/>
                          <a:cs typeface="Arial"/>
                        </a:rPr>
                        <a:t>depo_schema_migrations</a:t>
                      </a:r>
                    </a:p>
                    <a:p>
                      <a:r>
                        <a:rPr sz="1575" b="0">
                          <a:solidFill>
                            <a:srgbClr val="20313E"/>
                          </a:solidFill>
                          <a:latin typeface="Arial"/>
                          <a:ea typeface="Arial"/>
                          <a:cs typeface="Arial"/>
                        </a:rPr>
                        <a:t>depo_registry</a:t>
                      </a:r>
                    </a:p>
                  </a:txBody>
                  <a:tcPr marL="91440" marR="91440" marT="45720" marB="45720">
                    <a:solidFill>
                      <a:srgbClr val="FFFFFF"/>
                    </a:solidFill>
                  </a:tcPr>
                </a:tc>
                <a:tc>
                  <a:txBody>
                    <a:bodyPr/>
                    <a:lstStyle/>
                    <a:p>
                      <a:r>
                        <a:rPr sz="1575" b="0">
                          <a:solidFill>
                            <a:srgbClr val="20313E"/>
                          </a:solidFill>
                          <a:latin typeface="Arial"/>
                          <a:ea typeface="Arial"/>
                          <a:cs typeface="Arial"/>
                        </a:rPr>
                        <a:t>Record release versions and control-plane documents</a:t>
                      </a:r>
                    </a:p>
                  </a:txBody>
                  <a:tcPr marL="91440" marR="91440" marT="45720" marB="45720">
                    <a:solidFill>
                      <a:srgbClr val="FFFFFF"/>
                    </a:solidFill>
                  </a:tcPr>
                </a:tc>
              </a:tr>
              <a:tr h="779145">
                <a:tc>
                  <a:txBody>
                    <a:bodyPr/>
                    <a:lstStyle/>
                    <a:p>
                      <a:r>
                        <a:rPr sz="1575" b="0">
                          <a:solidFill>
                            <a:srgbClr val="20313E"/>
                          </a:solidFill>
                          <a:latin typeface="Arial"/>
                          <a:ea typeface="Arial"/>
                          <a:cs typeface="Arial"/>
                        </a:rPr>
                        <a:t>Runtime and chat</a:t>
                      </a:r>
                    </a:p>
                  </a:txBody>
                  <a:tcPr marL="91440" marR="91440" marT="45720" marB="45720">
                    <a:solidFill>
                      <a:srgbClr val="DFF0F5"/>
                    </a:solidFill>
                  </a:tcPr>
                </a:tc>
                <a:tc>
                  <a:txBody>
                    <a:bodyPr/>
                    <a:lstStyle/>
                    <a:p>
                      <a:r>
                        <a:rPr sz="1575" b="0">
                          <a:solidFill>
                            <a:srgbClr val="20313E"/>
                          </a:solidFill>
                          <a:latin typeface="Arial"/>
                          <a:ea typeface="Arial"/>
                          <a:cs typeface="Arial"/>
                        </a:rPr>
                        <a:t>depo_runtime_state</a:t>
                      </a:r>
                    </a:p>
                    <a:p>
                      <a:r>
                        <a:rPr sz="1575" b="0">
                          <a:solidFill>
                            <a:srgbClr val="20313E"/>
                          </a:solidFill>
                          <a:latin typeface="Arial"/>
                          <a:ea typeface="Arial"/>
                          <a:cs typeface="Arial"/>
                        </a:rPr>
                        <a:t>depo_chat_messages</a:t>
                      </a:r>
                    </a:p>
                    <a:p>
                      <a:r>
                        <a:rPr sz="1575" b="0">
                          <a:solidFill>
                            <a:srgbClr val="20313E"/>
                          </a:solidFill>
                          <a:latin typeface="Arial"/>
                          <a:ea typeface="Arial"/>
                          <a:cs typeface="Arial"/>
                        </a:rPr>
                        <a:t>depo_rate_limits</a:t>
                      </a:r>
                    </a:p>
                  </a:txBody>
                  <a:tcPr marL="91440" marR="91440" marT="45720" marB="45720">
                    <a:solidFill>
                      <a:srgbClr val="DFF0F5"/>
                    </a:solidFill>
                  </a:tcPr>
                </a:tc>
                <a:tc>
                  <a:txBody>
                    <a:bodyPr/>
                    <a:lstStyle/>
                    <a:p>
                      <a:r>
                        <a:rPr sz="1575" b="0">
                          <a:solidFill>
                            <a:srgbClr val="20313E"/>
                          </a:solidFill>
                          <a:latin typeface="Arial"/>
                          <a:ea typeface="Arial"/>
                          <a:cs typeface="Arial"/>
                        </a:rPr>
                        <a:t>Keep workflow state, conversation history and rate records</a:t>
                      </a:r>
                    </a:p>
                  </a:txBody>
                  <a:tcPr marL="91440" marR="91440" marT="45720" marB="45720">
                    <a:solidFill>
                      <a:srgbClr val="DFF0F5"/>
                    </a:solidFill>
                  </a:tcPr>
                </a:tc>
              </a:tr>
              <a:tr h="779145">
                <a:tc>
                  <a:txBody>
                    <a:bodyPr/>
                    <a:lstStyle/>
                    <a:p>
                      <a:r>
                        <a:rPr sz="1575" b="0">
                          <a:solidFill>
                            <a:srgbClr val="20313E"/>
                          </a:solidFill>
                          <a:latin typeface="Arial"/>
                          <a:ea typeface="Arial"/>
                          <a:cs typeface="Arial"/>
                        </a:rPr>
                        <a:t>Governance history</a:t>
                      </a:r>
                    </a:p>
                  </a:txBody>
                  <a:tcPr marL="91440" marR="91440" marT="45720" marB="45720">
                    <a:solidFill>
                      <a:srgbClr val="FFFFFF"/>
                    </a:solidFill>
                  </a:tcPr>
                </a:tc>
                <a:tc>
                  <a:txBody>
                    <a:bodyPr/>
                    <a:lstStyle/>
                    <a:p>
                      <a:r>
                        <a:rPr sz="1575" b="0">
                          <a:solidFill>
                            <a:srgbClr val="20313E"/>
                          </a:solidFill>
                          <a:latin typeface="Arial"/>
                          <a:ea typeface="Arial"/>
                          <a:cs typeface="Arial"/>
                        </a:rPr>
                        <a:t>depo_metadata_assets</a:t>
                      </a:r>
                    </a:p>
                    <a:p>
                      <a:r>
                        <a:rPr sz="1575" b="0">
                          <a:solidFill>
                            <a:srgbClr val="20313E"/>
                          </a:solidFill>
                          <a:latin typeface="Arial"/>
                          <a:ea typeface="Arial"/>
                          <a:cs typeface="Arial"/>
                        </a:rPr>
                        <a:t>depo_metadata_events</a:t>
                      </a:r>
                    </a:p>
                    <a:p>
                      <a:r>
                        <a:rPr sz="1575" b="0">
                          <a:solidFill>
                            <a:srgbClr val="20313E"/>
                          </a:solidFill>
                          <a:latin typeface="Arial"/>
                          <a:ea typeface="Arial"/>
                          <a:cs typeface="Arial"/>
                        </a:rPr>
                        <a:t>depo_metadata_outbox</a:t>
                      </a:r>
                    </a:p>
                  </a:txBody>
                  <a:tcPr marL="91440" marR="91440" marT="45720" marB="45720">
                    <a:solidFill>
                      <a:srgbClr val="FFFFFF"/>
                    </a:solidFill>
                  </a:tcPr>
                </a:tc>
                <a:tc>
                  <a:txBody>
                    <a:bodyPr/>
                    <a:lstStyle/>
                    <a:p>
                      <a:r>
                        <a:rPr sz="1575" b="0">
                          <a:solidFill>
                            <a:srgbClr val="20313E"/>
                          </a:solidFill>
                          <a:latin typeface="Arial"/>
                          <a:ea typeface="Arial"/>
                          <a:cs typeface="Arial"/>
                        </a:rPr>
                        <a:t>Record semantic assets, revisions and pending events</a:t>
                      </a:r>
                    </a:p>
                  </a:txBody>
                  <a:tcPr marL="91440" marR="91440" marT="45720" marB="45720">
                    <a:solidFill>
                      <a:srgbClr val="FFFFFF"/>
                    </a:solidFill>
                  </a:tcPr>
                </a:tc>
              </a:tr>
              <a:tr h="779145">
                <a:tc>
                  <a:txBody>
                    <a:bodyPr/>
                    <a:lstStyle/>
                    <a:p>
                      <a:r>
                        <a:rPr sz="1575" b="0">
                          <a:solidFill>
                            <a:srgbClr val="20313E"/>
                          </a:solidFill>
                          <a:latin typeface="Arial"/>
                          <a:ea typeface="Arial"/>
                          <a:cs typeface="Arial"/>
                        </a:rPr>
                        <a:t>Analytics projection</a:t>
                      </a:r>
                    </a:p>
                  </a:txBody>
                  <a:tcPr marL="91440" marR="91440" marT="45720" marB="45720">
                    <a:solidFill>
                      <a:srgbClr val="DFF0F5"/>
                    </a:solidFill>
                  </a:tcPr>
                </a:tc>
                <a:tc>
                  <a:txBody>
                    <a:bodyPr/>
                    <a:lstStyle/>
                    <a:p>
                      <a:r>
                        <a:rPr sz="1575" b="0">
                          <a:solidFill>
                            <a:srgbClr val="20313E"/>
                          </a:solidFill>
                          <a:latin typeface="Arial"/>
                          <a:ea typeface="Arial"/>
                          <a:cs typeface="Arial"/>
                        </a:rPr>
                        <a:t>depo_ontology_analytics (view)</a:t>
                      </a:r>
                    </a:p>
                  </a:txBody>
                  <a:tcPr marL="91440" marR="91440" marT="45720" marB="45720">
                    <a:solidFill>
                      <a:srgbClr val="DFF0F5"/>
                    </a:solidFill>
                  </a:tcPr>
                </a:tc>
                <a:tc>
                  <a:txBody>
                    <a:bodyPr/>
                    <a:lstStyle/>
                    <a:p>
                      <a:r>
                        <a:rPr sz="1575" b="0">
                          <a:solidFill>
                            <a:srgbClr val="20313E"/>
                          </a:solidFill>
                          <a:latin typeface="Arial"/>
                          <a:ea typeface="Arial"/>
                          <a:cs typeface="Arial"/>
                        </a:rPr>
                        <a:t>Expose selected ontology statistics from registry JSON</a:t>
                      </a:r>
                    </a:p>
                  </a:txBody>
                  <a:tcPr marL="91440" marR="91440" marT="45720" marB="45720">
                    <a:solidFill>
                      <a:srgbClr val="DFF0F5"/>
                    </a:solidFill>
                  </a:tcPr>
                </a:tc>
              </a:tr>
            </a:tbl>
          </a:graphicData>
        </a:graphic>
      </p:graphicFrame>
      <p:sp>
        <p:nvSpPr>
          <p:cNvPr id="6" name="InitializeDatabase applies migrations. CheckOnly verifies columns/type">
            <a:extLst xmlns:a="http://schemas.openxmlformats.org/drawingml/2006/main">
              <a:ext uri="{FF2B5EF4-FFF2-40B4-BE49-F238E27FC236}">
                <a16:creationId xmlns:a16="http://schemas.microsoft.com/office/drawing/2014/main" id="{D06F4217-375A-4F80-998F-36A10B847C06}"/>
              </a:ext>
            </a:extLst>
          </p:cNvPr>
          <p:cNvSpPr>
            <a:spLocks xmlns:a="http://schemas.openxmlformats.org/drawingml/2006/main" noGrp="1"/>
          </p:cNvSpPr>
          <p:nvPr/>
        </p:nvSpPr>
        <p:spPr>
          <a:xfrm xmlns:a="http://schemas.openxmlformats.org/drawingml/2006/main">
            <a:off x="571500" y="58959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526779"/>
                </a:solidFill>
                <a:latin typeface="Arial"/>
                <a:ea typeface="Arial"/>
                <a:cs typeface="Arial"/>
              </a:defRPr>
            </a:pPr>
            <a:r>
              <a:rPr sz="1575" b="0">
                <a:solidFill>
                  <a:srgbClr val="526779"/>
                </a:solidFill>
                <a:latin typeface="Arial"/>
                <a:ea typeface="Arial"/>
                <a:cs typeface="Arial"/>
              </a:rPr>
              <a:t>InitializeDatabase applies migrations. CheckOnly verifies columns/types and migration history without DDL. Constraints and privileges require DBA acceptance.</a:t>
            </a:r>
          </a:p>
        </p:txBody>
      </p:sp>
    </p:spTree>
    <p:extLst>
      <p:ext uri="{BB962C8B-B14F-4D97-AF65-F5344CB8AC3E}">
        <p14:creationId xmlns:p14="http://schemas.microsoft.com/office/powerpoint/2010/main" val="502599453"/>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API-key authentication and trust boundaries">
            <a:extLst xmlns:a="http://schemas.openxmlformats.org/drawingml/2006/main">
              <a:ext uri="{FF2B5EF4-FFF2-40B4-BE49-F238E27FC236}">
                <a16:creationId xmlns:a16="http://schemas.microsoft.com/office/drawing/2014/main" id="{43BF1939-D5D4-4EA4-9393-4725FFC66CAF}"/>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API-key authentication and trust boundaries</a:t>
            </a:r>
          </a:p>
        </p:txBody>
      </p:sp>
      <p:sp>
        <p:nvSpPr>
          <p:cNvPr id="2" name="This delivery uses AUTH_MODE=token. Entra and GitHub Actions are not i">
            <a:extLst xmlns:a="http://schemas.openxmlformats.org/drawingml/2006/main">
              <a:ext uri="{FF2B5EF4-FFF2-40B4-BE49-F238E27FC236}">
                <a16:creationId xmlns:a16="http://schemas.microsoft.com/office/drawing/2014/main" id="{2E5955EF-A8A3-4702-AA93-50E6D07B3C0C}"/>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This delivery uses AUTH_MODE=token. Entra and GitHub Actions are not installation requirements.</a:t>
            </a:r>
          </a:p>
        </p:txBody>
      </p:sp>
      <p:sp>
        <p:nvSpPr>
          <p:cNvPr id="3" name="DEPO  /  Functional architecture">
            <a:extLst xmlns:a="http://schemas.openxmlformats.org/drawingml/2006/main">
              <a:ext uri="{FF2B5EF4-FFF2-40B4-BE49-F238E27FC236}">
                <a16:creationId xmlns:a16="http://schemas.microsoft.com/office/drawing/2014/main" id="{DEAA5A3D-D630-485D-B449-671571120C34}"/>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7">
            <a:extLst xmlns:a="http://schemas.openxmlformats.org/drawingml/2006/main">
              <a:ext uri="{FF2B5EF4-FFF2-40B4-BE49-F238E27FC236}">
                <a16:creationId xmlns:a16="http://schemas.microsoft.com/office/drawing/2014/main" id="{EE33492C-F7FA-4E23-8D0B-B94C819E69BC}"/>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17</a:t>
            </a:r>
          </a:p>
        </p:txBody>
      </p:sp>
      <p:sp>
        <p:nvSpPr>
          <p:cNvPr id="5" name="User access">
            <a:extLst xmlns:a="http://schemas.openxmlformats.org/drawingml/2006/main">
              <a:ext uri="{FF2B5EF4-FFF2-40B4-BE49-F238E27FC236}">
                <a16:creationId xmlns:a16="http://schemas.microsoft.com/office/drawing/2014/main" id="{338079B4-8D7E-4D5B-96F9-8BDBA7123B83}"/>
              </a:ext>
            </a:extLst>
          </p:cNvPr>
          <p:cNvSpPr>
            <a:spLocks xmlns:a="http://schemas.openxmlformats.org/drawingml/2006/main" noGrp="1"/>
          </p:cNvSpPr>
          <p:nvPr/>
        </p:nvSpPr>
        <p:spPr>
          <a:xfrm xmlns:a="http://schemas.openxmlformats.org/drawingml/2006/main">
            <a:off x="571500" y="2095500"/>
            <a:ext cx="3454400" cy="1571625"/>
          </a:xfrm>
          <a:prstGeom xmlns:a="http://schemas.openxmlformats.org/drawingml/2006/main" prst="rect">
            <a:avLst/>
          </a:prstGeom>
          <a:solidFill xmlns:a="http://schemas.openxmlformats.org/drawingml/2006/main">
            <a:srgbClr val="FFFFFF"/>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User access</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Admin establishes browser sessions; scoped keys govern reads and writes</a:t>
            </a:r>
          </a:p>
        </p:txBody>
      </p:sp>
      <p:sp>
        <p:nvSpPr>
          <p:cNvPr id="6" name="Approval">
            <a:extLst xmlns:a="http://schemas.openxmlformats.org/drawingml/2006/main">
              <a:ext uri="{FF2B5EF4-FFF2-40B4-BE49-F238E27FC236}">
                <a16:creationId xmlns:a16="http://schemas.microsoft.com/office/drawing/2014/main" id="{4289E52E-FADB-4F28-A6B4-BDD1D79C662C}"/>
              </a:ext>
            </a:extLst>
          </p:cNvPr>
          <p:cNvSpPr>
            <a:spLocks xmlns:a="http://schemas.openxmlformats.org/drawingml/2006/main" noGrp="1"/>
          </p:cNvSpPr>
          <p:nvPr/>
        </p:nvSpPr>
        <p:spPr>
          <a:xfrm xmlns:a="http://schemas.openxmlformats.org/drawingml/2006/main">
            <a:off x="4368800" y="2095500"/>
            <a:ext cx="3454400" cy="1571625"/>
          </a:xfrm>
          <a:prstGeom xmlns:a="http://schemas.openxmlformats.org/drawingml/2006/main" prst="rect">
            <a:avLst/>
          </a:prstGeom>
          <a:solidFill xmlns:a="http://schemas.openxmlformats.org/drawingml/2006/main">
            <a:srgbClr val="DFF0F5"/>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Approval</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Operation key plus approver identity</a:t>
            </a:r>
          </a:p>
        </p:txBody>
      </p:sp>
      <p:sp>
        <p:nvSpPr>
          <p:cNvPr id="7" name="Service call">
            <a:extLst xmlns:a="http://schemas.openxmlformats.org/drawingml/2006/main">
              <a:ext uri="{FF2B5EF4-FFF2-40B4-BE49-F238E27FC236}">
                <a16:creationId xmlns:a16="http://schemas.microsoft.com/office/drawing/2014/main" id="{41FBC5B4-8939-47F0-B688-7196AC2F43F7}"/>
              </a:ext>
            </a:extLst>
          </p:cNvPr>
          <p:cNvSpPr>
            <a:spLocks xmlns:a="http://schemas.openxmlformats.org/drawingml/2006/main" noGrp="1"/>
          </p:cNvSpPr>
          <p:nvPr/>
        </p:nvSpPr>
        <p:spPr>
          <a:xfrm xmlns:a="http://schemas.openxmlformats.org/drawingml/2006/main">
            <a:off x="8166100" y="2095500"/>
            <a:ext cx="3454400" cy="1571625"/>
          </a:xfrm>
          <a:prstGeom xmlns:a="http://schemas.openxmlformats.org/drawingml/2006/main" prst="rect">
            <a:avLst/>
          </a:prstGeom>
          <a:solidFill xmlns:a="http://schemas.openxmlformats.org/drawingml/2006/main">
            <a:srgbClr val="E1F2E9"/>
          </a:solidFill>
          <a:ln xmlns:a="http://schemas.openxmlformats.org/drawingml/2006/main" w="13335">
            <a:solidFill>
              <a:srgbClr val="B9CCD5"/>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spcAft>
                <a:spcPts val="800"/>
              </a:spcAft>
              <a:buNone/>
              <a:defRPr sz="1575">
                <a:solidFill>
                  <a:srgbClr val="20313E"/>
                </a:solidFill>
                <a:latin typeface="Arial"/>
                <a:ea typeface="Arial"/>
                <a:cs typeface="Arial"/>
              </a:defRPr>
            </a:pPr>
            <a:r>
              <a:rPr sz="1575" b="1">
                <a:solidFill>
                  <a:srgbClr val="20313E"/>
                </a:solidFill>
                <a:latin typeface="Arial"/>
                <a:ea typeface="Arial"/>
                <a:cs typeface="Arial"/>
              </a:rPr>
              <a:t>Service call</a:t>
            </a:r>
          </a:p>
          <a:p xmlns:a="http://schemas.openxmlformats.org/drawingml/2006/main">
            <a:pPr>
              <a:buNone/>
              <a:defRPr sz="1575">
                <a:solidFill>
                  <a:srgbClr val="20313E"/>
                </a:solidFill>
                <a:latin typeface="Arial"/>
                <a:ea typeface="Arial"/>
                <a:cs typeface="Arial"/>
              </a:defRPr>
            </a:pPr>
            <a:r>
              <a:rPr sz="1575">
                <a:solidFill>
                  <a:srgbClr val="20313E"/>
                </a:solidFill>
                <a:latin typeface="Arial"/>
                <a:ea typeface="Arial"/>
                <a:cs typeface="Arial"/>
              </a:rPr>
              <a:t>Private publication credential stays on the server</a:t>
            </a:r>
          </a:p>
        </p:txBody>
      </p:sp>
      <p:cxnSp>
        <p:nvCxnSpPr>
          <p:cNvPr id="48" name=""/>
          <p:cNvCxnSpPr>
            <a:stCxn xmlns:a="http://schemas.openxmlformats.org/drawingml/2006/main" id="5" idx="3"/>
            <a:endCxn xmlns:a="http://schemas.openxmlformats.org/drawingml/2006/main" id="6" idx="1"/>
          </p:cNvCxnSpPr>
          <p:nvPr/>
        </p:nvCxnSpPr>
        <p:spPr>
          <a:xfrm xmlns:a="http://schemas.openxmlformats.org/drawingml/2006/main">
            <a:off x="4025900"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cxnSp>
        <p:nvCxnSpPr>
          <p:cNvPr id="49" name=""/>
          <p:cNvCxnSpPr>
            <a:stCxn xmlns:a="http://schemas.openxmlformats.org/drawingml/2006/main" id="6" idx="3"/>
            <a:endCxn xmlns:a="http://schemas.openxmlformats.org/drawingml/2006/main" id="7" idx="1"/>
          </p:cNvCxnSpPr>
          <p:nvPr/>
        </p:nvCxnSpPr>
        <p:spPr>
          <a:xfrm xmlns:a="http://schemas.openxmlformats.org/drawingml/2006/main">
            <a:off x="7823200" y="2881313"/>
            <a:ext cx="342900" cy="0"/>
          </a:xfrm>
          <a:prstGeom xmlns:a="http://schemas.openxmlformats.org/drawingml/2006/main" prst="straightConnector1">
            <a:avLst/>
          </a:prstGeom>
          <a:ln xmlns:a="http://schemas.openxmlformats.org/drawingml/2006/main" w="23813">
            <a:solidFill>
              <a:srgbClr val="007F8B"/>
            </a:solidFill>
            <a:headEnd type="triangle" w="sm" len="sm"/>
          </a:ln>
        </p:spPr>
      </p:cxnSp>
      <p:sp>
        <p:nvSpPr>
          <p:cNvPr id="10" name="Configuration">
            <a:extLst xmlns:a="http://schemas.openxmlformats.org/drawingml/2006/main">
              <a:ext uri="{FF2B5EF4-FFF2-40B4-BE49-F238E27FC236}">
                <a16:creationId xmlns:a16="http://schemas.microsoft.com/office/drawing/2014/main" id="{1E091FE4-0CC4-4167-8EE9-974AA7C6A06B}"/>
              </a:ext>
            </a:extLst>
          </p:cNvPr>
          <p:cNvSpPr>
            <a:spLocks xmlns:a="http://schemas.openxmlformats.org/drawingml/2006/main" noGrp="1"/>
          </p:cNvSpPr>
          <p:nvPr/>
        </p:nvSpPr>
        <p:spPr>
          <a:xfrm xmlns:a="http://schemas.openxmlformats.org/drawingml/2006/main">
            <a:off x="571500" y="41910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Configuration</a:t>
            </a:r>
          </a:p>
        </p:txBody>
      </p:sp>
      <p:sp>
        <p:nvSpPr>
          <p:cNvPr id="11" name="One root server env. No duplicate keys. VITE settings contain only pub">
            <a:extLst xmlns:a="http://schemas.openxmlformats.org/drawingml/2006/main">
              <a:ext uri="{FF2B5EF4-FFF2-40B4-BE49-F238E27FC236}">
                <a16:creationId xmlns:a16="http://schemas.microsoft.com/office/drawing/2014/main" id="{B0081D02-0577-41EB-8418-D4BCECB1DA67}"/>
              </a:ext>
            </a:extLst>
          </p:cNvPr>
          <p:cNvSpPr>
            <a:spLocks xmlns:a="http://schemas.openxmlformats.org/drawingml/2006/main" noGrp="1"/>
          </p:cNvSpPr>
          <p:nvPr/>
        </p:nvSpPr>
        <p:spPr>
          <a:xfrm xmlns:a="http://schemas.openxmlformats.org/drawingml/2006/main">
            <a:off x="571500" y="4648200"/>
            <a:ext cx="519112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Root .env.local supplies server settings. Browser configuration contains public URLs; never server secrets.</a:t>
            </a:r>
          </a:p>
        </p:txBody>
      </p:sp>
      <p:sp>
        <p:nvSpPr>
          <p:cNvPr id="12" name="Customer controls">
            <a:extLst xmlns:a="http://schemas.openxmlformats.org/drawingml/2006/main">
              <a:ext uri="{FF2B5EF4-FFF2-40B4-BE49-F238E27FC236}">
                <a16:creationId xmlns:a16="http://schemas.microsoft.com/office/drawing/2014/main" id="{0FDC77E8-57A5-42BE-B652-9FCF2E7C308D}"/>
              </a:ext>
            </a:extLst>
          </p:cNvPr>
          <p:cNvSpPr>
            <a:spLocks xmlns:a="http://schemas.openxmlformats.org/drawingml/2006/main" noGrp="1"/>
          </p:cNvSpPr>
          <p:nvPr/>
        </p:nvSpPr>
        <p:spPr>
          <a:xfrm xmlns:a="http://schemas.openxmlformats.org/drawingml/2006/main">
            <a:off x="6096000" y="41910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Customer controls</a:t>
            </a:r>
          </a:p>
        </p:txBody>
      </p:sp>
      <p:sp>
        <p:nvSpPr>
          <p:cNvPr id="13" name="HTTPS ingress, distinct strong keys, protected secret storage, rotatio">
            <a:extLst xmlns:a="http://schemas.openxmlformats.org/drawingml/2006/main">
              <a:ext uri="{FF2B5EF4-FFF2-40B4-BE49-F238E27FC236}">
                <a16:creationId xmlns:a16="http://schemas.microsoft.com/office/drawing/2014/main" id="{51DD0F24-9AE1-4249-9D77-78F3856FA8DB}"/>
              </a:ext>
            </a:extLst>
          </p:cNvPr>
          <p:cNvSpPr>
            <a:spLocks xmlns:a="http://schemas.openxmlformats.org/drawingml/2006/main" noGrp="1"/>
          </p:cNvSpPr>
          <p:nvPr/>
        </p:nvSpPr>
        <p:spPr>
          <a:xfrm xmlns:a="http://schemas.openxmlformats.org/drawingml/2006/main">
            <a:off x="6096000" y="4648200"/>
            <a:ext cx="519112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HTTPS ingress, distinct strong keys, protected secret storage, rotation and database network restrictions.</a:t>
            </a:r>
          </a:p>
        </p:txBody>
      </p:sp>
    </p:spTree>
    <p:extLst>
      <p:ext uri="{BB962C8B-B14F-4D97-AF65-F5344CB8AC3E}">
        <p14:creationId xmlns:p14="http://schemas.microsoft.com/office/powerpoint/2010/main" val="801105042"/>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Customer release acceptance">
            <a:extLst xmlns:a="http://schemas.openxmlformats.org/drawingml/2006/main">
              <a:ext uri="{FF2B5EF4-FFF2-40B4-BE49-F238E27FC236}">
                <a16:creationId xmlns:a16="http://schemas.microsoft.com/office/drawing/2014/main" id="{19147DA4-C403-4509-8E79-E1177B22C5AE}"/>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Customer release acceptance</a:t>
            </a:r>
          </a:p>
        </p:txBody>
      </p:sp>
      <p:sp>
        <p:nvSpPr>
          <p:cNvPr id="2" name="Repository checks support deployment. Target-environment evidence dete">
            <a:extLst xmlns:a="http://schemas.openxmlformats.org/drawingml/2006/main">
              <a:ext uri="{FF2B5EF4-FFF2-40B4-BE49-F238E27FC236}">
                <a16:creationId xmlns:a16="http://schemas.microsoft.com/office/drawing/2014/main" id="{0B7EA527-9D95-4C13-8881-60AD2024958A}"/>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Repository checks support deployment. Target-environment evidence determines release readiness.</a:t>
            </a:r>
          </a:p>
        </p:txBody>
      </p:sp>
      <p:sp>
        <p:nvSpPr>
          <p:cNvPr id="3" name="DEPO  /  Functional architecture">
            <a:extLst xmlns:a="http://schemas.openxmlformats.org/drawingml/2006/main">
              <a:ext uri="{FF2B5EF4-FFF2-40B4-BE49-F238E27FC236}">
                <a16:creationId xmlns:a16="http://schemas.microsoft.com/office/drawing/2014/main" id="{9657DB7B-E2D3-48F0-9243-5A40B97AE1F4}"/>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8">
            <a:extLst xmlns:a="http://schemas.openxmlformats.org/drawingml/2006/main">
              <a:ext uri="{FF2B5EF4-FFF2-40B4-BE49-F238E27FC236}">
                <a16:creationId xmlns:a16="http://schemas.microsoft.com/office/drawing/2014/main" id="{89A8F5EC-8C28-4917-B6AB-7988D963E60C}"/>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18</a:t>
            </a:r>
          </a:p>
        </p:txBody>
      </p:sp>
      <p:graphicFrame>
        <p:nvGraphicFramePr>
          <p:cNvPr id="13" name=""/>
          <p:cNvGraphicFramePr/>
          <p:nvPr/>
        </p:nvGraphicFramePr>
        <p:xfrm>
          <a:off xmlns:a="http://schemas.openxmlformats.org/drawingml/2006/main" x="571500" y="1885950"/>
          <a:ext xmlns:a="http://schemas.openxmlformats.org/drawingml/2006/main" cx="11049000" cy="3914775"/>
        </p:xfrm>
        <a:graphic xmlns:a="http://schemas.openxmlformats.org/drawingml/2006/main">
          <a:graphicData uri="http://schemas.openxmlformats.org/drawingml/2006/table">
            <a:tbl>
              <a:tblPr/>
              <a:tblGrid>
                <a:gridCol w="2952750"/>
                <a:gridCol w="8096250"/>
              </a:tblGrid>
              <a:tr h="652463">
                <a:tc>
                  <a:txBody>
                    <a:bodyPr/>
                    <a:lstStyle/>
                    <a:p>
                      <a:r>
                        <a:rPr sz="1725" b="1">
                          <a:solidFill>
                            <a:srgbClr val="FFFFFF"/>
                          </a:solidFill>
                          <a:latin typeface="Arial"/>
                          <a:ea typeface="Arial"/>
                          <a:cs typeface="Arial"/>
                        </a:rPr>
                        <a:t>Acceptance area</a:t>
                      </a:r>
                    </a:p>
                  </a:txBody>
                  <a:tcPr marL="91440" marR="91440" marT="45720" marB="45720">
                    <a:solidFill>
                      <a:srgbClr val="0B2133"/>
                    </a:solidFill>
                  </a:tcPr>
                </a:tc>
                <a:tc>
                  <a:txBody>
                    <a:bodyPr/>
                    <a:lstStyle/>
                    <a:p>
                      <a:r>
                        <a:rPr sz="1725" b="1">
                          <a:solidFill>
                            <a:srgbClr val="FFFFFF"/>
                          </a:solidFill>
                          <a:latin typeface="Arial"/>
                          <a:ea typeface="Arial"/>
                          <a:cs typeface="Arial"/>
                        </a:rPr>
                        <a:t>Required evidence</a:t>
                      </a:r>
                    </a:p>
                  </a:txBody>
                  <a:tcPr marL="91440" marR="91440" marT="45720" marB="45720">
                    <a:solidFill>
                      <a:srgbClr val="0B2133"/>
                    </a:solidFill>
                  </a:tcPr>
                </a:tc>
              </a:tr>
              <a:tr h="652463">
                <a:tc>
                  <a:txBody>
                    <a:bodyPr/>
                    <a:lstStyle/>
                    <a:p>
                      <a:r>
                        <a:rPr sz="1725" b="0">
                          <a:solidFill>
                            <a:srgbClr val="20313E"/>
                          </a:solidFill>
                          <a:latin typeface="Arial"/>
                          <a:ea typeface="Arial"/>
                          <a:cs typeface="Arial"/>
                        </a:rPr>
                        <a:t>Installation</a:t>
                      </a:r>
                    </a:p>
                  </a:txBody>
                  <a:tcPr marL="91440" marR="91440" marT="45720" marB="45720">
                    <a:solidFill>
                      <a:srgbClr val="FFFFFF"/>
                    </a:solidFill>
                  </a:tcPr>
                </a:tc>
                <a:tc>
                  <a:txBody>
                    <a:bodyPr/>
                    <a:lstStyle/>
                    <a:p>
                      <a:r>
                        <a:rPr sz="1725" b="0">
                          <a:solidFill>
                            <a:srgbClr val="20313E"/>
                          </a:solidFill>
                          <a:latin typeface="Arial"/>
                          <a:ea typeface="Arial"/>
                          <a:cs typeface="Arial"/>
                        </a:rPr>
                        <a:t>Approved runtime inventory, dependency resolution and frontend build</a:t>
                      </a:r>
                    </a:p>
                  </a:txBody>
                  <a:tcPr marL="91440" marR="91440" marT="45720" marB="45720">
                    <a:solidFill>
                      <a:srgbClr val="FFFFFF"/>
                    </a:solidFill>
                  </a:tcPr>
                </a:tc>
              </a:tr>
              <a:tr h="652463">
                <a:tc>
                  <a:txBody>
                    <a:bodyPr/>
                    <a:lstStyle/>
                    <a:p>
                      <a:r>
                        <a:rPr sz="1725" b="0">
                          <a:solidFill>
                            <a:srgbClr val="20313E"/>
                          </a:solidFill>
                          <a:latin typeface="Arial"/>
                          <a:ea typeface="Arial"/>
                          <a:cs typeface="Arial"/>
                        </a:rPr>
                        <a:t>Data stores</a:t>
                      </a:r>
                    </a:p>
                  </a:txBody>
                  <a:tcPr marL="91440" marR="91440" marT="45720" marB="45720">
                    <a:solidFill>
                      <a:srgbClr val="DFF0F5"/>
                    </a:solidFill>
                  </a:tcPr>
                </a:tc>
                <a:tc>
                  <a:txBody>
                    <a:bodyPr/>
                    <a:lstStyle/>
                    <a:p>
                      <a:r>
                        <a:rPr sz="1725" b="0">
                          <a:solidFill>
                            <a:srgbClr val="20313E"/>
                          </a:solidFill>
                          <a:latin typeface="Arial"/>
                          <a:ea typeface="Arial"/>
                          <a:cs typeface="Arial"/>
                        </a:rPr>
                        <a:t>Schema verification, Neo4j read/write permissions and backup restore drill</a:t>
                      </a:r>
                    </a:p>
                  </a:txBody>
                  <a:tcPr marL="91440" marR="91440" marT="45720" marB="45720">
                    <a:solidFill>
                      <a:srgbClr val="DFF0F5"/>
                    </a:solidFill>
                  </a:tcPr>
                </a:tc>
              </a:tr>
              <a:tr h="652463">
                <a:tc>
                  <a:txBody>
                    <a:bodyPr/>
                    <a:lstStyle/>
                    <a:p>
                      <a:r>
                        <a:rPr sz="1725" b="0">
                          <a:solidFill>
                            <a:srgbClr val="20313E"/>
                          </a:solidFill>
                          <a:latin typeface="Arial"/>
                          <a:ea typeface="Arial"/>
                          <a:cs typeface="Arial"/>
                        </a:rPr>
                        <a:t>Optional Spark</a:t>
                      </a:r>
                    </a:p>
                  </a:txBody>
                  <a:tcPr marL="91440" marR="91440" marT="45720" marB="45720">
                    <a:solidFill>
                      <a:srgbClr val="FFFFFF"/>
                    </a:solidFill>
                  </a:tcPr>
                </a:tc>
                <a:tc>
                  <a:txBody>
                    <a:bodyPr/>
                    <a:lstStyle/>
                    <a:p>
                      <a:r>
                        <a:rPr sz="1725" b="0">
                          <a:solidFill>
                            <a:srgbClr val="20313E"/>
                          </a:solidFill>
                          <a:latin typeface="Arial"/>
                          <a:ea typeface="Arial"/>
                          <a:cs typeface="Arial"/>
                        </a:rPr>
                        <a:t>DataFrame smoke job and connector test when enabled</a:t>
                      </a:r>
                    </a:p>
                  </a:txBody>
                  <a:tcPr marL="91440" marR="91440" marT="45720" marB="45720">
                    <a:solidFill>
                      <a:srgbClr val="FFFFFF"/>
                    </a:solidFill>
                  </a:tcPr>
                </a:tc>
              </a:tr>
              <a:tr h="652463">
                <a:tc>
                  <a:txBody>
                    <a:bodyPr/>
                    <a:lstStyle/>
                    <a:p>
                      <a:r>
                        <a:rPr sz="1725" b="0">
                          <a:solidFill>
                            <a:srgbClr val="20313E"/>
                          </a:solidFill>
                          <a:latin typeface="Arial"/>
                          <a:ea typeface="Arial"/>
                          <a:cs typeface="Arial"/>
                        </a:rPr>
                        <a:t>Application</a:t>
                      </a:r>
                    </a:p>
                  </a:txBody>
                  <a:tcPr marL="91440" marR="91440" marT="45720" marB="45720">
                    <a:solidFill>
                      <a:srgbClr val="DFF0F5"/>
                    </a:solidFill>
                  </a:tcPr>
                </a:tc>
                <a:tc>
                  <a:txBody>
                    <a:bodyPr/>
                    <a:lstStyle/>
                    <a:p>
                      <a:r>
                        <a:rPr sz="1725" b="0">
                          <a:solidFill>
                            <a:srgbClr val="20313E"/>
                          </a:solidFill>
                          <a:latin typeface="Arial"/>
                          <a:ea typeface="Arial"/>
                          <a:cs typeface="Arial"/>
                        </a:rPr>
                        <a:t>Ten ready APIs, authorized browser workflow and rejected unauthorized actions</a:t>
                      </a:r>
                    </a:p>
                  </a:txBody>
                  <a:tcPr marL="91440" marR="91440" marT="45720" marB="45720">
                    <a:solidFill>
                      <a:srgbClr val="DFF0F5"/>
                    </a:solidFill>
                  </a:tcPr>
                </a:tc>
              </a:tr>
              <a:tr h="652463">
                <a:tc>
                  <a:txBody>
                    <a:bodyPr/>
                    <a:lstStyle/>
                    <a:p>
                      <a:r>
                        <a:rPr sz="1725" b="0">
                          <a:solidFill>
                            <a:srgbClr val="20313E"/>
                          </a:solidFill>
                          <a:latin typeface="Arial"/>
                          <a:ea typeface="Arial"/>
                          <a:cs typeface="Arial"/>
                        </a:rPr>
                        <a:t>Operations</a:t>
                      </a:r>
                    </a:p>
                  </a:txBody>
                  <a:tcPr marL="91440" marR="91440" marT="45720" marB="45720">
                    <a:solidFill>
                      <a:srgbClr val="FFFFFF"/>
                    </a:solidFill>
                  </a:tcPr>
                </a:tc>
                <a:tc>
                  <a:txBody>
                    <a:bodyPr/>
                    <a:lstStyle/>
                    <a:p>
                      <a:r>
                        <a:rPr sz="1725" b="0">
                          <a:solidFill>
                            <a:srgbClr val="20313E"/>
                          </a:solidFill>
                          <a:latin typeface="Arial"/>
                          <a:ea typeface="Arial"/>
                          <a:cs typeface="Arial"/>
                        </a:rPr>
                        <a:t>Process supervision, restart/reboot recovery, monitoring and rollback</a:t>
                      </a:r>
                    </a:p>
                  </a:txBody>
                  <a:tcPr marL="91440" marR="91440" marT="45720" marB="45720">
                    <a:solidFill>
                      <a:srgbClr val="FFFFFF"/>
                    </a:solidFill>
                  </a:tcPr>
                </a:tc>
              </a:tr>
            </a:tbl>
          </a:graphicData>
        </a:graphic>
      </p:graphicFrame>
      <p:sp>
        <p:nvSpPr>
          <p:cNvPr id="6" name="Open release gates include a certified pinned Python lock and live cus">
            <a:extLst xmlns:a="http://schemas.openxmlformats.org/drawingml/2006/main">
              <a:ext uri="{FF2B5EF4-FFF2-40B4-BE49-F238E27FC236}">
                <a16:creationId xmlns:a16="http://schemas.microsoft.com/office/drawing/2014/main" id="{A263187B-C26F-4DB4-8E17-A16DE71357D4}"/>
              </a:ext>
            </a:extLst>
          </p:cNvPr>
          <p:cNvSpPr>
            <a:spLocks xmlns:a="http://schemas.openxmlformats.org/drawingml/2006/main" noGrp="1"/>
          </p:cNvSpPr>
          <p:nvPr/>
        </p:nvSpPr>
        <p:spPr>
          <a:xfrm xmlns:a="http://schemas.openxmlformats.org/drawingml/2006/main">
            <a:off x="571500" y="59531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007F8B"/>
                </a:solidFill>
                <a:latin typeface="Arial"/>
                <a:ea typeface="Arial"/>
                <a:cs typeface="Arial"/>
              </a:defRPr>
            </a:pPr>
            <a:r>
              <a:rPr sz="1725" b="1">
                <a:solidFill>
                  <a:srgbClr val="007F8B"/>
                </a:solidFill>
                <a:latin typeface="Arial"/>
                <a:ea typeface="Arial"/>
                <a:cs typeface="Arial"/>
              </a:rPr>
              <a:t>Open release gates include a certified pinned Python lock and live customer installation/recovery tests.</a:t>
            </a:r>
          </a:p>
        </p:txBody>
      </p:sp>
    </p:spTree>
    <p:extLst>
      <p:ext uri="{BB962C8B-B14F-4D97-AF65-F5344CB8AC3E}">
        <p14:creationId xmlns:p14="http://schemas.microsoft.com/office/powerpoint/2010/main" val="941805588"/>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Implemented capabilities and bounded next work">
            <a:extLst xmlns:a="http://schemas.openxmlformats.org/drawingml/2006/main">
              <a:ext uri="{FF2B5EF4-FFF2-40B4-BE49-F238E27FC236}">
                <a16:creationId xmlns:a16="http://schemas.microsoft.com/office/drawing/2014/main" id="{E4E6FA89-C290-48EB-97C1-2DB27F33EC4E}"/>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Implemented capabilities and bounded next work</a:t>
            </a:r>
          </a:p>
        </p:txBody>
      </p:sp>
      <p:sp>
        <p:nvSpPr>
          <p:cNvPr id="2" name="Feature availability and production operation require separate evidenc">
            <a:extLst xmlns:a="http://schemas.openxmlformats.org/drawingml/2006/main">
              <a:ext uri="{FF2B5EF4-FFF2-40B4-BE49-F238E27FC236}">
                <a16:creationId xmlns:a16="http://schemas.microsoft.com/office/drawing/2014/main" id="{3B3BB356-F648-4108-95BC-34268ECD35A6}"/>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Feature availability and production operation require separate evidence.</a:t>
            </a:r>
          </a:p>
        </p:txBody>
      </p:sp>
      <p:sp>
        <p:nvSpPr>
          <p:cNvPr id="3" name="DEPO  /  Functional architecture">
            <a:extLst xmlns:a="http://schemas.openxmlformats.org/drawingml/2006/main">
              <a:ext uri="{FF2B5EF4-FFF2-40B4-BE49-F238E27FC236}">
                <a16:creationId xmlns:a16="http://schemas.microsoft.com/office/drawing/2014/main" id="{860699C8-4247-490E-972A-4A28C3B35E83}"/>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19">
            <a:extLst xmlns:a="http://schemas.openxmlformats.org/drawingml/2006/main">
              <a:ext uri="{FF2B5EF4-FFF2-40B4-BE49-F238E27FC236}">
                <a16:creationId xmlns:a16="http://schemas.microsoft.com/office/drawing/2014/main" id="{0C8F1224-AE4F-4AE2-8762-F4461488E2A1}"/>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19</a:t>
            </a:r>
          </a:p>
        </p:txBody>
      </p:sp>
      <p:sp>
        <p:nvSpPr>
          <p:cNvPr id="5" name="Implemented">
            <a:extLst xmlns:a="http://schemas.openxmlformats.org/drawingml/2006/main">
              <a:ext uri="{FF2B5EF4-FFF2-40B4-BE49-F238E27FC236}">
                <a16:creationId xmlns:a16="http://schemas.microsoft.com/office/drawing/2014/main" id="{719C774D-859C-4DC9-A5A8-8E989DA101B1}"/>
              </a:ext>
            </a:extLst>
          </p:cNvPr>
          <p:cNvSpPr>
            <a:spLocks xmlns:a="http://schemas.openxmlformats.org/drawingml/2006/main" noGrp="1"/>
          </p:cNvSpPr>
          <p:nvPr/>
        </p:nvSpPr>
        <p:spPr>
          <a:xfrm xmlns:a="http://schemas.openxmlformats.org/drawingml/2006/main">
            <a:off x="571500" y="20478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Implemented</a:t>
            </a:r>
          </a:p>
        </p:txBody>
      </p:sp>
      <p:sp>
        <p:nvSpPr>
          <p:cNvPr id="6" name="Reviewed Bridge publication&#10;Governed job definitions and runs&#10;RDF prof">
            <a:extLst xmlns:a="http://schemas.openxmlformats.org/drawingml/2006/main">
              <a:ext uri="{FF2B5EF4-FFF2-40B4-BE49-F238E27FC236}">
                <a16:creationId xmlns:a16="http://schemas.microsoft.com/office/drawing/2014/main" id="{3B9D073A-6375-4800-9941-C00FD8F6FE32}"/>
              </a:ext>
            </a:extLst>
          </p:cNvPr>
          <p:cNvSpPr>
            <a:spLocks xmlns:a="http://schemas.openxmlformats.org/drawingml/2006/main" noGrp="1"/>
          </p:cNvSpPr>
          <p:nvPr/>
        </p:nvSpPr>
        <p:spPr>
          <a:xfrm xmlns:a="http://schemas.openxmlformats.org/drawingml/2006/main">
            <a:off x="571500" y="2505075"/>
            <a:ext cx="5191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Reviewed Bridge publication</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Governed job definitions and runs</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RDF profiling and deduplication</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Document graph proposals</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Bounded graph/SPARQL reads</a:t>
            </a:r>
          </a:p>
        </p:txBody>
      </p:sp>
      <p:sp>
        <p:nvSpPr>
          <p:cNvPr id="7" name="Customer acceptance">
            <a:extLst xmlns:a="http://schemas.openxmlformats.org/drawingml/2006/main">
              <a:ext uri="{FF2B5EF4-FFF2-40B4-BE49-F238E27FC236}">
                <a16:creationId xmlns:a16="http://schemas.microsoft.com/office/drawing/2014/main" id="{18E3D551-A867-4808-B5C6-28DA0F2F87F8}"/>
              </a:ext>
            </a:extLst>
          </p:cNvPr>
          <p:cNvSpPr>
            <a:spLocks xmlns:a="http://schemas.openxmlformats.org/drawingml/2006/main" noGrp="1"/>
          </p:cNvSpPr>
          <p:nvPr/>
        </p:nvSpPr>
        <p:spPr>
          <a:xfrm xmlns:a="http://schemas.openxmlformats.org/drawingml/2006/main">
            <a:off x="6096000" y="20478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007F8B"/>
                </a:solidFill>
                <a:latin typeface="Arial"/>
                <a:ea typeface="Arial"/>
                <a:cs typeface="Arial"/>
              </a:defRPr>
            </a:pPr>
            <a:r>
              <a:rPr sz="1875" b="1">
                <a:solidFill>
                  <a:srgbClr val="007F8B"/>
                </a:solidFill>
                <a:latin typeface="Arial"/>
                <a:ea typeface="Arial"/>
                <a:cs typeface="Arial"/>
              </a:rPr>
              <a:t>Customer acceptance</a:t>
            </a:r>
          </a:p>
        </p:txBody>
      </p:sp>
      <p:sp>
        <p:nvSpPr>
          <p:cNvPr id="8" name="Source and mapping suitability&#10;API keys and TLS trust&#10;Spark capacity a">
            <a:extLst xmlns:a="http://schemas.openxmlformats.org/drawingml/2006/main">
              <a:ext uri="{FF2B5EF4-FFF2-40B4-BE49-F238E27FC236}">
                <a16:creationId xmlns:a16="http://schemas.microsoft.com/office/drawing/2014/main" id="{9F1AF00F-E7D6-49EF-9AA0-57A166A9C26B}"/>
              </a:ext>
            </a:extLst>
          </p:cNvPr>
          <p:cNvSpPr>
            <a:spLocks xmlns:a="http://schemas.openxmlformats.org/drawingml/2006/main" noGrp="1"/>
          </p:cNvSpPr>
          <p:nvPr/>
        </p:nvSpPr>
        <p:spPr>
          <a:xfrm xmlns:a="http://schemas.openxmlformats.org/drawingml/2006/main">
            <a:off x="6096000" y="2505075"/>
            <a:ext cx="5191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Source and mapping suitability</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API keys and TLS trust</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Spark capacity and recovery</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Backup/restore and supervision</a:t>
            </a:r>
          </a:p>
          <a:p xmlns:a="http://schemas.openxmlformats.org/drawingml/2006/main">
            <a:pPr>
              <a:buNone/>
              <a:defRPr sz="1725" b="0">
                <a:solidFill>
                  <a:srgbClr val="20313E"/>
                </a:solidFill>
                <a:latin typeface="Arial"/>
                <a:ea typeface="Arial"/>
                <a:cs typeface="Arial"/>
              </a:defRPr>
            </a:pPr>
            <a:r>
              <a:rPr sz="1725" b="0">
                <a:solidFill>
                  <a:srgbClr val="20313E"/>
                </a:solidFill>
                <a:latin typeface="Arial"/>
                <a:ea typeface="Arial"/>
                <a:cs typeface="Arial"/>
              </a:rPr>
              <a:t>Named event-source adapters</a:t>
            </a:r>
          </a:p>
        </p:txBody>
      </p:sp>
      <p:sp>
        <p:nvSpPr>
          <p:cNvPr id="9" name="Further product work">
            <a:extLst xmlns:a="http://schemas.openxmlformats.org/drawingml/2006/main">
              <a:ext uri="{FF2B5EF4-FFF2-40B4-BE49-F238E27FC236}">
                <a16:creationId xmlns:a16="http://schemas.microsoft.com/office/drawing/2014/main" id="{79E0F10D-25C6-444A-A986-79ECCC8D1F6C}"/>
              </a:ext>
            </a:extLst>
          </p:cNvPr>
          <p:cNvSpPr>
            <a:spLocks xmlns:a="http://schemas.openxmlformats.org/drawingml/2006/main" noGrp="1"/>
          </p:cNvSpPr>
          <p:nvPr/>
        </p:nvSpPr>
        <p:spPr>
          <a:xfrm xmlns:a="http://schemas.openxmlformats.org/drawingml/2006/main">
            <a:off x="571500" y="47244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1">
                <a:solidFill>
                  <a:srgbClr val="007F8B"/>
                </a:solidFill>
                <a:latin typeface="Arial"/>
                <a:ea typeface="Arial"/>
                <a:cs typeface="Arial"/>
              </a:defRPr>
            </a:pPr>
            <a:r>
              <a:rPr sz="2025" b="1">
                <a:solidFill>
                  <a:srgbClr val="007F8B"/>
                </a:solidFill>
                <a:latin typeface="Arial"/>
                <a:ea typeface="Arial"/>
                <a:cs typeface="Arial"/>
              </a:rPr>
              <a:t>Further product work</a:t>
            </a:r>
          </a:p>
        </p:txBody>
      </p:sp>
      <p:sp>
        <p:nvSpPr>
          <p:cNvPr id="10" name="Distributed reasoning and semantic ML need explicit output contracts. ">
            <a:extLst xmlns:a="http://schemas.openxmlformats.org/drawingml/2006/main">
              <a:ext uri="{FF2B5EF4-FFF2-40B4-BE49-F238E27FC236}">
                <a16:creationId xmlns:a16="http://schemas.microsoft.com/office/drawing/2014/main" id="{75BF3964-F48E-4B89-9646-8DF06626EBEC}"/>
              </a:ext>
            </a:extLst>
          </p:cNvPr>
          <p:cNvSpPr>
            <a:spLocks xmlns:a="http://schemas.openxmlformats.org/drawingml/2006/main" noGrp="1"/>
          </p:cNvSpPr>
          <p:nvPr/>
        </p:nvSpPr>
        <p:spPr>
          <a:xfrm xmlns:a="http://schemas.openxmlformats.org/drawingml/2006/main">
            <a:off x="571500" y="52482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0313E"/>
                </a:solidFill>
                <a:latin typeface="Arial"/>
                <a:ea typeface="Arial"/>
                <a:cs typeface="Arial"/>
              </a:defRPr>
            </a:pPr>
            <a:r>
              <a:rPr sz="1950" b="0">
                <a:solidFill>
                  <a:srgbClr val="20313E"/>
                </a:solidFill>
                <a:latin typeface="Arial"/>
                <a:ea typeface="Arial"/>
                <a:cs typeface="Arial"/>
              </a:rPr>
              <a:t>Distributed reasoning and semantic ML need explicit output contracts. OCR and embeddings need model/corpus controls. Digital-twin commands need separately defined authority and feedback acceptance.</a:t>
            </a:r>
          </a:p>
        </p:txBody>
      </p:sp>
    </p:spTree>
    <p:extLst>
      <p:ext uri="{BB962C8B-B14F-4D97-AF65-F5344CB8AC3E}">
        <p14:creationId xmlns:p14="http://schemas.microsoft.com/office/powerpoint/2010/main" val="597867112"/>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Service inventory and installation references">
            <a:extLst xmlns:a="http://schemas.openxmlformats.org/drawingml/2006/main">
              <a:ext uri="{FF2B5EF4-FFF2-40B4-BE49-F238E27FC236}">
                <a16:creationId xmlns:a16="http://schemas.microsoft.com/office/drawing/2014/main" id="{82B6E1DE-0364-4A3D-BC7F-74C76F31519C}"/>
              </a:ext>
            </a:extLst>
          </p:cNvPr>
          <p:cNvSpPr>
            <a:spLocks xmlns:a="http://schemas.openxmlformats.org/drawingml/2006/main" noGrp="1"/>
          </p:cNvSpPr>
          <p:nvPr/>
        </p:nvSpPr>
        <p:spPr>
          <a:xfrm xmlns:a="http://schemas.openxmlformats.org/drawingml/2006/main">
            <a:off x="571500" y="4095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0B2133"/>
                </a:solidFill>
                <a:latin typeface="Arial"/>
                <a:ea typeface="Arial"/>
                <a:cs typeface="Arial"/>
              </a:defRPr>
            </a:pPr>
            <a:r>
              <a:rPr sz="3000" b="1">
                <a:solidFill>
                  <a:srgbClr val="0B2133"/>
                </a:solidFill>
                <a:latin typeface="Arial"/>
                <a:ea typeface="Arial"/>
                <a:cs typeface="Arial"/>
              </a:rPr>
              <a:t>Service inventory and installation references</a:t>
            </a:r>
          </a:p>
        </p:txBody>
      </p:sp>
      <p:sp>
        <p:nvSpPr>
          <p:cNvPr id="2" name="Ports describe internal service defaults. The customer web server prov">
            <a:extLst xmlns:a="http://schemas.openxmlformats.org/drawingml/2006/main">
              <a:ext uri="{FF2B5EF4-FFF2-40B4-BE49-F238E27FC236}">
                <a16:creationId xmlns:a16="http://schemas.microsoft.com/office/drawing/2014/main" id="{0B07A97E-5D6B-4C21-83FC-1E6FB397D14C}"/>
              </a:ext>
            </a:extLst>
          </p:cNvPr>
          <p:cNvSpPr>
            <a:spLocks xmlns:a="http://schemas.openxmlformats.org/drawingml/2006/main" noGrp="1"/>
          </p:cNvSpPr>
          <p:nvPr/>
        </p:nvSpPr>
        <p:spPr>
          <a:xfrm xmlns:a="http://schemas.openxmlformats.org/drawingml/2006/main">
            <a:off x="571500" y="1095375"/>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26779"/>
                </a:solidFill>
                <a:latin typeface="Arial"/>
                <a:ea typeface="Arial"/>
                <a:cs typeface="Arial"/>
              </a:defRPr>
            </a:pPr>
            <a:r>
              <a:rPr sz="1725" b="0">
                <a:solidFill>
                  <a:srgbClr val="526779"/>
                </a:solidFill>
                <a:latin typeface="Arial"/>
                <a:ea typeface="Arial"/>
                <a:cs typeface="Arial"/>
              </a:rPr>
              <a:t>Ports describe internal defaults. Local HTTP and gateway HTTPS are supported deployment profiles.</a:t>
            </a:r>
          </a:p>
        </p:txBody>
      </p:sp>
      <p:sp>
        <p:nvSpPr>
          <p:cNvPr id="3" name="DEPO  /  Functional architecture">
            <a:extLst xmlns:a="http://schemas.openxmlformats.org/drawingml/2006/main">
              <a:ext uri="{FF2B5EF4-FFF2-40B4-BE49-F238E27FC236}">
                <a16:creationId xmlns:a16="http://schemas.microsoft.com/office/drawing/2014/main" id="{FEAC2F63-720D-4AF4-9B1B-867524165802}"/>
              </a:ext>
            </a:extLst>
          </p:cNvPr>
          <p:cNvSpPr>
            <a:spLocks xmlns:a="http://schemas.openxmlformats.org/drawingml/2006/main" noGrp="1"/>
          </p:cNvSpPr>
          <p:nvPr/>
        </p:nvSpPr>
        <p:spPr>
          <a:xfrm xmlns:a="http://schemas.openxmlformats.org/drawingml/2006/main">
            <a:off x="571500" y="6457950"/>
            <a:ext cx="876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DEPO  /  Functional architecture</a:t>
            </a:r>
          </a:p>
        </p:txBody>
      </p:sp>
      <p:sp>
        <p:nvSpPr>
          <p:cNvPr id="4" name="20">
            <a:extLst xmlns:a="http://schemas.openxmlformats.org/drawingml/2006/main">
              <a:ext uri="{FF2B5EF4-FFF2-40B4-BE49-F238E27FC236}">
                <a16:creationId xmlns:a16="http://schemas.microsoft.com/office/drawing/2014/main" id="{BD06A8C1-52BE-4A2F-BF14-859B5A4518B3}"/>
              </a:ext>
            </a:extLst>
          </p:cNvPr>
          <p:cNvSpPr>
            <a:spLocks xmlns:a="http://schemas.openxmlformats.org/drawingml/2006/main" noGrp="1"/>
          </p:cNvSpPr>
          <p:nvPr/>
        </p:nvSpPr>
        <p:spPr>
          <a:xfrm xmlns:a="http://schemas.openxmlformats.org/drawingml/2006/main">
            <a:off x="11125200" y="645795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125" b="0">
                <a:solidFill>
                  <a:srgbClr val="526779"/>
                </a:solidFill>
                <a:latin typeface="Arial"/>
                <a:ea typeface="Arial"/>
                <a:cs typeface="Arial"/>
              </a:defRPr>
            </a:pPr>
            <a:r>
              <a:rPr sz="1125" b="0">
                <a:solidFill>
                  <a:srgbClr val="526779"/>
                </a:solidFill>
                <a:latin typeface="Arial"/>
                <a:ea typeface="Arial"/>
                <a:cs typeface="Arial"/>
              </a:rPr>
              <a:t>20</a:t>
            </a:r>
          </a:p>
        </p:txBody>
      </p:sp>
      <p:graphicFrame>
        <p:nvGraphicFramePr>
          <p:cNvPr id="13" name=""/>
          <p:cNvGraphicFramePr/>
          <p:nvPr/>
        </p:nvGraphicFramePr>
        <p:xfrm>
          <a:off xmlns:a="http://schemas.openxmlformats.org/drawingml/2006/main" x="571500" y="1762125"/>
          <a:ext xmlns:a="http://schemas.openxmlformats.org/drawingml/2006/main" cx="11049000" cy="3895725"/>
        </p:xfrm>
        <a:graphic xmlns:a="http://schemas.openxmlformats.org/drawingml/2006/main">
          <a:graphicData uri="http://schemas.openxmlformats.org/drawingml/2006/table">
            <a:tbl>
              <a:tblPr/>
              <a:tblGrid>
                <a:gridCol w="3095625"/>
                <a:gridCol w="952500"/>
                <a:gridCol w="7000875"/>
              </a:tblGrid>
              <a:tr h="354157">
                <a:tc>
                  <a:txBody>
                    <a:bodyPr/>
                    <a:lstStyle/>
                    <a:p>
                      <a:r>
                        <a:rPr sz="1425" b="1">
                          <a:solidFill>
                            <a:srgbClr val="FFFFFF"/>
                          </a:solidFill>
                          <a:latin typeface="Arial"/>
                          <a:ea typeface="Arial"/>
                          <a:cs typeface="Arial"/>
                        </a:rPr>
                        <a:t>Service</a:t>
                      </a:r>
                    </a:p>
                  </a:txBody>
                  <a:tcPr marL="91440" marR="91440" marT="45720" marB="45720">
                    <a:solidFill>
                      <a:srgbClr val="0B2133"/>
                    </a:solidFill>
                  </a:tcPr>
                </a:tc>
                <a:tc>
                  <a:txBody>
                    <a:bodyPr/>
                    <a:lstStyle/>
                    <a:p>
                      <a:r>
                        <a:rPr sz="1425" b="1">
                          <a:solidFill>
                            <a:srgbClr val="FFFFFF"/>
                          </a:solidFill>
                          <a:latin typeface="Arial"/>
                          <a:ea typeface="Arial"/>
                          <a:cs typeface="Arial"/>
                        </a:rPr>
                        <a:t>Port</a:t>
                      </a:r>
                    </a:p>
                  </a:txBody>
                  <a:tcPr marL="91440" marR="91440" marT="45720" marB="45720">
                    <a:solidFill>
                      <a:srgbClr val="0B2133"/>
                    </a:solidFill>
                  </a:tcPr>
                </a:tc>
                <a:tc>
                  <a:txBody>
                    <a:bodyPr/>
                    <a:lstStyle/>
                    <a:p>
                      <a:r>
                        <a:rPr sz="1425" b="1">
                          <a:solidFill>
                            <a:srgbClr val="FFFFFF"/>
                          </a:solidFill>
                          <a:latin typeface="Arial"/>
                          <a:ea typeface="Arial"/>
                          <a:cs typeface="Arial"/>
                        </a:rPr>
                        <a:t>Owned responsibility</a:t>
                      </a:r>
                    </a:p>
                  </a:txBody>
                  <a:tcPr marL="91440" marR="91440" marT="45720" marB="45720">
                    <a:solidFill>
                      <a:srgbClr val="0B2133"/>
                    </a:solidFill>
                  </a:tcPr>
                </a:tc>
              </a:tr>
              <a:tr h="354157">
                <a:tc>
                  <a:txBody>
                    <a:bodyPr/>
                    <a:lstStyle/>
                    <a:p>
                      <a:r>
                        <a:rPr sz="1425" b="0">
                          <a:solidFill>
                            <a:srgbClr val="20313E"/>
                          </a:solidFill>
                          <a:latin typeface="Arial"/>
                          <a:ea typeface="Arial"/>
                          <a:cs typeface="Arial"/>
                        </a:rPr>
                        <a:t>Schema sets / QIF</a:t>
                      </a:r>
                    </a:p>
                  </a:txBody>
                  <a:tcPr marL="91440" marR="91440" marT="45720" marB="45720">
                    <a:solidFill>
                      <a:srgbClr val="FFFFFF"/>
                    </a:solidFill>
                  </a:tcPr>
                </a:tc>
                <a:tc>
                  <a:txBody>
                    <a:bodyPr/>
                    <a:lstStyle/>
                    <a:p>
                      <a:r>
                        <a:rPr sz="1425" b="0">
                          <a:solidFill>
                            <a:srgbClr val="20313E"/>
                          </a:solidFill>
                          <a:latin typeface="Arial"/>
                          <a:ea typeface="Arial"/>
                          <a:cs typeface="Arial"/>
                        </a:rPr>
                        <a:t>8010</a:t>
                      </a:r>
                    </a:p>
                  </a:txBody>
                  <a:tcPr marL="91440" marR="91440" marT="45720" marB="45720">
                    <a:solidFill>
                      <a:srgbClr val="FFFFFF"/>
                    </a:solidFill>
                  </a:tcPr>
                </a:tc>
                <a:tc>
                  <a:txBody>
                    <a:bodyPr/>
                    <a:lstStyle/>
                    <a:p>
                      <a:r>
                        <a:rPr sz="1425" b="0">
                          <a:solidFill>
                            <a:srgbClr val="20313E"/>
                          </a:solidFill>
                          <a:latin typeface="Arial"/>
                          <a:ea typeface="Arial"/>
                          <a:cs typeface="Arial"/>
                        </a:rPr>
                        <a:t>Engineering schema processing</a:t>
                      </a:r>
                    </a:p>
                  </a:txBody>
                  <a:tcPr marL="91440" marR="91440" marT="45720" marB="45720">
                    <a:solidFill>
                      <a:srgbClr val="FFFFFF"/>
                    </a:solidFill>
                  </a:tcPr>
                </a:tc>
              </a:tr>
              <a:tr h="354157">
                <a:tc>
                  <a:txBody>
                    <a:bodyPr/>
                    <a:lstStyle/>
                    <a:p>
                      <a:r>
                        <a:rPr sz="1425" b="0">
                          <a:solidFill>
                            <a:srgbClr val="20313E"/>
                          </a:solidFill>
                          <a:latin typeface="Arial"/>
                          <a:ea typeface="Arial"/>
                          <a:cs typeface="Arial"/>
                        </a:rPr>
                        <a:t>Ontology</a:t>
                      </a:r>
                    </a:p>
                  </a:txBody>
                  <a:tcPr marL="91440" marR="91440" marT="45720" marB="45720">
                    <a:solidFill>
                      <a:srgbClr val="DFF0F5"/>
                    </a:solidFill>
                  </a:tcPr>
                </a:tc>
                <a:tc>
                  <a:txBody>
                    <a:bodyPr/>
                    <a:lstStyle/>
                    <a:p>
                      <a:r>
                        <a:rPr sz="1425" b="0">
                          <a:solidFill>
                            <a:srgbClr val="20313E"/>
                          </a:solidFill>
                          <a:latin typeface="Arial"/>
                          <a:ea typeface="Arial"/>
                          <a:cs typeface="Arial"/>
                        </a:rPr>
                        <a:t>8011</a:t>
                      </a:r>
                    </a:p>
                  </a:txBody>
                  <a:tcPr marL="91440" marR="91440" marT="45720" marB="45720">
                    <a:solidFill>
                      <a:srgbClr val="DFF0F5"/>
                    </a:solidFill>
                  </a:tcPr>
                </a:tc>
                <a:tc>
                  <a:txBody>
                    <a:bodyPr/>
                    <a:lstStyle/>
                    <a:p>
                      <a:r>
                        <a:rPr sz="1425" b="0">
                          <a:solidFill>
                            <a:srgbClr val="20313E"/>
                          </a:solidFill>
                          <a:latin typeface="Arial"/>
                          <a:ea typeface="Arial"/>
                          <a:cs typeface="Arial"/>
                        </a:rPr>
                        <a:t>Semantic artifacts, modeling and registry</a:t>
                      </a:r>
                    </a:p>
                  </a:txBody>
                  <a:tcPr marL="91440" marR="91440" marT="45720" marB="45720">
                    <a:solidFill>
                      <a:srgbClr val="DFF0F5"/>
                    </a:solidFill>
                  </a:tcPr>
                </a:tc>
              </a:tr>
              <a:tr h="354157">
                <a:tc>
                  <a:txBody>
                    <a:bodyPr/>
                    <a:lstStyle/>
                    <a:p>
                      <a:r>
                        <a:rPr sz="1425" b="0">
                          <a:solidFill>
                            <a:srgbClr val="20313E"/>
                          </a:solidFill>
                          <a:latin typeface="Arial"/>
                          <a:ea typeface="Arial"/>
                          <a:cs typeface="Arial"/>
                        </a:rPr>
                        <a:t>Agentic</a:t>
                      </a:r>
                    </a:p>
                  </a:txBody>
                  <a:tcPr marL="91440" marR="91440" marT="45720" marB="45720">
                    <a:solidFill>
                      <a:srgbClr val="FFFFFF"/>
                    </a:solidFill>
                  </a:tcPr>
                </a:tc>
                <a:tc>
                  <a:txBody>
                    <a:bodyPr/>
                    <a:lstStyle/>
                    <a:p>
                      <a:r>
                        <a:rPr sz="1425" b="0">
                          <a:solidFill>
                            <a:srgbClr val="20313E"/>
                          </a:solidFill>
                          <a:latin typeface="Arial"/>
                          <a:ea typeface="Arial"/>
                          <a:cs typeface="Arial"/>
                        </a:rPr>
                        <a:t>8012</a:t>
                      </a:r>
                    </a:p>
                  </a:txBody>
                  <a:tcPr marL="91440" marR="91440" marT="45720" marB="45720">
                    <a:solidFill>
                      <a:srgbClr val="FFFFFF"/>
                    </a:solidFill>
                  </a:tcPr>
                </a:tc>
                <a:tc>
                  <a:txBody>
                    <a:bodyPr/>
                    <a:lstStyle/>
                    <a:p>
                      <a:r>
                        <a:rPr sz="1425" b="0">
                          <a:solidFill>
                            <a:srgbClr val="20313E"/>
                          </a:solidFill>
                          <a:latin typeface="Arial"/>
                          <a:ea typeface="Arial"/>
                          <a:cs typeface="Arial"/>
                        </a:rPr>
                        <a:t>Tools, workflows, Bridge and Companion</a:t>
                      </a:r>
                    </a:p>
                  </a:txBody>
                  <a:tcPr marL="91440" marR="91440" marT="45720" marB="45720">
                    <a:solidFill>
                      <a:srgbClr val="FFFFFF"/>
                    </a:solidFill>
                  </a:tcPr>
                </a:tc>
              </a:tr>
              <a:tr h="354157">
                <a:tc>
                  <a:txBody>
                    <a:bodyPr/>
                    <a:lstStyle/>
                    <a:p>
                      <a:r>
                        <a:rPr sz="1425" b="0">
                          <a:solidFill>
                            <a:srgbClr val="20313E"/>
                          </a:solidFill>
                          <a:latin typeface="Arial"/>
                          <a:ea typeface="Arial"/>
                          <a:cs typeface="Arial"/>
                        </a:rPr>
                        <a:t>Graph</a:t>
                      </a:r>
                    </a:p>
                  </a:txBody>
                  <a:tcPr marL="91440" marR="91440" marT="45720" marB="45720">
                    <a:solidFill>
                      <a:srgbClr val="DFF0F5"/>
                    </a:solidFill>
                  </a:tcPr>
                </a:tc>
                <a:tc>
                  <a:txBody>
                    <a:bodyPr/>
                    <a:lstStyle/>
                    <a:p>
                      <a:r>
                        <a:rPr sz="1425" b="0">
                          <a:solidFill>
                            <a:srgbClr val="20313E"/>
                          </a:solidFill>
                          <a:latin typeface="Arial"/>
                          <a:ea typeface="Arial"/>
                          <a:cs typeface="Arial"/>
                        </a:rPr>
                        <a:t>8013</a:t>
                      </a:r>
                    </a:p>
                  </a:txBody>
                  <a:tcPr marL="91440" marR="91440" marT="45720" marB="45720">
                    <a:solidFill>
                      <a:srgbClr val="DFF0F5"/>
                    </a:solidFill>
                  </a:tcPr>
                </a:tc>
                <a:tc>
                  <a:txBody>
                    <a:bodyPr/>
                    <a:lstStyle/>
                    <a:p>
                      <a:r>
                        <a:rPr sz="1425" b="0">
                          <a:solidFill>
                            <a:srgbClr val="20313E"/>
                          </a:solidFill>
                          <a:latin typeface="Arial"/>
                          <a:ea typeface="Arial"/>
                          <a:cs typeface="Arial"/>
                        </a:rPr>
                        <a:t>Publication, projections and semantic queries</a:t>
                      </a:r>
                    </a:p>
                  </a:txBody>
                  <a:tcPr marL="91440" marR="91440" marT="45720" marB="45720">
                    <a:solidFill>
                      <a:srgbClr val="DFF0F5"/>
                    </a:solidFill>
                  </a:tcPr>
                </a:tc>
              </a:tr>
              <a:tr h="354157">
                <a:tc>
                  <a:txBody>
                    <a:bodyPr/>
                    <a:lstStyle/>
                    <a:p>
                      <a:r>
                        <a:rPr sz="1425" b="0">
                          <a:solidFill>
                            <a:srgbClr val="20313E"/>
                          </a:solidFill>
                          <a:latin typeface="Arial"/>
                          <a:ea typeface="Arial"/>
                          <a:cs typeface="Arial"/>
                        </a:rPr>
                        <a:t>Ingestion</a:t>
                      </a:r>
                    </a:p>
                  </a:txBody>
                  <a:tcPr marL="91440" marR="91440" marT="45720" marB="45720">
                    <a:solidFill>
                      <a:srgbClr val="FFFFFF"/>
                    </a:solidFill>
                  </a:tcPr>
                </a:tc>
                <a:tc>
                  <a:txBody>
                    <a:bodyPr/>
                    <a:lstStyle/>
                    <a:p>
                      <a:r>
                        <a:rPr sz="1425" b="0">
                          <a:solidFill>
                            <a:srgbClr val="20313E"/>
                          </a:solidFill>
                          <a:latin typeface="Arial"/>
                          <a:ea typeface="Arial"/>
                          <a:cs typeface="Arial"/>
                        </a:rPr>
                        <a:t>8014</a:t>
                      </a:r>
                    </a:p>
                  </a:txBody>
                  <a:tcPr marL="91440" marR="91440" marT="45720" marB="45720">
                    <a:solidFill>
                      <a:srgbClr val="FFFFFF"/>
                    </a:solidFill>
                  </a:tcPr>
                </a:tc>
                <a:tc>
                  <a:txBody>
                    <a:bodyPr/>
                    <a:lstStyle/>
                    <a:p>
                      <a:r>
                        <a:rPr sz="1425" b="0">
                          <a:solidFill>
                            <a:srgbClr val="20313E"/>
                          </a:solidFill>
                          <a:latin typeface="Arial"/>
                          <a:ea typeface="Arial"/>
                          <a:cs typeface="Arial"/>
                        </a:rPr>
                        <a:t>Source capture, parsing and profiles</a:t>
                      </a:r>
                    </a:p>
                  </a:txBody>
                  <a:tcPr marL="91440" marR="91440" marT="45720" marB="45720">
                    <a:solidFill>
                      <a:srgbClr val="FFFFFF"/>
                    </a:solidFill>
                  </a:tcPr>
                </a:tc>
              </a:tr>
              <a:tr h="354157">
                <a:tc>
                  <a:txBody>
                    <a:bodyPr/>
                    <a:lstStyle/>
                    <a:p>
                      <a:r>
                        <a:rPr sz="1425" b="0">
                          <a:solidFill>
                            <a:srgbClr val="20313E"/>
                          </a:solidFill>
                          <a:latin typeface="Arial"/>
                          <a:ea typeface="Arial"/>
                          <a:cs typeface="Arial"/>
                        </a:rPr>
                        <a:t>OSLC</a:t>
                      </a:r>
                    </a:p>
                  </a:txBody>
                  <a:tcPr marL="91440" marR="91440" marT="45720" marB="45720">
                    <a:solidFill>
                      <a:srgbClr val="DFF0F5"/>
                    </a:solidFill>
                  </a:tcPr>
                </a:tc>
                <a:tc>
                  <a:txBody>
                    <a:bodyPr/>
                    <a:lstStyle/>
                    <a:p>
                      <a:r>
                        <a:rPr sz="1425" b="0">
                          <a:solidFill>
                            <a:srgbClr val="20313E"/>
                          </a:solidFill>
                          <a:latin typeface="Arial"/>
                          <a:ea typeface="Arial"/>
                          <a:cs typeface="Arial"/>
                        </a:rPr>
                        <a:t>8015</a:t>
                      </a:r>
                    </a:p>
                  </a:txBody>
                  <a:tcPr marL="91440" marR="91440" marT="45720" marB="45720">
                    <a:solidFill>
                      <a:srgbClr val="DFF0F5"/>
                    </a:solidFill>
                  </a:tcPr>
                </a:tc>
                <a:tc>
                  <a:txBody>
                    <a:bodyPr/>
                    <a:lstStyle/>
                    <a:p>
                      <a:r>
                        <a:rPr sz="1425" b="0">
                          <a:solidFill>
                            <a:srgbClr val="20313E"/>
                          </a:solidFill>
                          <a:latin typeface="Arial"/>
                          <a:ea typeface="Arial"/>
                          <a:cs typeface="Arial"/>
                        </a:rPr>
                        <a:t>Engineering resource interfaces</a:t>
                      </a:r>
                    </a:p>
                  </a:txBody>
                  <a:tcPr marL="91440" marR="91440" marT="45720" marB="45720">
                    <a:solidFill>
                      <a:srgbClr val="DFF0F5"/>
                    </a:solidFill>
                  </a:tcPr>
                </a:tc>
              </a:tr>
              <a:tr h="354157">
                <a:tc>
                  <a:txBody>
                    <a:bodyPr/>
                    <a:lstStyle/>
                    <a:p>
                      <a:r>
                        <a:rPr sz="1425" b="0">
                          <a:solidFill>
                            <a:srgbClr val="20313E"/>
                          </a:solidFill>
                          <a:latin typeface="Arial"/>
                          <a:ea typeface="Arial"/>
                          <a:cs typeface="Arial"/>
                        </a:rPr>
                        <a:t>Data catalog</a:t>
                      </a:r>
                    </a:p>
                  </a:txBody>
                  <a:tcPr marL="91440" marR="91440" marT="45720" marB="45720">
                    <a:solidFill>
                      <a:srgbClr val="FFFFFF"/>
                    </a:solidFill>
                  </a:tcPr>
                </a:tc>
                <a:tc>
                  <a:txBody>
                    <a:bodyPr/>
                    <a:lstStyle/>
                    <a:p>
                      <a:r>
                        <a:rPr sz="1425" b="0">
                          <a:solidFill>
                            <a:srgbClr val="20313E"/>
                          </a:solidFill>
                          <a:latin typeface="Arial"/>
                          <a:ea typeface="Arial"/>
                          <a:cs typeface="Arial"/>
                        </a:rPr>
                        <a:t>8016</a:t>
                      </a:r>
                    </a:p>
                  </a:txBody>
                  <a:tcPr marL="91440" marR="91440" marT="45720" marB="45720">
                    <a:solidFill>
                      <a:srgbClr val="FFFFFF"/>
                    </a:solidFill>
                  </a:tcPr>
                </a:tc>
                <a:tc>
                  <a:txBody>
                    <a:bodyPr/>
                    <a:lstStyle/>
                    <a:p>
                      <a:r>
                        <a:rPr sz="1425" b="0">
                          <a:solidFill>
                            <a:srgbClr val="20313E"/>
                          </a:solidFill>
                          <a:latin typeface="Arial"/>
                          <a:ea typeface="Arial"/>
                          <a:cs typeface="Arial"/>
                        </a:rPr>
                        <a:t>Product discovery and artifact retention</a:t>
                      </a:r>
                    </a:p>
                  </a:txBody>
                  <a:tcPr marL="91440" marR="91440" marT="45720" marB="45720">
                    <a:solidFill>
                      <a:srgbClr val="FFFFFF"/>
                    </a:solidFill>
                  </a:tcPr>
                </a:tc>
              </a:tr>
              <a:tr h="354157">
                <a:tc>
                  <a:txBody>
                    <a:bodyPr/>
                    <a:lstStyle/>
                    <a:p>
                      <a:r>
                        <a:rPr sz="1425" b="0">
                          <a:solidFill>
                            <a:srgbClr val="20313E"/>
                          </a:solidFill>
                          <a:latin typeface="Arial"/>
                          <a:ea typeface="Arial"/>
                          <a:cs typeface="Arial"/>
                        </a:rPr>
                        <a:t>Data products</a:t>
                      </a:r>
                    </a:p>
                  </a:txBody>
                  <a:tcPr marL="91440" marR="91440" marT="45720" marB="45720">
                    <a:solidFill>
                      <a:srgbClr val="DFF0F5"/>
                    </a:solidFill>
                  </a:tcPr>
                </a:tc>
                <a:tc>
                  <a:txBody>
                    <a:bodyPr/>
                    <a:lstStyle/>
                    <a:p>
                      <a:r>
                        <a:rPr sz="1425" b="0">
                          <a:solidFill>
                            <a:srgbClr val="20313E"/>
                          </a:solidFill>
                          <a:latin typeface="Arial"/>
                          <a:ea typeface="Arial"/>
                          <a:cs typeface="Arial"/>
                        </a:rPr>
                        <a:t>8017</a:t>
                      </a:r>
                    </a:p>
                  </a:txBody>
                  <a:tcPr marL="91440" marR="91440" marT="45720" marB="45720">
                    <a:solidFill>
                      <a:srgbClr val="DFF0F5"/>
                    </a:solidFill>
                  </a:tcPr>
                </a:tc>
                <a:tc>
                  <a:txBody>
                    <a:bodyPr/>
                    <a:lstStyle/>
                    <a:p>
                      <a:r>
                        <a:rPr sz="1425" b="0">
                          <a:solidFill>
                            <a:srgbClr val="20313E"/>
                          </a:solidFill>
                          <a:latin typeface="Arial"/>
                          <a:ea typeface="Arial"/>
                          <a:cs typeface="Arial"/>
                        </a:rPr>
                        <a:t>Manifests, packaging and catalog outbox</a:t>
                      </a:r>
                    </a:p>
                  </a:txBody>
                  <a:tcPr marL="91440" marR="91440" marT="45720" marB="45720">
                    <a:solidFill>
                      <a:srgbClr val="DFF0F5"/>
                    </a:solidFill>
                  </a:tcPr>
                </a:tc>
              </a:tr>
              <a:tr h="354157">
                <a:tc>
                  <a:txBody>
                    <a:bodyPr/>
                    <a:lstStyle/>
                    <a:p>
                      <a:r>
                        <a:rPr sz="1425" b="0">
                          <a:solidFill>
                            <a:srgbClr val="20313E"/>
                          </a:solidFill>
                          <a:latin typeface="Arial"/>
                          <a:ea typeface="Arial"/>
                          <a:cs typeface="Arial"/>
                        </a:rPr>
                        <a:t>CEIM</a:t>
                      </a:r>
                    </a:p>
                  </a:txBody>
                  <a:tcPr marL="91440" marR="91440" marT="45720" marB="45720">
                    <a:solidFill>
                      <a:srgbClr val="FFFFFF"/>
                    </a:solidFill>
                  </a:tcPr>
                </a:tc>
                <a:tc>
                  <a:txBody>
                    <a:bodyPr/>
                    <a:lstStyle/>
                    <a:p>
                      <a:r>
                        <a:rPr sz="1425" b="0">
                          <a:solidFill>
                            <a:srgbClr val="20313E"/>
                          </a:solidFill>
                          <a:latin typeface="Arial"/>
                          <a:ea typeface="Arial"/>
                          <a:cs typeface="Arial"/>
                        </a:rPr>
                        <a:t>8018</a:t>
                      </a:r>
                    </a:p>
                  </a:txBody>
                  <a:tcPr marL="91440" marR="91440" marT="45720" marB="45720">
                    <a:solidFill>
                      <a:srgbClr val="FFFFFF"/>
                    </a:solidFill>
                  </a:tcPr>
                </a:tc>
                <a:tc>
                  <a:txBody>
                    <a:bodyPr/>
                    <a:lstStyle/>
                    <a:p>
                      <a:r>
                        <a:rPr sz="1425" b="0">
                          <a:solidFill>
                            <a:srgbClr val="20313E"/>
                          </a:solidFill>
                          <a:latin typeface="Arial"/>
                          <a:ea typeface="Arial"/>
                          <a:cs typeface="Arial"/>
                        </a:rPr>
                        <a:t>Canonical mapping, validation and publication requests</a:t>
                      </a:r>
                    </a:p>
                  </a:txBody>
                  <a:tcPr marL="91440" marR="91440" marT="45720" marB="45720">
                    <a:solidFill>
                      <a:srgbClr val="FFFFFF"/>
                    </a:solidFill>
                  </a:tcPr>
                </a:tc>
              </a:tr>
              <a:tr h="354157">
                <a:tc>
                  <a:txBody>
                    <a:bodyPr/>
                    <a:lstStyle/>
                    <a:p>
                      <a:r>
                        <a:rPr sz="1425" b="0">
                          <a:solidFill>
                            <a:srgbClr val="20313E"/>
                          </a:solidFill>
                          <a:latin typeface="Arial"/>
                          <a:ea typeface="Arial"/>
                          <a:cs typeface="Arial"/>
                        </a:rPr>
                        <a:t>Data pipeline</a:t>
                      </a:r>
                    </a:p>
                  </a:txBody>
                  <a:tcPr marL="91440" marR="91440" marT="45720" marB="45720">
                    <a:solidFill>
                      <a:srgbClr val="DFF0F5"/>
                    </a:solidFill>
                  </a:tcPr>
                </a:tc>
                <a:tc>
                  <a:txBody>
                    <a:bodyPr/>
                    <a:lstStyle/>
                    <a:p>
                      <a:r>
                        <a:rPr sz="1425" b="0">
                          <a:solidFill>
                            <a:srgbClr val="20313E"/>
                          </a:solidFill>
                          <a:latin typeface="Arial"/>
                          <a:ea typeface="Arial"/>
                          <a:cs typeface="Arial"/>
                        </a:rPr>
                        <a:t>8019</a:t>
                      </a:r>
                    </a:p>
                  </a:txBody>
                  <a:tcPr marL="91440" marR="91440" marT="45720" marB="45720">
                    <a:solidFill>
                      <a:srgbClr val="DFF0F5"/>
                    </a:solidFill>
                  </a:tcPr>
                </a:tc>
                <a:tc>
                  <a:txBody>
                    <a:bodyPr/>
                    <a:lstStyle/>
                    <a:p>
                      <a:r>
                        <a:rPr sz="1425" b="0">
                          <a:solidFill>
                            <a:srgbClr val="20313E"/>
                          </a:solidFill>
                          <a:latin typeface="Arial"/>
                          <a:ea typeface="Arial"/>
                          <a:cs typeface="Arial"/>
                        </a:rPr>
                        <a:t>Data jobs, quality evidence and event reconciliation</a:t>
                      </a:r>
                    </a:p>
                  </a:txBody>
                  <a:tcPr marL="91440" marR="91440" marT="45720" marB="45720">
                    <a:solidFill>
                      <a:srgbClr val="DFF0F5"/>
                    </a:solidFill>
                  </a:tcPr>
                </a:tc>
              </a:tr>
            </a:tbl>
          </a:graphicData>
        </a:graphic>
      </p:graphicFrame>
      <p:sp>
        <p:nvSpPr>
          <p:cNvPr id="6" name="Installation: INSTALLATION.md&#10;Database columns: infra/postgres/SCHEMA.">
            <a:extLst xmlns:a="http://schemas.openxmlformats.org/drawingml/2006/main">
              <a:ext uri="{FF2B5EF4-FFF2-40B4-BE49-F238E27FC236}">
                <a16:creationId xmlns:a16="http://schemas.microsoft.com/office/drawing/2014/main" id="{385DC656-AC56-4853-9F25-B51571990BEC}"/>
              </a:ext>
            </a:extLst>
          </p:cNvPr>
          <p:cNvSpPr>
            <a:spLocks xmlns:a="http://schemas.openxmlformats.org/drawingml/2006/main" noGrp="1"/>
          </p:cNvSpPr>
          <p:nvPr/>
        </p:nvSpPr>
        <p:spPr>
          <a:xfrm xmlns:a="http://schemas.openxmlformats.org/drawingml/2006/main">
            <a:off x="571500" y="58769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526779"/>
                </a:solidFill>
                <a:latin typeface="Arial"/>
                <a:ea typeface="Arial"/>
                <a:cs typeface="Arial"/>
              </a:defRPr>
            </a:pPr>
            <a:r>
              <a:rPr sz="1350" b="0">
                <a:solidFill>
                  <a:srgbClr val="526779"/>
                </a:solidFill>
                <a:latin typeface="Arial"/>
                <a:ea typeface="Arial"/>
                <a:cs typeface="Arial"/>
              </a:rPr>
              <a:t>Installation: INSTALLATION.md</a:t>
            </a:r>
          </a:p>
          <a:p xmlns:a="http://schemas.openxmlformats.org/drawingml/2006/main">
            <a:pPr>
              <a:buNone/>
              <a:defRPr sz="1350" b="0">
                <a:solidFill>
                  <a:srgbClr val="526779"/>
                </a:solidFill>
                <a:latin typeface="Arial"/>
                <a:ea typeface="Arial"/>
                <a:cs typeface="Arial"/>
              </a:defRPr>
            </a:pPr>
            <a:r>
              <a:rPr sz="1350" b="0">
                <a:solidFill>
                  <a:srgbClr val="526779"/>
                </a:solidFill>
                <a:latin typeface="Arial"/>
                <a:ea typeface="Arial"/>
                <a:cs typeface="Arial"/>
              </a:rPr>
              <a:t>Database columns: infra/postgres/SCHEMA.md   |   Neo4j: INSTALLATION.md   |   Spark: INSTALLATION.md</a:t>
            </a:r>
          </a:p>
        </p:txBody>
      </p:sp>
    </p:spTree>
    <p:extLst>
      <p:ext uri="{BB962C8B-B14F-4D97-AF65-F5344CB8AC3E}">
        <p14:creationId xmlns:p14="http://schemas.microsoft.com/office/powerpoint/2010/main" val="630585979"/>
      </p:ext>
    </p:extLst>
  </p:cSld>
</p:sld>
</file>

<file path=ppt/slides/slide2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AC50E5-ED26-4BDC-8F1A-F77365C995B0}"/>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Architecture priorities</a:t>
            </a:r>
          </a:p>
        </p:txBody>
      </p:sp>
      <p:sp>
        <p:nvSpPr>
          <p:cNvPr id="2" name="">
            <a:extLst xmlns:a="http://schemas.openxmlformats.org/drawingml/2006/main">
              <a:ext uri="{FF2B5EF4-FFF2-40B4-BE49-F238E27FC236}">
                <a16:creationId xmlns:a16="http://schemas.microsoft.com/office/drawing/2014/main" id="{4E1249AA-B27A-44A5-B5A0-D7551FC7E773}"/>
              </a:ext>
            </a:extLst>
          </p:cNvPr>
          <p:cNvSpPr>
            <a:spLocks xmlns:a="http://schemas.openxmlformats.org/drawingml/2006/main" noGrp="1"/>
          </p:cNvSpPr>
          <p:nvPr/>
        </p:nvSpPr>
        <p:spPr>
          <a:xfrm xmlns:a="http://schemas.openxmlformats.org/drawingml/2006/main">
            <a:off x="571500" y="11144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Preserve the ten-service foundation; strengthen execution and operational boundaries.</a:t>
            </a:r>
          </a:p>
        </p:txBody>
      </p:sp>
      <p:sp>
        <p:nvSpPr>
          <p:cNvPr id="3" name="">
            <a:extLst xmlns:a="http://schemas.openxmlformats.org/drawingml/2006/main">
              <a:ext uri="{FF2B5EF4-FFF2-40B4-BE49-F238E27FC236}">
                <a16:creationId xmlns:a16="http://schemas.microsoft.com/office/drawing/2014/main" id="{90D08613-82B6-4C5F-AA1A-0314DD183C56}"/>
              </a:ext>
            </a:extLst>
          </p:cNvPr>
          <p:cNvSpPr>
            <a:spLocks xmlns:a="http://schemas.openxmlformats.org/drawingml/2006/main" noGrp="1"/>
          </p:cNvSpPr>
          <p:nvPr/>
        </p:nvSpPr>
        <p:spPr>
          <a:xfrm xmlns:a="http://schemas.openxmlformats.org/drawingml/2006/main">
            <a:off x="571500" y="64293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Architecture review • 6 October 2026</a:t>
            </a:r>
          </a:p>
        </p:txBody>
      </p:sp>
      <p:sp>
        <p:nvSpPr>
          <p:cNvPr id="4" name="">
            <a:extLst xmlns:a="http://schemas.openxmlformats.org/drawingml/2006/main">
              <a:ext uri="{FF2B5EF4-FFF2-40B4-BE49-F238E27FC236}">
                <a16:creationId xmlns:a16="http://schemas.microsoft.com/office/drawing/2014/main" id="{2FD5D86E-9BF0-47D3-8311-8A4F0D703C97}"/>
              </a:ext>
            </a:extLst>
          </p:cNvPr>
          <p:cNvSpPr>
            <a:spLocks xmlns:a="http://schemas.openxmlformats.org/drawingml/2006/main" noGrp="1"/>
          </p:cNvSpPr>
          <p:nvPr/>
        </p:nvSpPr>
        <p:spPr>
          <a:xfrm xmlns:a="http://schemas.openxmlformats.org/drawingml/2006/main">
            <a:off x="11049000" y="64293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57268513-E96E-43D2-821B-CDACC17558BF}"/>
              </a:ext>
            </a:extLst>
          </p:cNvPr>
          <p:cNvSpPr>
            <a:spLocks xmlns:a="http://schemas.openxmlformats.org/drawingml/2006/main" noGrp="1"/>
          </p:cNvSpPr>
          <p:nvPr/>
        </p:nvSpPr>
        <p:spPr>
          <a:xfrm xmlns:a="http://schemas.openxmlformats.org/drawingml/2006/main">
            <a:off x="571500" y="19526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Browser integration</a:t>
            </a:r>
          </a:p>
        </p:txBody>
      </p:sp>
      <p:sp>
        <p:nvSpPr>
          <p:cNvPr id="6" name="">
            <a:extLst xmlns:a="http://schemas.openxmlformats.org/drawingml/2006/main">
              <a:ext uri="{FF2B5EF4-FFF2-40B4-BE49-F238E27FC236}">
                <a16:creationId xmlns:a16="http://schemas.microsoft.com/office/drawing/2014/main" id="{07F40CD0-46D5-4B79-A813-B7047EB0CFD6}"/>
              </a:ext>
            </a:extLst>
          </p:cNvPr>
          <p:cNvSpPr>
            <a:spLocks xmlns:a="http://schemas.openxmlformats.org/drawingml/2006/main" noGrp="1"/>
          </p:cNvSpPr>
          <p:nvPr/>
        </p:nvSpPr>
        <p:spPr>
          <a:xfrm xmlns:a="http://schemas.openxmlformats.org/drawingml/2006/main">
            <a:off x="3810000" y="19526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Optional same-origin application proxy simplifies sessions and routing; Azure APIM remains an optional deployment profile.</a:t>
            </a:r>
          </a:p>
        </p:txBody>
      </p:sp>
      <p:sp>
        <p:nvSpPr>
          <p:cNvPr id="7" name="">
            <a:extLst xmlns:a="http://schemas.openxmlformats.org/drawingml/2006/main">
              <a:ext uri="{FF2B5EF4-FFF2-40B4-BE49-F238E27FC236}">
                <a16:creationId xmlns:a16="http://schemas.microsoft.com/office/drawing/2014/main" id="{3A31AF16-7AC2-4BB6-9832-9946599F252E}"/>
              </a:ext>
            </a:extLst>
          </p:cNvPr>
          <p:cNvSpPr>
            <a:spLocks xmlns:a="http://schemas.openxmlformats.org/drawingml/2006/main" noGrp="1"/>
          </p:cNvSpPr>
          <p:nvPr/>
        </p:nvSpPr>
        <p:spPr>
          <a:xfrm xmlns:a="http://schemas.openxmlformats.org/drawingml/2006/main">
            <a:off x="571500" y="30480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Durable execution</a:t>
            </a:r>
          </a:p>
        </p:txBody>
      </p:sp>
      <p:sp>
        <p:nvSpPr>
          <p:cNvPr id="8" name="">
            <a:extLst xmlns:a="http://schemas.openxmlformats.org/drawingml/2006/main">
              <a:ext uri="{FF2B5EF4-FFF2-40B4-BE49-F238E27FC236}">
                <a16:creationId xmlns:a16="http://schemas.microsoft.com/office/drawing/2014/main" id="{0AF83A94-23CC-4C64-B53D-5CCCC794257F}"/>
              </a:ext>
            </a:extLst>
          </p:cNvPr>
          <p:cNvSpPr>
            <a:spLocks xmlns:a="http://schemas.openxmlformats.org/drawingml/2006/main" noGrp="1"/>
          </p:cNvSpPr>
          <p:nvPr/>
        </p:nvSpPr>
        <p:spPr>
          <a:xfrm xmlns:a="http://schemas.openxmlformats.org/drawingml/2006/main">
            <a:off x="3810000" y="3048000"/>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Move long agent runs from request handlers into checkpointed workers. Reconcile uncertain writes before retrying.</a:t>
            </a:r>
          </a:p>
        </p:txBody>
      </p:sp>
      <p:sp>
        <p:nvSpPr>
          <p:cNvPr id="9" name="">
            <a:extLst xmlns:a="http://schemas.openxmlformats.org/drawingml/2006/main">
              <a:ext uri="{FF2B5EF4-FFF2-40B4-BE49-F238E27FC236}">
                <a16:creationId xmlns:a16="http://schemas.microsoft.com/office/drawing/2014/main" id="{3BCA3B3E-8E56-43F3-AFDE-993598118C34}"/>
              </a:ext>
            </a:extLst>
          </p:cNvPr>
          <p:cNvSpPr>
            <a:spLocks xmlns:a="http://schemas.openxmlformats.org/drawingml/2006/main" noGrp="1"/>
          </p:cNvSpPr>
          <p:nvPr/>
        </p:nvSpPr>
        <p:spPr>
          <a:xfrm xmlns:a="http://schemas.openxmlformats.org/drawingml/2006/main">
            <a:off x="571500" y="414337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Data access</a:t>
            </a:r>
          </a:p>
        </p:txBody>
      </p:sp>
      <p:sp>
        <p:nvSpPr>
          <p:cNvPr id="10" name="">
            <a:extLst xmlns:a="http://schemas.openxmlformats.org/drawingml/2006/main">
              <a:ext uri="{FF2B5EF4-FFF2-40B4-BE49-F238E27FC236}">
                <a16:creationId xmlns:a16="http://schemas.microsoft.com/office/drawing/2014/main" id="{EF6F8A60-D7D1-4195-865C-375DA9FE21D7}"/>
              </a:ext>
            </a:extLst>
          </p:cNvPr>
          <p:cNvSpPr>
            <a:spLocks xmlns:a="http://schemas.openxmlformats.org/drawingml/2006/main" noGrp="1"/>
          </p:cNvSpPr>
          <p:nvPr/>
        </p:nvSpPr>
        <p:spPr>
          <a:xfrm xmlns:a="http://schemas.openxmlformats.org/drawingml/2006/main">
            <a:off x="3810000" y="414337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Database pagination now bounds product, catalog and job lists. Connection pooling and registry ownership remain architecture work.</a:t>
            </a:r>
          </a:p>
        </p:txBody>
      </p:sp>
      <p:sp>
        <p:nvSpPr>
          <p:cNvPr id="11" name="">
            <a:extLst xmlns:a="http://schemas.openxmlformats.org/drawingml/2006/main">
              <a:ext uri="{FF2B5EF4-FFF2-40B4-BE49-F238E27FC236}">
                <a16:creationId xmlns:a16="http://schemas.microsoft.com/office/drawing/2014/main" id="{215CA3C6-F9BA-4CCA-B031-433B4F74A3A3}"/>
              </a:ext>
            </a:extLst>
          </p:cNvPr>
          <p:cNvSpPr>
            <a:spLocks xmlns:a="http://schemas.openxmlformats.org/drawingml/2006/main" noGrp="1"/>
          </p:cNvSpPr>
          <p:nvPr/>
        </p:nvSpPr>
        <p:spPr>
          <a:xfrm xmlns:a="http://schemas.openxmlformats.org/drawingml/2006/main">
            <a:off x="571500" y="5238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Release evidence</a:t>
            </a:r>
          </a:p>
        </p:txBody>
      </p:sp>
      <p:sp>
        <p:nvSpPr>
          <p:cNvPr id="12" name="">
            <a:extLst xmlns:a="http://schemas.openxmlformats.org/drawingml/2006/main">
              <a:ext uri="{FF2B5EF4-FFF2-40B4-BE49-F238E27FC236}">
                <a16:creationId xmlns:a16="http://schemas.microsoft.com/office/drawing/2014/main" id="{498BFC94-89A0-4C58-ABF0-08F765D73008}"/>
              </a:ext>
            </a:extLst>
          </p:cNvPr>
          <p:cNvSpPr>
            <a:spLocks xmlns:a="http://schemas.openxmlformats.org/drawingml/2006/main" noGrp="1"/>
          </p:cNvSpPr>
          <p:nvPr/>
        </p:nvSpPr>
        <p:spPr>
          <a:xfrm xmlns:a="http://schemas.openxmlformats.org/drawingml/2006/main">
            <a:off x="3810000" y="5238750"/>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Customer acceptance still needs live service, graph and browser checks. Focused repository tests do not certify deployment.</a:t>
            </a:r>
          </a:p>
        </p:txBody>
      </p:sp>
    </p:spTree>
    <p:extLst>
      <p:ext uri="{BB962C8B-B14F-4D97-AF65-F5344CB8AC3E}">
        <p14:creationId xmlns:p14="http://schemas.microsoft.com/office/powerpoint/2010/main" val="1319095463"/>
      </p:ext>
    </p:extLst>
  </p:cSld>
</p:sld>
</file>

<file path=ppt/slides/slide2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B666874-33CE-4068-9945-CB13643D98BF}"/>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Offline LLM deployment</a:t>
            </a:r>
          </a:p>
        </p:txBody>
      </p:sp>
      <p:sp>
        <p:nvSpPr>
          <p:cNvPr id="2" name="">
            <a:extLst xmlns:a="http://schemas.openxmlformats.org/drawingml/2006/main">
              <a:ext uri="{FF2B5EF4-FFF2-40B4-BE49-F238E27FC236}">
                <a16:creationId xmlns:a16="http://schemas.microsoft.com/office/drawing/2014/main" id="{EE49282C-A4EC-42AA-9287-8430F88AD824}"/>
              </a:ext>
            </a:extLst>
          </p:cNvPr>
          <p:cNvSpPr>
            <a:spLocks xmlns:a="http://schemas.openxmlformats.org/drawingml/2006/main" noGrp="1"/>
          </p:cNvSpPr>
          <p:nvPr/>
        </p:nvSpPr>
        <p:spPr>
          <a:xfrm xmlns:a="http://schemas.openxmlformats.org/drawingml/2006/main">
            <a:off x="571500" y="11144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Target deployment: internal services and pre-provisioned models; no external inference dependency.</a:t>
            </a:r>
          </a:p>
        </p:txBody>
      </p:sp>
      <p:sp>
        <p:nvSpPr>
          <p:cNvPr id="3" name="">
            <a:extLst xmlns:a="http://schemas.openxmlformats.org/drawingml/2006/main">
              <a:ext uri="{FF2B5EF4-FFF2-40B4-BE49-F238E27FC236}">
                <a16:creationId xmlns:a16="http://schemas.microsoft.com/office/drawing/2014/main" id="{3863A59F-52B5-4DF9-8C60-F83A9FF2C469}"/>
              </a:ext>
            </a:extLst>
          </p:cNvPr>
          <p:cNvSpPr>
            <a:spLocks xmlns:a="http://schemas.openxmlformats.org/drawingml/2006/main" noGrp="1"/>
          </p:cNvSpPr>
          <p:nvPr/>
        </p:nvSpPr>
        <p:spPr>
          <a:xfrm xmlns:a="http://schemas.openxmlformats.org/drawingml/2006/main">
            <a:off x="571500" y="64293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Architecture review • 6 October 2026</a:t>
            </a:r>
          </a:p>
        </p:txBody>
      </p:sp>
      <p:sp>
        <p:nvSpPr>
          <p:cNvPr id="4" name="">
            <a:extLst xmlns:a="http://schemas.openxmlformats.org/drawingml/2006/main">
              <a:ext uri="{FF2B5EF4-FFF2-40B4-BE49-F238E27FC236}">
                <a16:creationId xmlns:a16="http://schemas.microsoft.com/office/drawing/2014/main" id="{0096F644-6135-4746-8A41-58CC62CBB0D1}"/>
              </a:ext>
            </a:extLst>
          </p:cNvPr>
          <p:cNvSpPr>
            <a:spLocks xmlns:a="http://schemas.openxmlformats.org/drawingml/2006/main" noGrp="1"/>
          </p:cNvSpPr>
          <p:nvPr/>
        </p:nvSpPr>
        <p:spPr>
          <a:xfrm xmlns:a="http://schemas.openxmlformats.org/drawingml/2006/main">
            <a:off x="11049000" y="64293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207CD73F-0A5C-4A08-BB46-6D05CF790696}"/>
              </a:ext>
            </a:extLst>
          </p:cNvPr>
          <p:cNvSpPr>
            <a:spLocks xmlns:a="http://schemas.openxmlformats.org/drawingml/2006/main" noGrp="1"/>
          </p:cNvSpPr>
          <p:nvPr/>
        </p:nvSpPr>
        <p:spPr>
          <a:xfrm xmlns:a="http://schemas.openxmlformats.org/drawingml/2006/main">
            <a:off x="571500" y="2095500"/>
            <a:ext cx="3048000" cy="128587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6" name="">
            <a:extLst xmlns:a="http://schemas.openxmlformats.org/drawingml/2006/main">
              <a:ext uri="{FF2B5EF4-FFF2-40B4-BE49-F238E27FC236}">
                <a16:creationId xmlns:a16="http://schemas.microsoft.com/office/drawing/2014/main" id="{62D38A53-D697-45FB-8601-2EE06C6A59D0}"/>
              </a:ext>
            </a:extLst>
          </p:cNvPr>
          <p:cNvSpPr>
            <a:spLocks xmlns:a="http://schemas.openxmlformats.org/drawingml/2006/main" noGrp="1"/>
          </p:cNvSpPr>
          <p:nvPr/>
        </p:nvSpPr>
        <p:spPr>
          <a:xfrm xmlns:a="http://schemas.openxmlformats.org/drawingml/2006/main">
            <a:off x="723900" y="2228850"/>
            <a:ext cx="2743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Browser</a:t>
            </a:r>
          </a:p>
        </p:txBody>
      </p:sp>
      <p:sp>
        <p:nvSpPr>
          <p:cNvPr id="7" name="">
            <a:extLst xmlns:a="http://schemas.openxmlformats.org/drawingml/2006/main">
              <a:ext uri="{FF2B5EF4-FFF2-40B4-BE49-F238E27FC236}">
                <a16:creationId xmlns:a16="http://schemas.microsoft.com/office/drawing/2014/main" id="{A4939169-3B67-48E1-9FF2-4C7A0FB3E26B}"/>
              </a:ext>
            </a:extLst>
          </p:cNvPr>
          <p:cNvSpPr>
            <a:spLocks xmlns:a="http://schemas.openxmlformats.org/drawingml/2006/main" noGrp="1"/>
          </p:cNvSpPr>
          <p:nvPr/>
        </p:nvSpPr>
        <p:spPr>
          <a:xfrm xmlns:a="http://schemas.openxmlformats.org/drawingml/2006/main">
            <a:off x="723900" y="2628900"/>
            <a:ext cx="274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DEPO frontend</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Same internal network</a:t>
            </a:r>
          </a:p>
        </p:txBody>
      </p:sp>
      <p:sp>
        <p:nvSpPr>
          <p:cNvPr id="8" name="">
            <a:extLst xmlns:a="http://schemas.openxmlformats.org/drawingml/2006/main">
              <a:ext uri="{FF2B5EF4-FFF2-40B4-BE49-F238E27FC236}">
                <a16:creationId xmlns:a16="http://schemas.microsoft.com/office/drawing/2014/main" id="{ED079673-182A-4883-83D6-AF11F3463E21}"/>
              </a:ext>
            </a:extLst>
          </p:cNvPr>
          <p:cNvSpPr>
            <a:spLocks xmlns:a="http://schemas.openxmlformats.org/drawingml/2006/main" noGrp="1"/>
          </p:cNvSpPr>
          <p:nvPr/>
        </p:nvSpPr>
        <p:spPr>
          <a:xfrm xmlns:a="http://schemas.openxmlformats.org/drawingml/2006/main">
            <a:off x="4572000" y="2095500"/>
            <a:ext cx="3048000" cy="128587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9" name="">
            <a:extLst xmlns:a="http://schemas.openxmlformats.org/drawingml/2006/main">
              <a:ext uri="{FF2B5EF4-FFF2-40B4-BE49-F238E27FC236}">
                <a16:creationId xmlns:a16="http://schemas.microsoft.com/office/drawing/2014/main" id="{3D6C1D3C-4960-4669-AF84-48466A8BB4B9}"/>
              </a:ext>
            </a:extLst>
          </p:cNvPr>
          <p:cNvSpPr>
            <a:spLocks xmlns:a="http://schemas.openxmlformats.org/drawingml/2006/main" noGrp="1"/>
          </p:cNvSpPr>
          <p:nvPr/>
        </p:nvSpPr>
        <p:spPr>
          <a:xfrm xmlns:a="http://schemas.openxmlformats.org/drawingml/2006/main">
            <a:off x="4724400" y="2228850"/>
            <a:ext cx="2743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DEPO services</a:t>
            </a:r>
          </a:p>
        </p:txBody>
      </p:sp>
      <p:sp>
        <p:nvSpPr>
          <p:cNvPr id="10" name="">
            <a:extLst xmlns:a="http://schemas.openxmlformats.org/drawingml/2006/main">
              <a:ext uri="{FF2B5EF4-FFF2-40B4-BE49-F238E27FC236}">
                <a16:creationId xmlns:a16="http://schemas.microsoft.com/office/drawing/2014/main" id="{CA0472F2-02DF-461A-8C51-82112465872C}"/>
              </a:ext>
            </a:extLst>
          </p:cNvPr>
          <p:cNvSpPr>
            <a:spLocks xmlns:a="http://schemas.openxmlformats.org/drawingml/2006/main" noGrp="1"/>
          </p:cNvSpPr>
          <p:nvPr/>
        </p:nvSpPr>
        <p:spPr>
          <a:xfrm xmlns:a="http://schemas.openxmlformats.org/drawingml/2006/main">
            <a:off x="4724400" y="2628900"/>
            <a:ext cx="274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Agentic orchestration</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Governed tool calls</a:t>
            </a:r>
          </a:p>
        </p:txBody>
      </p:sp>
      <p:sp>
        <p:nvSpPr>
          <p:cNvPr id="11" name="">
            <a:extLst xmlns:a="http://schemas.openxmlformats.org/drawingml/2006/main">
              <a:ext uri="{FF2B5EF4-FFF2-40B4-BE49-F238E27FC236}">
                <a16:creationId xmlns:a16="http://schemas.microsoft.com/office/drawing/2014/main" id="{2291367F-FF3D-470D-B72A-579C29DA6F6B}"/>
              </a:ext>
            </a:extLst>
          </p:cNvPr>
          <p:cNvSpPr>
            <a:spLocks xmlns:a="http://schemas.openxmlformats.org/drawingml/2006/main" noGrp="1"/>
          </p:cNvSpPr>
          <p:nvPr/>
        </p:nvSpPr>
        <p:spPr>
          <a:xfrm xmlns:a="http://schemas.openxmlformats.org/drawingml/2006/main">
            <a:off x="8572500" y="2095500"/>
            <a:ext cx="3048000" cy="128587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2" name="">
            <a:extLst xmlns:a="http://schemas.openxmlformats.org/drawingml/2006/main">
              <a:ext uri="{FF2B5EF4-FFF2-40B4-BE49-F238E27FC236}">
                <a16:creationId xmlns:a16="http://schemas.microsoft.com/office/drawing/2014/main" id="{A29341F5-0CC0-4926-86C7-8BD2CC4C668D}"/>
              </a:ext>
            </a:extLst>
          </p:cNvPr>
          <p:cNvSpPr>
            <a:spLocks xmlns:a="http://schemas.openxmlformats.org/drawingml/2006/main" noGrp="1"/>
          </p:cNvSpPr>
          <p:nvPr/>
        </p:nvSpPr>
        <p:spPr>
          <a:xfrm xmlns:a="http://schemas.openxmlformats.org/drawingml/2006/main">
            <a:off x="8724900" y="2228850"/>
            <a:ext cx="2743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Local Ollama</a:t>
            </a:r>
          </a:p>
        </p:txBody>
      </p:sp>
      <p:sp>
        <p:nvSpPr>
          <p:cNvPr id="13" name="">
            <a:extLst xmlns:a="http://schemas.openxmlformats.org/drawingml/2006/main">
              <a:ext uri="{FF2B5EF4-FFF2-40B4-BE49-F238E27FC236}">
                <a16:creationId xmlns:a16="http://schemas.microsoft.com/office/drawing/2014/main" id="{A4E8D824-EEA5-457C-968F-6D6D568F5438}"/>
              </a:ext>
            </a:extLst>
          </p:cNvPr>
          <p:cNvSpPr>
            <a:spLocks xmlns:a="http://schemas.openxmlformats.org/drawingml/2006/main" noGrp="1"/>
          </p:cNvSpPr>
          <p:nvPr/>
        </p:nvSpPr>
        <p:spPr>
          <a:xfrm xmlns:a="http://schemas.openxmlformats.org/drawingml/2006/main">
            <a:off x="8724900" y="2628900"/>
            <a:ext cx="274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Generation + embeddings</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App VM or internal VM</a:t>
            </a:r>
          </a:p>
        </p:txBody>
      </p:sp>
      <p:cxnSp>
        <p:nvCxnSpPr>
          <p:cNvPr id="84" name=""/>
          <p:cNvCxnSpPr>
            <a:stCxn xmlns:a="http://schemas.openxmlformats.org/drawingml/2006/main" id="5" idx="3"/>
            <a:endCxn xmlns:a="http://schemas.openxmlformats.org/drawingml/2006/main" id="8" idx="1"/>
          </p:cNvCxnSpPr>
          <p:nvPr/>
        </p:nvCxnSpPr>
        <p:spPr>
          <a:xfrm xmlns:a="http://schemas.openxmlformats.org/drawingml/2006/main">
            <a:off x="3619500" y="2738438"/>
            <a:ext cx="9525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85" name=""/>
          <p:cNvCxnSpPr>
            <a:stCxn xmlns:a="http://schemas.openxmlformats.org/drawingml/2006/main" id="8" idx="3"/>
            <a:endCxn xmlns:a="http://schemas.openxmlformats.org/drawingml/2006/main" id="11" idx="1"/>
          </p:cNvCxnSpPr>
          <p:nvPr/>
        </p:nvCxnSpPr>
        <p:spPr>
          <a:xfrm xmlns:a="http://schemas.openxmlformats.org/drawingml/2006/main">
            <a:off x="7620000" y="2738438"/>
            <a:ext cx="952500" cy="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16" name="">
            <a:extLst xmlns:a="http://schemas.openxmlformats.org/drawingml/2006/main">
              <a:ext uri="{FF2B5EF4-FFF2-40B4-BE49-F238E27FC236}">
                <a16:creationId xmlns:a16="http://schemas.microsoft.com/office/drawing/2014/main" id="{6B8DFE14-EE75-4999-B5D2-214091715607}"/>
              </a:ext>
            </a:extLst>
          </p:cNvPr>
          <p:cNvSpPr>
            <a:spLocks xmlns:a="http://schemas.openxmlformats.org/drawingml/2006/main" noGrp="1"/>
          </p:cNvSpPr>
          <p:nvPr/>
        </p:nvSpPr>
        <p:spPr>
          <a:xfrm xmlns:a="http://schemas.openxmlformats.org/drawingml/2006/main">
            <a:off x="2571750" y="4191000"/>
            <a:ext cx="304800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7" name="">
            <a:extLst xmlns:a="http://schemas.openxmlformats.org/drawingml/2006/main">
              <a:ext uri="{FF2B5EF4-FFF2-40B4-BE49-F238E27FC236}">
                <a16:creationId xmlns:a16="http://schemas.microsoft.com/office/drawing/2014/main" id="{5CBEA095-1906-4C1E-94D4-0080A6C496B7}"/>
              </a:ext>
            </a:extLst>
          </p:cNvPr>
          <p:cNvSpPr>
            <a:spLocks xmlns:a="http://schemas.openxmlformats.org/drawingml/2006/main" noGrp="1"/>
          </p:cNvSpPr>
          <p:nvPr/>
        </p:nvSpPr>
        <p:spPr>
          <a:xfrm xmlns:a="http://schemas.openxmlformats.org/drawingml/2006/main">
            <a:off x="2724150" y="4324350"/>
            <a:ext cx="2743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PostgreSQL</a:t>
            </a:r>
          </a:p>
        </p:txBody>
      </p:sp>
      <p:sp>
        <p:nvSpPr>
          <p:cNvPr id="18" name="">
            <a:extLst xmlns:a="http://schemas.openxmlformats.org/drawingml/2006/main">
              <a:ext uri="{FF2B5EF4-FFF2-40B4-BE49-F238E27FC236}">
                <a16:creationId xmlns:a16="http://schemas.microsoft.com/office/drawing/2014/main" id="{B8527DED-6401-41E2-AF5E-642CAF50E3D8}"/>
              </a:ext>
            </a:extLst>
          </p:cNvPr>
          <p:cNvSpPr>
            <a:spLocks xmlns:a="http://schemas.openxmlformats.org/drawingml/2006/main" noGrp="1"/>
          </p:cNvSpPr>
          <p:nvPr/>
        </p:nvSpPr>
        <p:spPr>
          <a:xfrm xmlns:a="http://schemas.openxmlformats.org/drawingml/2006/main">
            <a:off x="2724150" y="4724400"/>
            <a:ext cx="2743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Jobs, sessions, approvals</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Credential digests</a:t>
            </a:r>
          </a:p>
        </p:txBody>
      </p:sp>
      <p:sp>
        <p:nvSpPr>
          <p:cNvPr id="19" name="">
            <a:extLst xmlns:a="http://schemas.openxmlformats.org/drawingml/2006/main">
              <a:ext uri="{FF2B5EF4-FFF2-40B4-BE49-F238E27FC236}">
                <a16:creationId xmlns:a16="http://schemas.microsoft.com/office/drawing/2014/main" id="{22BA43CB-00DC-48CA-B601-020199FE09AB}"/>
              </a:ext>
            </a:extLst>
          </p:cNvPr>
          <p:cNvSpPr>
            <a:spLocks xmlns:a="http://schemas.openxmlformats.org/drawingml/2006/main" noGrp="1"/>
          </p:cNvSpPr>
          <p:nvPr/>
        </p:nvSpPr>
        <p:spPr>
          <a:xfrm xmlns:a="http://schemas.openxmlformats.org/drawingml/2006/main">
            <a:off x="6572250" y="4191000"/>
            <a:ext cx="3048000" cy="12382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20" name="">
            <a:extLst xmlns:a="http://schemas.openxmlformats.org/drawingml/2006/main">
              <a:ext uri="{FF2B5EF4-FFF2-40B4-BE49-F238E27FC236}">
                <a16:creationId xmlns:a16="http://schemas.microsoft.com/office/drawing/2014/main" id="{3CAC838F-93A4-4C2A-AB0A-00EF276AC3B3}"/>
              </a:ext>
            </a:extLst>
          </p:cNvPr>
          <p:cNvSpPr>
            <a:spLocks xmlns:a="http://schemas.openxmlformats.org/drawingml/2006/main" noGrp="1"/>
          </p:cNvSpPr>
          <p:nvPr/>
        </p:nvSpPr>
        <p:spPr>
          <a:xfrm xmlns:a="http://schemas.openxmlformats.org/drawingml/2006/main">
            <a:off x="6724650" y="4324350"/>
            <a:ext cx="2743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Neo4j + artifacts</a:t>
            </a:r>
          </a:p>
        </p:txBody>
      </p:sp>
      <p:sp>
        <p:nvSpPr>
          <p:cNvPr id="21" name="">
            <a:extLst xmlns:a="http://schemas.openxmlformats.org/drawingml/2006/main">
              <a:ext uri="{FF2B5EF4-FFF2-40B4-BE49-F238E27FC236}">
                <a16:creationId xmlns:a16="http://schemas.microsoft.com/office/drawing/2014/main" id="{F8AC1771-76C3-4462-8194-D97320FBBDDC}"/>
              </a:ext>
            </a:extLst>
          </p:cNvPr>
          <p:cNvSpPr>
            <a:spLocks xmlns:a="http://schemas.openxmlformats.org/drawingml/2006/main" noGrp="1"/>
          </p:cNvSpPr>
          <p:nvPr/>
        </p:nvSpPr>
        <p:spPr>
          <a:xfrm xmlns:a="http://schemas.openxmlformats.org/drawingml/2006/main">
            <a:off x="6724650" y="4724400"/>
            <a:ext cx="2743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Context and provenance</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Source and shape versions</a:t>
            </a:r>
          </a:p>
        </p:txBody>
      </p:sp>
      <p:cxnSp>
        <p:nvCxnSpPr>
          <p:cNvPr id="92" name=""/>
          <p:cNvCxnSpPr>
            <a:stCxn xmlns:a="http://schemas.openxmlformats.org/drawingml/2006/main" id="8" idx="2"/>
            <a:endCxn xmlns:a="http://schemas.openxmlformats.org/drawingml/2006/main" id="16" idx="0"/>
          </p:cNvCxnSpPr>
          <p:nvPr/>
        </p:nvCxnSpPr>
        <p:spPr>
          <a:xfrm xmlns:a="http://schemas.openxmlformats.org/drawingml/2006/main" flipH="1">
            <a:off x="4095750" y="3381375"/>
            <a:ext cx="2000250" cy="809625"/>
          </a:xfrm>
          <a:prstGeom xmlns:a="http://schemas.openxmlformats.org/drawingml/2006/main" prst="bentConnector4">
            <a:avLst>
              <a:gd name="adj1" fmla="val 0"/>
              <a:gd name="adj2" fmla="val 50000"/>
            </a:avLst>
          </a:prstGeom>
          <a:ln xmlns:a="http://schemas.openxmlformats.org/drawingml/2006/main" w="19050">
            <a:solidFill>
              <a:srgbClr val="008594"/>
            </a:solidFill>
            <a:tailEnd type="arrow" w="med" len="med"/>
          </a:ln>
        </p:spPr>
      </p:cxnSp>
      <p:cxnSp>
        <p:nvCxnSpPr>
          <p:cNvPr id="93" name=""/>
          <p:cNvCxnSpPr>
            <a:stCxn xmlns:a="http://schemas.openxmlformats.org/drawingml/2006/main" id="8" idx="2"/>
            <a:endCxn xmlns:a="http://schemas.openxmlformats.org/drawingml/2006/main" id="19" idx="0"/>
          </p:cNvCxnSpPr>
          <p:nvPr/>
        </p:nvCxnSpPr>
        <p:spPr>
          <a:xfrm xmlns:a="http://schemas.openxmlformats.org/drawingml/2006/main">
            <a:off x="6096000" y="3381375"/>
            <a:ext cx="2000250" cy="809625"/>
          </a:xfrm>
          <a:prstGeom xmlns:a="http://schemas.openxmlformats.org/drawingml/2006/main" prst="bentConnector4">
            <a:avLst>
              <a:gd name="adj1" fmla="val 0"/>
              <a:gd name="adj2" fmla="val 50000"/>
            </a:avLst>
          </a:prstGeom>
          <a:ln xmlns:a="http://schemas.openxmlformats.org/drawingml/2006/main" w="19050">
            <a:solidFill>
              <a:srgbClr val="008594"/>
            </a:solidFill>
            <a:tailEnd type="arrow" w="med" len="med"/>
          </a:ln>
        </p:spPr>
      </p:cxnSp>
      <p:sp>
        <p:nvSpPr>
          <p:cNvPr id="24" name="">
            <a:extLst xmlns:a="http://schemas.openxmlformats.org/drawingml/2006/main">
              <a:ext uri="{FF2B5EF4-FFF2-40B4-BE49-F238E27FC236}">
                <a16:creationId xmlns:a16="http://schemas.microsoft.com/office/drawing/2014/main" id="{9897EAB3-455B-4415-9214-232DAE73C09B}"/>
              </a:ext>
            </a:extLst>
          </p:cNvPr>
          <p:cNvSpPr>
            <a:spLocks xmlns:a="http://schemas.openxmlformats.org/drawingml/2006/main" noGrp="1"/>
          </p:cNvSpPr>
          <p:nvPr/>
        </p:nvSpPr>
        <p:spPr>
          <a:xfrm xmlns:a="http://schemas.openxmlformats.org/drawingml/2006/main">
            <a:off x="571500" y="578167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Preload packages, models and OCR assets. Azure APIM endpoints require network access.</a:t>
            </a:r>
          </a:p>
        </p:txBody>
      </p:sp>
    </p:spTree>
    <p:extLst>
      <p:ext uri="{BB962C8B-B14F-4D97-AF65-F5344CB8AC3E}">
        <p14:creationId xmlns:p14="http://schemas.microsoft.com/office/powerpoint/2010/main" val="794711461"/>
      </p:ext>
    </p:extLst>
  </p:cSld>
</p:sld>
</file>

<file path=ppt/slides/slide2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95A5A4-6D9E-4F4D-8482-A54428869723}"/>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Agent recovery and human approval</a:t>
            </a:r>
          </a:p>
        </p:txBody>
      </p:sp>
      <p:sp>
        <p:nvSpPr>
          <p:cNvPr id="2" name="">
            <a:extLst xmlns:a="http://schemas.openxmlformats.org/drawingml/2006/main">
              <a:ext uri="{FF2B5EF4-FFF2-40B4-BE49-F238E27FC236}">
                <a16:creationId xmlns:a16="http://schemas.microsoft.com/office/drawing/2014/main" id="{D73C1DC4-F09A-44DB-8B4F-CDFA1EED0A7F}"/>
              </a:ext>
            </a:extLst>
          </p:cNvPr>
          <p:cNvSpPr>
            <a:spLocks xmlns:a="http://schemas.openxmlformats.org/drawingml/2006/main" noGrp="1"/>
          </p:cNvSpPr>
          <p:nvPr/>
        </p:nvSpPr>
        <p:spPr>
          <a:xfrm xmlns:a="http://schemas.openxmlformats.org/drawingml/2006/main">
            <a:off x="571500" y="11144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Target workflow: durable checkpoints, idempotent tools and publication receipts.</a:t>
            </a:r>
          </a:p>
        </p:txBody>
      </p:sp>
      <p:sp>
        <p:nvSpPr>
          <p:cNvPr id="3" name="">
            <a:extLst xmlns:a="http://schemas.openxmlformats.org/drawingml/2006/main">
              <a:ext uri="{FF2B5EF4-FFF2-40B4-BE49-F238E27FC236}">
                <a16:creationId xmlns:a16="http://schemas.microsoft.com/office/drawing/2014/main" id="{0D87E0E1-A7A9-4733-8556-110DAB3C163B}"/>
              </a:ext>
            </a:extLst>
          </p:cNvPr>
          <p:cNvSpPr>
            <a:spLocks xmlns:a="http://schemas.openxmlformats.org/drawingml/2006/main" noGrp="1"/>
          </p:cNvSpPr>
          <p:nvPr/>
        </p:nvSpPr>
        <p:spPr>
          <a:xfrm xmlns:a="http://schemas.openxmlformats.org/drawingml/2006/main">
            <a:off x="571500" y="64293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Architecture review • 6 October 2026</a:t>
            </a:r>
          </a:p>
        </p:txBody>
      </p:sp>
      <p:sp>
        <p:nvSpPr>
          <p:cNvPr id="4" name="">
            <a:extLst xmlns:a="http://schemas.openxmlformats.org/drawingml/2006/main">
              <a:ext uri="{FF2B5EF4-FFF2-40B4-BE49-F238E27FC236}">
                <a16:creationId xmlns:a16="http://schemas.microsoft.com/office/drawing/2014/main" id="{67623082-2938-42E6-A76D-3C5FE5EC11C5}"/>
              </a:ext>
            </a:extLst>
          </p:cNvPr>
          <p:cNvSpPr>
            <a:spLocks xmlns:a="http://schemas.openxmlformats.org/drawingml/2006/main" noGrp="1"/>
          </p:cNvSpPr>
          <p:nvPr/>
        </p:nvSpPr>
        <p:spPr>
          <a:xfrm xmlns:a="http://schemas.openxmlformats.org/drawingml/2006/main">
            <a:off x="11049000" y="64293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DB74C95D-A1BD-4A17-A8BC-AFABB341C27D}"/>
              </a:ext>
            </a:extLst>
          </p:cNvPr>
          <p:cNvSpPr>
            <a:spLocks xmlns:a="http://schemas.openxmlformats.org/drawingml/2006/main" noGrp="1"/>
          </p:cNvSpPr>
          <p:nvPr/>
        </p:nvSpPr>
        <p:spPr>
          <a:xfrm xmlns:a="http://schemas.openxmlformats.org/drawingml/2006/main">
            <a:off x="5715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6" name="">
            <a:extLst xmlns:a="http://schemas.openxmlformats.org/drawingml/2006/main">
              <a:ext uri="{FF2B5EF4-FFF2-40B4-BE49-F238E27FC236}">
                <a16:creationId xmlns:a16="http://schemas.microsoft.com/office/drawing/2014/main" id="{97B8A5E6-9545-40E3-8393-A45B44329CA3}"/>
              </a:ext>
            </a:extLst>
          </p:cNvPr>
          <p:cNvSpPr>
            <a:spLocks xmlns:a="http://schemas.openxmlformats.org/drawingml/2006/main" noGrp="1"/>
          </p:cNvSpPr>
          <p:nvPr/>
        </p:nvSpPr>
        <p:spPr>
          <a:xfrm xmlns:a="http://schemas.openxmlformats.org/drawingml/2006/main">
            <a:off x="7239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Request</a:t>
            </a:r>
          </a:p>
        </p:txBody>
      </p:sp>
      <p:sp>
        <p:nvSpPr>
          <p:cNvPr id="7" name="">
            <a:extLst xmlns:a="http://schemas.openxmlformats.org/drawingml/2006/main">
              <a:ext uri="{FF2B5EF4-FFF2-40B4-BE49-F238E27FC236}">
                <a16:creationId xmlns:a16="http://schemas.microsoft.com/office/drawing/2014/main" id="{87B05584-8AC1-4DD7-8912-E849938E237E}"/>
              </a:ext>
            </a:extLst>
          </p:cNvPr>
          <p:cNvSpPr>
            <a:spLocks xmlns:a="http://schemas.openxmlformats.org/drawingml/2006/main" noGrp="1"/>
          </p:cNvSpPr>
          <p:nvPr/>
        </p:nvSpPr>
        <p:spPr>
          <a:xfrm xmlns:a="http://schemas.openxmlformats.org/drawingml/2006/main">
            <a:off x="7239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Assign run ID</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Persist input</a:t>
            </a:r>
          </a:p>
        </p:txBody>
      </p:sp>
      <p:sp>
        <p:nvSpPr>
          <p:cNvPr id="8" name="">
            <a:extLst xmlns:a="http://schemas.openxmlformats.org/drawingml/2006/main">
              <a:ext uri="{FF2B5EF4-FFF2-40B4-BE49-F238E27FC236}">
                <a16:creationId xmlns:a16="http://schemas.microsoft.com/office/drawing/2014/main" id="{83923519-AF05-463E-925D-51280575CCB7}"/>
              </a:ext>
            </a:extLst>
          </p:cNvPr>
          <p:cNvSpPr>
            <a:spLocks xmlns:a="http://schemas.openxmlformats.org/drawingml/2006/main" noGrp="1"/>
          </p:cNvSpPr>
          <p:nvPr/>
        </p:nvSpPr>
        <p:spPr>
          <a:xfrm xmlns:a="http://schemas.openxmlformats.org/drawingml/2006/main">
            <a:off x="34290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9" name="">
            <a:extLst xmlns:a="http://schemas.openxmlformats.org/drawingml/2006/main">
              <a:ext uri="{FF2B5EF4-FFF2-40B4-BE49-F238E27FC236}">
                <a16:creationId xmlns:a16="http://schemas.microsoft.com/office/drawing/2014/main" id="{22059797-1694-4AB5-AC9E-A06B14AB1F18}"/>
              </a:ext>
            </a:extLst>
          </p:cNvPr>
          <p:cNvSpPr>
            <a:spLocks xmlns:a="http://schemas.openxmlformats.org/drawingml/2006/main" noGrp="1"/>
          </p:cNvSpPr>
          <p:nvPr/>
        </p:nvSpPr>
        <p:spPr>
          <a:xfrm xmlns:a="http://schemas.openxmlformats.org/drawingml/2006/main">
            <a:off x="35814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Execute</a:t>
            </a:r>
          </a:p>
        </p:txBody>
      </p:sp>
      <p:sp>
        <p:nvSpPr>
          <p:cNvPr id="10" name="">
            <a:extLst xmlns:a="http://schemas.openxmlformats.org/drawingml/2006/main">
              <a:ext uri="{FF2B5EF4-FFF2-40B4-BE49-F238E27FC236}">
                <a16:creationId xmlns:a16="http://schemas.microsoft.com/office/drawing/2014/main" id="{92F55E1A-4BE5-482D-BEDD-681076DFF885}"/>
              </a:ext>
            </a:extLst>
          </p:cNvPr>
          <p:cNvSpPr>
            <a:spLocks xmlns:a="http://schemas.openxmlformats.org/drawingml/2006/main" noGrp="1"/>
          </p:cNvSpPr>
          <p:nvPr/>
        </p:nvSpPr>
        <p:spPr>
          <a:xfrm xmlns:a="http://schemas.openxmlformats.org/drawingml/2006/main">
            <a:off x="35814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Checkpoint steps</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Bound tool calls</a:t>
            </a:r>
          </a:p>
        </p:txBody>
      </p:sp>
      <p:sp>
        <p:nvSpPr>
          <p:cNvPr id="11" name="">
            <a:extLst xmlns:a="http://schemas.openxmlformats.org/drawingml/2006/main">
              <a:ext uri="{FF2B5EF4-FFF2-40B4-BE49-F238E27FC236}">
                <a16:creationId xmlns:a16="http://schemas.microsoft.com/office/drawing/2014/main" id="{636CAE8D-7A3B-4DAF-AC1D-843753D53061}"/>
              </a:ext>
            </a:extLst>
          </p:cNvPr>
          <p:cNvSpPr>
            <a:spLocks xmlns:a="http://schemas.openxmlformats.org/drawingml/2006/main" noGrp="1"/>
          </p:cNvSpPr>
          <p:nvPr/>
        </p:nvSpPr>
        <p:spPr>
          <a:xfrm xmlns:a="http://schemas.openxmlformats.org/drawingml/2006/main">
            <a:off x="62865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2" name="">
            <a:extLst xmlns:a="http://schemas.openxmlformats.org/drawingml/2006/main">
              <a:ext uri="{FF2B5EF4-FFF2-40B4-BE49-F238E27FC236}">
                <a16:creationId xmlns:a16="http://schemas.microsoft.com/office/drawing/2014/main" id="{FD078DBF-0B96-4138-8858-BE0CFB68EE26}"/>
              </a:ext>
            </a:extLst>
          </p:cNvPr>
          <p:cNvSpPr>
            <a:spLocks xmlns:a="http://schemas.openxmlformats.org/drawingml/2006/main" noGrp="1"/>
          </p:cNvSpPr>
          <p:nvPr/>
        </p:nvSpPr>
        <p:spPr>
          <a:xfrm xmlns:a="http://schemas.openxmlformats.org/drawingml/2006/main">
            <a:off x="64389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Review</a:t>
            </a:r>
          </a:p>
        </p:txBody>
      </p:sp>
      <p:sp>
        <p:nvSpPr>
          <p:cNvPr id="13" name="">
            <a:extLst xmlns:a="http://schemas.openxmlformats.org/drawingml/2006/main">
              <a:ext uri="{FF2B5EF4-FFF2-40B4-BE49-F238E27FC236}">
                <a16:creationId xmlns:a16="http://schemas.microsoft.com/office/drawing/2014/main" id="{A79B5CD6-5DE3-4918-9266-D273A5CD03E5}"/>
              </a:ext>
            </a:extLst>
          </p:cNvPr>
          <p:cNvSpPr>
            <a:spLocks xmlns:a="http://schemas.openxmlformats.org/drawingml/2006/main" noGrp="1"/>
          </p:cNvSpPr>
          <p:nvPr/>
        </p:nvSpPr>
        <p:spPr>
          <a:xfrm xmlns:a="http://schemas.openxmlformats.org/drawingml/2006/main">
            <a:off x="64389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Persist approval</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Resume same run</a:t>
            </a:r>
          </a:p>
        </p:txBody>
      </p:sp>
      <p:sp>
        <p:nvSpPr>
          <p:cNvPr id="14" name="">
            <a:extLst xmlns:a="http://schemas.openxmlformats.org/drawingml/2006/main">
              <a:ext uri="{FF2B5EF4-FFF2-40B4-BE49-F238E27FC236}">
                <a16:creationId xmlns:a16="http://schemas.microsoft.com/office/drawing/2014/main" id="{9F82C5A3-408A-470C-B489-340AB6748DE0}"/>
              </a:ext>
            </a:extLst>
          </p:cNvPr>
          <p:cNvSpPr>
            <a:spLocks xmlns:a="http://schemas.openxmlformats.org/drawingml/2006/main" noGrp="1"/>
          </p:cNvSpPr>
          <p:nvPr/>
        </p:nvSpPr>
        <p:spPr>
          <a:xfrm xmlns:a="http://schemas.openxmlformats.org/drawingml/2006/main">
            <a:off x="91440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5" name="">
            <a:extLst xmlns:a="http://schemas.openxmlformats.org/drawingml/2006/main">
              <a:ext uri="{FF2B5EF4-FFF2-40B4-BE49-F238E27FC236}">
                <a16:creationId xmlns:a16="http://schemas.microsoft.com/office/drawing/2014/main" id="{FB677623-21A7-469B-A414-521F83F8BF17}"/>
              </a:ext>
            </a:extLst>
          </p:cNvPr>
          <p:cNvSpPr>
            <a:spLocks xmlns:a="http://schemas.openxmlformats.org/drawingml/2006/main" noGrp="1"/>
          </p:cNvSpPr>
          <p:nvPr/>
        </p:nvSpPr>
        <p:spPr>
          <a:xfrm xmlns:a="http://schemas.openxmlformats.org/drawingml/2006/main">
            <a:off x="92964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Publish</a:t>
            </a:r>
          </a:p>
        </p:txBody>
      </p:sp>
      <p:sp>
        <p:nvSpPr>
          <p:cNvPr id="16" name="">
            <a:extLst xmlns:a="http://schemas.openxmlformats.org/drawingml/2006/main">
              <a:ext uri="{FF2B5EF4-FFF2-40B4-BE49-F238E27FC236}">
                <a16:creationId xmlns:a16="http://schemas.microsoft.com/office/drawing/2014/main" id="{CDD1A2B4-95FB-466C-8182-7396A969B499}"/>
              </a:ext>
            </a:extLst>
          </p:cNvPr>
          <p:cNvSpPr>
            <a:spLocks xmlns:a="http://schemas.openxmlformats.org/drawingml/2006/main" noGrp="1"/>
          </p:cNvSpPr>
          <p:nvPr/>
        </p:nvSpPr>
        <p:spPr>
          <a:xfrm xmlns:a="http://schemas.openxmlformats.org/drawingml/2006/main">
            <a:off x="92964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Verify receipt</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Retain evidence</a:t>
            </a:r>
          </a:p>
        </p:txBody>
      </p:sp>
      <p:cxnSp>
        <p:nvCxnSpPr>
          <p:cNvPr id="78" name=""/>
          <p:cNvCxnSpPr>
            <a:stCxn xmlns:a="http://schemas.openxmlformats.org/drawingml/2006/main" id="5" idx="3"/>
            <a:endCxn xmlns:a="http://schemas.openxmlformats.org/drawingml/2006/main" id="8" idx="1"/>
          </p:cNvCxnSpPr>
          <p:nvPr/>
        </p:nvCxnSpPr>
        <p:spPr>
          <a:xfrm xmlns:a="http://schemas.openxmlformats.org/drawingml/2006/main">
            <a:off x="3048000" y="2905125"/>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79" name=""/>
          <p:cNvCxnSpPr>
            <a:stCxn xmlns:a="http://schemas.openxmlformats.org/drawingml/2006/main" id="8" idx="3"/>
            <a:endCxn xmlns:a="http://schemas.openxmlformats.org/drawingml/2006/main" id="11" idx="1"/>
          </p:cNvCxnSpPr>
          <p:nvPr/>
        </p:nvCxnSpPr>
        <p:spPr>
          <a:xfrm xmlns:a="http://schemas.openxmlformats.org/drawingml/2006/main">
            <a:off x="5905500" y="2905125"/>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80" name=""/>
          <p:cNvCxnSpPr>
            <a:stCxn xmlns:a="http://schemas.openxmlformats.org/drawingml/2006/main" id="11" idx="3"/>
            <a:endCxn xmlns:a="http://schemas.openxmlformats.org/drawingml/2006/main" id="14" idx="1"/>
          </p:cNvCxnSpPr>
          <p:nvPr/>
        </p:nvCxnSpPr>
        <p:spPr>
          <a:xfrm xmlns:a="http://schemas.openxmlformats.org/drawingml/2006/main">
            <a:off x="8763000" y="2905125"/>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20" name="">
            <a:extLst xmlns:a="http://schemas.openxmlformats.org/drawingml/2006/main">
              <a:ext uri="{FF2B5EF4-FFF2-40B4-BE49-F238E27FC236}">
                <a16:creationId xmlns:a16="http://schemas.microsoft.com/office/drawing/2014/main" id="{4BFE5C3E-6C23-4254-B203-C0506D85974D}"/>
              </a:ext>
            </a:extLst>
          </p:cNvPr>
          <p:cNvSpPr>
            <a:spLocks xmlns:a="http://schemas.openxmlformats.org/drawingml/2006/main" noGrp="1"/>
          </p:cNvSpPr>
          <p:nvPr/>
        </p:nvSpPr>
        <p:spPr>
          <a:xfrm xmlns:a="http://schemas.openxmlformats.org/drawingml/2006/main">
            <a:off x="571500" y="41910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Recovery rule</a:t>
            </a:r>
          </a:p>
        </p:txBody>
      </p:sp>
      <p:sp>
        <p:nvSpPr>
          <p:cNvPr id="21" name="">
            <a:extLst xmlns:a="http://schemas.openxmlformats.org/drawingml/2006/main">
              <a:ext uri="{FF2B5EF4-FFF2-40B4-BE49-F238E27FC236}">
                <a16:creationId xmlns:a16="http://schemas.microsoft.com/office/drawing/2014/main" id="{C44264A1-F0C5-4D29-97E2-8DBF92A0E6DE}"/>
              </a:ext>
            </a:extLst>
          </p:cNvPr>
          <p:cNvSpPr>
            <a:spLocks xmlns:a="http://schemas.openxmlformats.org/drawingml/2006/main" noGrp="1"/>
          </p:cNvSpPr>
          <p:nvPr/>
        </p:nvSpPr>
        <p:spPr>
          <a:xfrm xmlns:a="http://schemas.openxmlformats.org/drawingml/2006/main">
            <a:off x="3810000" y="4191000"/>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A timeout can occur after a write committed. Check its receipt before repeating the operation.</a:t>
            </a:r>
          </a:p>
        </p:txBody>
      </p:sp>
      <p:sp>
        <p:nvSpPr>
          <p:cNvPr id="22" name="">
            <a:extLst xmlns:a="http://schemas.openxmlformats.org/drawingml/2006/main">
              <a:ext uri="{FF2B5EF4-FFF2-40B4-BE49-F238E27FC236}">
                <a16:creationId xmlns:a16="http://schemas.microsoft.com/office/drawing/2014/main" id="{65E33D2F-12A8-43F2-9FF9-641EDC24982D}"/>
              </a:ext>
            </a:extLst>
          </p:cNvPr>
          <p:cNvSpPr>
            <a:spLocks xmlns:a="http://schemas.openxmlformats.org/drawingml/2006/main" noGrp="1"/>
          </p:cNvSpPr>
          <p:nvPr/>
        </p:nvSpPr>
        <p:spPr>
          <a:xfrm xmlns:a="http://schemas.openxmlformats.org/drawingml/2006/main">
            <a:off x="571500" y="5238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Current limitation</a:t>
            </a:r>
          </a:p>
        </p:txBody>
      </p:sp>
      <p:sp>
        <p:nvSpPr>
          <p:cNvPr id="23" name="">
            <a:extLst xmlns:a="http://schemas.openxmlformats.org/drawingml/2006/main">
              <a:ext uri="{FF2B5EF4-FFF2-40B4-BE49-F238E27FC236}">
                <a16:creationId xmlns:a16="http://schemas.microsoft.com/office/drawing/2014/main" id="{676CF613-522A-48B7-9E32-0663B9F83892}"/>
              </a:ext>
            </a:extLst>
          </p:cNvPr>
          <p:cNvSpPr>
            <a:spLocks xmlns:a="http://schemas.openxmlformats.org/drawingml/2006/main" noGrp="1"/>
          </p:cNvSpPr>
          <p:nvPr/>
        </p:nvSpPr>
        <p:spPr>
          <a:xfrm xmlns:a="http://schemas.openxmlformats.org/drawingml/2006/main">
            <a:off x="3810000" y="5238750"/>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Agent pause/cancel is cooperative at tool boundaries. Durable workflow state alone does not establish restart recovery.</a:t>
            </a:r>
          </a:p>
        </p:txBody>
      </p:sp>
    </p:spTree>
    <p:extLst>
      <p:ext uri="{BB962C8B-B14F-4D97-AF65-F5344CB8AC3E}">
        <p14:creationId xmlns:p14="http://schemas.microsoft.com/office/powerpoint/2010/main" val="647027854"/>
      </p:ext>
    </p:extLst>
  </p:cSld>
</p:sld>
</file>

<file path=ppt/slides/slide2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E38D4D0-D5A4-4F0B-9518-6FA90B976739}"/>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Contextual graph retrieval</a:t>
            </a:r>
          </a:p>
        </p:txBody>
      </p:sp>
      <p:sp>
        <p:nvSpPr>
          <p:cNvPr id="2" name="">
            <a:extLst xmlns:a="http://schemas.openxmlformats.org/drawingml/2006/main">
              <a:ext uri="{FF2B5EF4-FFF2-40B4-BE49-F238E27FC236}">
                <a16:creationId xmlns:a16="http://schemas.microsoft.com/office/drawing/2014/main" id="{F8FC2919-9E7E-4E8A-AB89-F461A053DA5F}"/>
              </a:ext>
            </a:extLst>
          </p:cNvPr>
          <p:cNvSpPr>
            <a:spLocks xmlns:a="http://schemas.openxmlformats.org/drawingml/2006/main" noGrp="1"/>
          </p:cNvSpPr>
          <p:nvPr/>
        </p:nvSpPr>
        <p:spPr>
          <a:xfrm xmlns:a="http://schemas.openxmlformats.org/drawingml/2006/main">
            <a:off x="571500" y="11144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Target retrieval pipeline with explicit scope and retained evidence.</a:t>
            </a:r>
          </a:p>
        </p:txBody>
      </p:sp>
      <p:sp>
        <p:nvSpPr>
          <p:cNvPr id="3" name="">
            <a:extLst xmlns:a="http://schemas.openxmlformats.org/drawingml/2006/main">
              <a:ext uri="{FF2B5EF4-FFF2-40B4-BE49-F238E27FC236}">
                <a16:creationId xmlns:a16="http://schemas.microsoft.com/office/drawing/2014/main" id="{249895B9-855B-4D15-B40A-79F032A136A8}"/>
              </a:ext>
            </a:extLst>
          </p:cNvPr>
          <p:cNvSpPr>
            <a:spLocks xmlns:a="http://schemas.openxmlformats.org/drawingml/2006/main" noGrp="1"/>
          </p:cNvSpPr>
          <p:nvPr/>
        </p:nvSpPr>
        <p:spPr>
          <a:xfrm xmlns:a="http://schemas.openxmlformats.org/drawingml/2006/main">
            <a:off x="571500" y="64293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Architecture review • 6 October 2026</a:t>
            </a:r>
          </a:p>
        </p:txBody>
      </p:sp>
      <p:sp>
        <p:nvSpPr>
          <p:cNvPr id="4" name="">
            <a:extLst xmlns:a="http://schemas.openxmlformats.org/drawingml/2006/main">
              <a:ext uri="{FF2B5EF4-FFF2-40B4-BE49-F238E27FC236}">
                <a16:creationId xmlns:a16="http://schemas.microsoft.com/office/drawing/2014/main" id="{E8B064F0-6B14-4594-8FE3-7E0728338DE9}"/>
              </a:ext>
            </a:extLst>
          </p:cNvPr>
          <p:cNvSpPr>
            <a:spLocks xmlns:a="http://schemas.openxmlformats.org/drawingml/2006/main" noGrp="1"/>
          </p:cNvSpPr>
          <p:nvPr/>
        </p:nvSpPr>
        <p:spPr>
          <a:xfrm xmlns:a="http://schemas.openxmlformats.org/drawingml/2006/main">
            <a:off x="11049000" y="64293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23FC5473-5177-4FD5-B936-FBCE41E4099D}"/>
              </a:ext>
            </a:extLst>
          </p:cNvPr>
          <p:cNvSpPr>
            <a:spLocks xmlns:a="http://schemas.openxmlformats.org/drawingml/2006/main" noGrp="1"/>
          </p:cNvSpPr>
          <p:nvPr/>
        </p:nvSpPr>
        <p:spPr>
          <a:xfrm xmlns:a="http://schemas.openxmlformats.org/drawingml/2006/main">
            <a:off x="5715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6" name="">
            <a:extLst xmlns:a="http://schemas.openxmlformats.org/drawingml/2006/main">
              <a:ext uri="{FF2B5EF4-FFF2-40B4-BE49-F238E27FC236}">
                <a16:creationId xmlns:a16="http://schemas.microsoft.com/office/drawing/2014/main" id="{F57E2B36-CBDB-48FA-B17F-FE8BB12939AC}"/>
              </a:ext>
            </a:extLst>
          </p:cNvPr>
          <p:cNvSpPr>
            <a:spLocks xmlns:a="http://schemas.openxmlformats.org/drawingml/2006/main" noGrp="1"/>
          </p:cNvSpPr>
          <p:nvPr/>
        </p:nvSpPr>
        <p:spPr>
          <a:xfrm xmlns:a="http://schemas.openxmlformats.org/drawingml/2006/main">
            <a:off x="7239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Scope</a:t>
            </a:r>
          </a:p>
        </p:txBody>
      </p:sp>
      <p:sp>
        <p:nvSpPr>
          <p:cNvPr id="7" name="">
            <a:extLst xmlns:a="http://schemas.openxmlformats.org/drawingml/2006/main">
              <a:ext uri="{FF2B5EF4-FFF2-40B4-BE49-F238E27FC236}">
                <a16:creationId xmlns:a16="http://schemas.microsoft.com/office/drawing/2014/main" id="{18980D2A-3BF2-4B57-B5F3-03C7CB989551}"/>
              </a:ext>
            </a:extLst>
          </p:cNvPr>
          <p:cNvSpPr>
            <a:spLocks xmlns:a="http://schemas.openxmlformats.org/drawingml/2006/main" noGrp="1"/>
          </p:cNvSpPr>
          <p:nvPr/>
        </p:nvSpPr>
        <p:spPr>
          <a:xfrm xmlns:a="http://schemas.openxmlformats.org/drawingml/2006/main">
            <a:off x="7239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Ontology version</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Import / project</a:t>
            </a:r>
          </a:p>
        </p:txBody>
      </p:sp>
      <p:sp>
        <p:nvSpPr>
          <p:cNvPr id="8" name="">
            <a:extLst xmlns:a="http://schemas.openxmlformats.org/drawingml/2006/main">
              <a:ext uri="{FF2B5EF4-FFF2-40B4-BE49-F238E27FC236}">
                <a16:creationId xmlns:a16="http://schemas.microsoft.com/office/drawing/2014/main" id="{A6D5BEE4-FAC4-411C-BC65-BC2B444CAD72}"/>
              </a:ext>
            </a:extLst>
          </p:cNvPr>
          <p:cNvSpPr>
            <a:spLocks xmlns:a="http://schemas.openxmlformats.org/drawingml/2006/main" noGrp="1"/>
          </p:cNvSpPr>
          <p:nvPr/>
        </p:nvSpPr>
        <p:spPr>
          <a:xfrm xmlns:a="http://schemas.openxmlformats.org/drawingml/2006/main">
            <a:off x="34290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9" name="">
            <a:extLst xmlns:a="http://schemas.openxmlformats.org/drawingml/2006/main">
              <a:ext uri="{FF2B5EF4-FFF2-40B4-BE49-F238E27FC236}">
                <a16:creationId xmlns:a16="http://schemas.microsoft.com/office/drawing/2014/main" id="{4B770291-B13B-4CC4-BED5-2327083A0775}"/>
              </a:ext>
            </a:extLst>
          </p:cNvPr>
          <p:cNvSpPr>
            <a:spLocks xmlns:a="http://schemas.openxmlformats.org/drawingml/2006/main" noGrp="1"/>
          </p:cNvSpPr>
          <p:nvPr/>
        </p:nvSpPr>
        <p:spPr>
          <a:xfrm xmlns:a="http://schemas.openxmlformats.org/drawingml/2006/main">
            <a:off x="35814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Retrieve</a:t>
            </a:r>
          </a:p>
        </p:txBody>
      </p:sp>
      <p:sp>
        <p:nvSpPr>
          <p:cNvPr id="10" name="">
            <a:extLst xmlns:a="http://schemas.openxmlformats.org/drawingml/2006/main">
              <a:ext uri="{FF2B5EF4-FFF2-40B4-BE49-F238E27FC236}">
                <a16:creationId xmlns:a16="http://schemas.microsoft.com/office/drawing/2014/main" id="{4CC261DE-21B8-486E-90A6-CD018028462F}"/>
              </a:ext>
            </a:extLst>
          </p:cNvPr>
          <p:cNvSpPr>
            <a:spLocks xmlns:a="http://schemas.openxmlformats.org/drawingml/2006/main" noGrp="1"/>
          </p:cNvSpPr>
          <p:nvPr/>
        </p:nvSpPr>
        <p:spPr>
          <a:xfrm xmlns:a="http://schemas.openxmlformats.org/drawingml/2006/main">
            <a:off x="35814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Full-text + vector</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Candidate ranking</a:t>
            </a:r>
          </a:p>
        </p:txBody>
      </p:sp>
      <p:sp>
        <p:nvSpPr>
          <p:cNvPr id="11" name="">
            <a:extLst xmlns:a="http://schemas.openxmlformats.org/drawingml/2006/main">
              <a:ext uri="{FF2B5EF4-FFF2-40B4-BE49-F238E27FC236}">
                <a16:creationId xmlns:a16="http://schemas.microsoft.com/office/drawing/2014/main" id="{2A4AEA1D-323C-4240-99A2-F967113017A7}"/>
              </a:ext>
            </a:extLst>
          </p:cNvPr>
          <p:cNvSpPr>
            <a:spLocks xmlns:a="http://schemas.openxmlformats.org/drawingml/2006/main" noGrp="1"/>
          </p:cNvSpPr>
          <p:nvPr/>
        </p:nvSpPr>
        <p:spPr>
          <a:xfrm xmlns:a="http://schemas.openxmlformats.org/drawingml/2006/main">
            <a:off x="62865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2" name="">
            <a:extLst xmlns:a="http://schemas.openxmlformats.org/drawingml/2006/main">
              <a:ext uri="{FF2B5EF4-FFF2-40B4-BE49-F238E27FC236}">
                <a16:creationId xmlns:a16="http://schemas.microsoft.com/office/drawing/2014/main" id="{23FA2E8E-6652-4C61-A22E-B599280DD5A4}"/>
              </a:ext>
            </a:extLst>
          </p:cNvPr>
          <p:cNvSpPr>
            <a:spLocks xmlns:a="http://schemas.openxmlformats.org/drawingml/2006/main" noGrp="1"/>
          </p:cNvSpPr>
          <p:nvPr/>
        </p:nvSpPr>
        <p:spPr>
          <a:xfrm xmlns:a="http://schemas.openxmlformats.org/drawingml/2006/main">
            <a:off x="64389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Expand</a:t>
            </a:r>
          </a:p>
        </p:txBody>
      </p:sp>
      <p:sp>
        <p:nvSpPr>
          <p:cNvPr id="13" name="">
            <a:extLst xmlns:a="http://schemas.openxmlformats.org/drawingml/2006/main">
              <a:ext uri="{FF2B5EF4-FFF2-40B4-BE49-F238E27FC236}">
                <a16:creationId xmlns:a16="http://schemas.microsoft.com/office/drawing/2014/main" id="{CDCB3701-2C1C-4C86-977E-4F55C358A8E0}"/>
              </a:ext>
            </a:extLst>
          </p:cNvPr>
          <p:cNvSpPr>
            <a:spLocks xmlns:a="http://schemas.openxmlformats.org/drawingml/2006/main" noGrp="1"/>
          </p:cNvSpPr>
          <p:nvPr/>
        </p:nvSpPr>
        <p:spPr>
          <a:xfrm xmlns:a="http://schemas.openxmlformats.org/drawingml/2006/main">
            <a:off x="64389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Bounded graph hops</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Preserve provenance</a:t>
            </a:r>
          </a:p>
        </p:txBody>
      </p:sp>
      <p:sp>
        <p:nvSpPr>
          <p:cNvPr id="14" name="">
            <a:extLst xmlns:a="http://schemas.openxmlformats.org/drawingml/2006/main">
              <a:ext uri="{FF2B5EF4-FFF2-40B4-BE49-F238E27FC236}">
                <a16:creationId xmlns:a16="http://schemas.microsoft.com/office/drawing/2014/main" id="{F80C4F44-504E-4FDB-8E98-5C3E5DDFD57D}"/>
              </a:ext>
            </a:extLst>
          </p:cNvPr>
          <p:cNvSpPr>
            <a:spLocks xmlns:a="http://schemas.openxmlformats.org/drawingml/2006/main" noGrp="1"/>
          </p:cNvSpPr>
          <p:nvPr/>
        </p:nvSpPr>
        <p:spPr>
          <a:xfrm xmlns:a="http://schemas.openxmlformats.org/drawingml/2006/main">
            <a:off x="9144000" y="2190750"/>
            <a:ext cx="24765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5" name="">
            <a:extLst xmlns:a="http://schemas.openxmlformats.org/drawingml/2006/main">
              <a:ext uri="{FF2B5EF4-FFF2-40B4-BE49-F238E27FC236}">
                <a16:creationId xmlns:a16="http://schemas.microsoft.com/office/drawing/2014/main" id="{039167A4-C730-4514-A2DE-E149DCDB467B}"/>
              </a:ext>
            </a:extLst>
          </p:cNvPr>
          <p:cNvSpPr>
            <a:spLocks xmlns:a="http://schemas.openxmlformats.org/drawingml/2006/main" noGrp="1"/>
          </p:cNvSpPr>
          <p:nvPr/>
        </p:nvSpPr>
        <p:spPr>
          <a:xfrm xmlns:a="http://schemas.openxmlformats.org/drawingml/2006/main">
            <a:off x="9296400" y="2324100"/>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Answer</a:t>
            </a:r>
          </a:p>
        </p:txBody>
      </p:sp>
      <p:sp>
        <p:nvSpPr>
          <p:cNvPr id="16" name="">
            <a:extLst xmlns:a="http://schemas.openxmlformats.org/drawingml/2006/main">
              <a:ext uri="{FF2B5EF4-FFF2-40B4-BE49-F238E27FC236}">
                <a16:creationId xmlns:a16="http://schemas.microsoft.com/office/drawing/2014/main" id="{CE358566-DFB3-42C1-B07F-89671114525C}"/>
              </a:ext>
            </a:extLst>
          </p:cNvPr>
          <p:cNvSpPr>
            <a:spLocks xmlns:a="http://schemas.openxmlformats.org/drawingml/2006/main" noGrp="1"/>
          </p:cNvSpPr>
          <p:nvPr/>
        </p:nvSpPr>
        <p:spPr>
          <a:xfrm xmlns:a="http://schemas.openxmlformats.org/drawingml/2006/main">
            <a:off x="9296400" y="2724150"/>
            <a:ext cx="2171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Cite source evidence</a:t>
            </a:r>
          </a:p>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State uncertainty</a:t>
            </a:r>
          </a:p>
        </p:txBody>
      </p:sp>
      <p:cxnSp>
        <p:nvCxnSpPr>
          <p:cNvPr id="78" name=""/>
          <p:cNvCxnSpPr>
            <a:stCxn xmlns:a="http://schemas.openxmlformats.org/drawingml/2006/main" id="5" idx="3"/>
            <a:endCxn xmlns:a="http://schemas.openxmlformats.org/drawingml/2006/main" id="8" idx="1"/>
          </p:cNvCxnSpPr>
          <p:nvPr/>
        </p:nvCxnSpPr>
        <p:spPr>
          <a:xfrm xmlns:a="http://schemas.openxmlformats.org/drawingml/2006/main">
            <a:off x="3048000" y="2905125"/>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79" name=""/>
          <p:cNvCxnSpPr>
            <a:stCxn xmlns:a="http://schemas.openxmlformats.org/drawingml/2006/main" id="8" idx="3"/>
            <a:endCxn xmlns:a="http://schemas.openxmlformats.org/drawingml/2006/main" id="11" idx="1"/>
          </p:cNvCxnSpPr>
          <p:nvPr/>
        </p:nvCxnSpPr>
        <p:spPr>
          <a:xfrm xmlns:a="http://schemas.openxmlformats.org/drawingml/2006/main">
            <a:off x="5905500" y="2905125"/>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80" name=""/>
          <p:cNvCxnSpPr>
            <a:stCxn xmlns:a="http://schemas.openxmlformats.org/drawingml/2006/main" id="11" idx="3"/>
            <a:endCxn xmlns:a="http://schemas.openxmlformats.org/drawingml/2006/main" id="14" idx="1"/>
          </p:cNvCxnSpPr>
          <p:nvPr/>
        </p:nvCxnSpPr>
        <p:spPr>
          <a:xfrm xmlns:a="http://schemas.openxmlformats.org/drawingml/2006/main">
            <a:off x="8763000" y="2905125"/>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20" name="">
            <a:extLst xmlns:a="http://schemas.openxmlformats.org/drawingml/2006/main">
              <a:ext uri="{FF2B5EF4-FFF2-40B4-BE49-F238E27FC236}">
                <a16:creationId xmlns:a16="http://schemas.microsoft.com/office/drawing/2014/main" id="{2C1C2F46-C7E2-4D28-BE42-80C40BF7E602}"/>
              </a:ext>
            </a:extLst>
          </p:cNvPr>
          <p:cNvSpPr>
            <a:spLocks xmlns:a="http://schemas.openxmlformats.org/drawingml/2006/main" noGrp="1"/>
          </p:cNvSpPr>
          <p:nvPr/>
        </p:nvSpPr>
        <p:spPr>
          <a:xfrm xmlns:a="http://schemas.openxmlformats.org/drawingml/2006/main">
            <a:off x="571500" y="414337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Already corrected</a:t>
            </a:r>
          </a:p>
        </p:txBody>
      </p:sp>
      <p:sp>
        <p:nvSpPr>
          <p:cNvPr id="21" name="">
            <a:extLst xmlns:a="http://schemas.openxmlformats.org/drawingml/2006/main">
              <a:ext uri="{FF2B5EF4-FFF2-40B4-BE49-F238E27FC236}">
                <a16:creationId xmlns:a16="http://schemas.microsoft.com/office/drawing/2014/main" id="{C4982E46-43FF-4B21-99F2-FF570657BE53}"/>
              </a:ext>
            </a:extLst>
          </p:cNvPr>
          <p:cNvSpPr>
            <a:spLocks xmlns:a="http://schemas.openxmlformats.org/drawingml/2006/main" noGrp="1"/>
          </p:cNvSpPr>
          <p:nvPr/>
        </p:nvSpPr>
        <p:spPr>
          <a:xfrm xmlns:a="http://schemas.openxmlformats.org/drawingml/2006/main">
            <a:off x="3810000" y="414337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Import-scoped search no longer falls back to unrelated schema results; traversal and UI expansion are bounded.</a:t>
            </a:r>
          </a:p>
        </p:txBody>
      </p:sp>
      <p:sp>
        <p:nvSpPr>
          <p:cNvPr id="22" name="">
            <a:extLst xmlns:a="http://schemas.openxmlformats.org/drawingml/2006/main">
              <a:ext uri="{FF2B5EF4-FFF2-40B4-BE49-F238E27FC236}">
                <a16:creationId xmlns:a16="http://schemas.microsoft.com/office/drawing/2014/main" id="{55D23650-F3AE-48BB-9FD3-54AF9237415B}"/>
              </a:ext>
            </a:extLst>
          </p:cNvPr>
          <p:cNvSpPr>
            <a:spLocks xmlns:a="http://schemas.openxmlformats.org/drawingml/2006/main" noGrp="1"/>
          </p:cNvSpPr>
          <p:nvPr/>
        </p:nvSpPr>
        <p:spPr>
          <a:xfrm xmlns:a="http://schemas.openxmlformats.org/drawingml/2006/main">
            <a:off x="571500" y="523875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Further work</a:t>
            </a:r>
          </a:p>
        </p:txBody>
      </p:sp>
      <p:sp>
        <p:nvSpPr>
          <p:cNvPr id="23" name="">
            <a:extLst xmlns:a="http://schemas.openxmlformats.org/drawingml/2006/main">
              <a:ext uri="{FF2B5EF4-FFF2-40B4-BE49-F238E27FC236}">
                <a16:creationId xmlns:a16="http://schemas.microsoft.com/office/drawing/2014/main" id="{3907F41C-D899-4D90-AD2D-C8CF896967E5}"/>
              </a:ext>
            </a:extLst>
          </p:cNvPr>
          <p:cNvSpPr>
            <a:spLocks xmlns:a="http://schemas.openxmlformats.org/drawingml/2006/main" noGrp="1"/>
          </p:cNvSpPr>
          <p:nvPr/>
        </p:nvSpPr>
        <p:spPr>
          <a:xfrm xmlns:a="http://schemas.openxmlformats.org/drawingml/2006/main">
            <a:off x="3810000" y="5238750"/>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Evaluate reranking, stable domain identifiers and retrieval quality. Preserve approval gates for all proposed mutations.</a:t>
            </a:r>
          </a:p>
        </p:txBody>
      </p:sp>
    </p:spTree>
    <p:extLst>
      <p:ext uri="{BB962C8B-B14F-4D97-AF65-F5344CB8AC3E}">
        <p14:creationId xmlns:p14="http://schemas.microsoft.com/office/powerpoint/2010/main" val="1874113228"/>
      </p:ext>
    </p:extLst>
  </p:cSld>
</p:sld>
</file>

<file path=ppt/slides/slide2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A257FA-05FE-4A27-8C5A-78211121F7DD}"/>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Ontology and instance validation</a:t>
            </a:r>
          </a:p>
        </p:txBody>
      </p:sp>
      <p:sp>
        <p:nvSpPr>
          <p:cNvPr id="2" name="">
            <a:extLst xmlns:a="http://schemas.openxmlformats.org/drawingml/2006/main">
              <a:ext uri="{FF2B5EF4-FFF2-40B4-BE49-F238E27FC236}">
                <a16:creationId xmlns:a16="http://schemas.microsoft.com/office/drawing/2014/main" id="{03672014-54DA-41C5-BC0B-DA95AF874F4A}"/>
              </a:ext>
            </a:extLst>
          </p:cNvPr>
          <p:cNvSpPr>
            <a:spLocks xmlns:a="http://schemas.openxmlformats.org/drawingml/2006/main" noGrp="1"/>
          </p:cNvSpPr>
          <p:nvPr/>
        </p:nvSpPr>
        <p:spPr>
          <a:xfrm xmlns:a="http://schemas.openxmlformats.org/drawingml/2006/main">
            <a:off x="571500" y="11144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A successful ontology check does not prove business instances satisfy domain constraints.</a:t>
            </a:r>
          </a:p>
        </p:txBody>
      </p:sp>
      <p:sp>
        <p:nvSpPr>
          <p:cNvPr id="3" name="">
            <a:extLst xmlns:a="http://schemas.openxmlformats.org/drawingml/2006/main">
              <a:ext uri="{FF2B5EF4-FFF2-40B4-BE49-F238E27FC236}">
                <a16:creationId xmlns:a16="http://schemas.microsoft.com/office/drawing/2014/main" id="{A62B6A63-4594-48DC-A292-4AE44313DFFC}"/>
              </a:ext>
            </a:extLst>
          </p:cNvPr>
          <p:cNvSpPr>
            <a:spLocks xmlns:a="http://schemas.openxmlformats.org/drawingml/2006/main" noGrp="1"/>
          </p:cNvSpPr>
          <p:nvPr/>
        </p:nvSpPr>
        <p:spPr>
          <a:xfrm xmlns:a="http://schemas.openxmlformats.org/drawingml/2006/main">
            <a:off x="571500" y="64293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Architecture review • 6 October 2026</a:t>
            </a:r>
          </a:p>
        </p:txBody>
      </p:sp>
      <p:sp>
        <p:nvSpPr>
          <p:cNvPr id="4" name="">
            <a:extLst xmlns:a="http://schemas.openxmlformats.org/drawingml/2006/main">
              <a:ext uri="{FF2B5EF4-FFF2-40B4-BE49-F238E27FC236}">
                <a16:creationId xmlns:a16="http://schemas.microsoft.com/office/drawing/2014/main" id="{574958EB-FCB0-4227-B503-5CB18FE2BE66}"/>
              </a:ext>
            </a:extLst>
          </p:cNvPr>
          <p:cNvSpPr>
            <a:spLocks xmlns:a="http://schemas.openxmlformats.org/drawingml/2006/main" noGrp="1"/>
          </p:cNvSpPr>
          <p:nvPr/>
        </p:nvSpPr>
        <p:spPr>
          <a:xfrm xmlns:a="http://schemas.openxmlformats.org/drawingml/2006/main">
            <a:off x="11049000" y="64293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FEBA9D7A-0010-42BD-9A38-8A446BAA92F4}"/>
              </a:ext>
            </a:extLst>
          </p:cNvPr>
          <p:cNvSpPr>
            <a:spLocks xmlns:a="http://schemas.openxmlformats.org/drawingml/2006/main" noGrp="1"/>
          </p:cNvSpPr>
          <p:nvPr/>
        </p:nvSpPr>
        <p:spPr>
          <a:xfrm xmlns:a="http://schemas.openxmlformats.org/drawingml/2006/main">
            <a:off x="571500" y="19526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Ontology validation</a:t>
            </a:r>
          </a:p>
        </p:txBody>
      </p:sp>
      <p:sp>
        <p:nvSpPr>
          <p:cNvPr id="6" name="">
            <a:extLst xmlns:a="http://schemas.openxmlformats.org/drawingml/2006/main">
              <a:ext uri="{FF2B5EF4-FFF2-40B4-BE49-F238E27FC236}">
                <a16:creationId xmlns:a16="http://schemas.microsoft.com/office/drawing/2014/main" id="{264EF98D-A42F-41A3-9682-A6DFBA93AB60}"/>
              </a:ext>
            </a:extLst>
          </p:cNvPr>
          <p:cNvSpPr>
            <a:spLocks xmlns:a="http://schemas.openxmlformats.org/drawingml/2006/main" noGrp="1"/>
          </p:cNvSpPr>
          <p:nvPr/>
        </p:nvSpPr>
        <p:spPr>
          <a:xfrm xmlns:a="http://schemas.openxmlformats.org/drawingml/2006/main">
            <a:off x="3810000" y="19526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Generic SHACL checks inspect ontology structure. The UI now labels this result “Ontology SHACL”.</a:t>
            </a:r>
          </a:p>
        </p:txBody>
      </p:sp>
      <p:sp>
        <p:nvSpPr>
          <p:cNvPr id="7" name="">
            <a:extLst xmlns:a="http://schemas.openxmlformats.org/drawingml/2006/main">
              <a:ext uri="{FF2B5EF4-FFF2-40B4-BE49-F238E27FC236}">
                <a16:creationId xmlns:a16="http://schemas.microsoft.com/office/drawing/2014/main" id="{AB4CF668-7D25-4174-B283-E39B45956DF0}"/>
              </a:ext>
            </a:extLst>
          </p:cNvPr>
          <p:cNvSpPr>
            <a:spLocks xmlns:a="http://schemas.openxmlformats.org/drawingml/2006/main" noGrp="1"/>
          </p:cNvSpPr>
          <p:nvPr/>
        </p:nvSpPr>
        <p:spPr>
          <a:xfrm xmlns:a="http://schemas.openxmlformats.org/drawingml/2006/main">
            <a:off x="571500" y="30956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Instance validation</a:t>
            </a:r>
          </a:p>
        </p:txBody>
      </p:sp>
      <p:sp>
        <p:nvSpPr>
          <p:cNvPr id="8" name="">
            <a:extLst xmlns:a="http://schemas.openxmlformats.org/drawingml/2006/main">
              <a:ext uri="{FF2B5EF4-FFF2-40B4-BE49-F238E27FC236}">
                <a16:creationId xmlns:a16="http://schemas.microsoft.com/office/drawing/2014/main" id="{54ED5079-BF05-4015-B21D-60A88CCD2A51}"/>
              </a:ext>
            </a:extLst>
          </p:cNvPr>
          <p:cNvSpPr>
            <a:spLocks xmlns:a="http://schemas.openxmlformats.org/drawingml/2006/main" noGrp="1"/>
          </p:cNvSpPr>
          <p:nvPr/>
        </p:nvSpPr>
        <p:spPr>
          <a:xfrm xmlns:a="http://schemas.openxmlformats.org/drawingml/2006/main">
            <a:off x="3810000" y="30956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XSD-derived shapes encode required fields, cardinality, datatypes and referenced classes. Shapes are retained separately.</a:t>
            </a:r>
          </a:p>
        </p:txBody>
      </p:sp>
      <p:sp>
        <p:nvSpPr>
          <p:cNvPr id="9" name="">
            <a:extLst xmlns:a="http://schemas.openxmlformats.org/drawingml/2006/main">
              <a:ext uri="{FF2B5EF4-FFF2-40B4-BE49-F238E27FC236}">
                <a16:creationId xmlns:a16="http://schemas.microsoft.com/office/drawing/2014/main" id="{5426DB0B-050D-444F-A79F-A0C811E18CA7}"/>
              </a:ext>
            </a:extLst>
          </p:cNvPr>
          <p:cNvSpPr>
            <a:spLocks xmlns:a="http://schemas.openxmlformats.org/drawingml/2006/main" noGrp="1"/>
          </p:cNvSpPr>
          <p:nvPr/>
        </p:nvSpPr>
        <p:spPr>
          <a:xfrm xmlns:a="http://schemas.openxmlformats.org/drawingml/2006/main">
            <a:off x="571500" y="42386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Publication gate</a:t>
            </a:r>
          </a:p>
        </p:txBody>
      </p:sp>
      <p:sp>
        <p:nvSpPr>
          <p:cNvPr id="10" name="">
            <a:extLst xmlns:a="http://schemas.openxmlformats.org/drawingml/2006/main">
              <a:ext uri="{FF2B5EF4-FFF2-40B4-BE49-F238E27FC236}">
                <a16:creationId xmlns:a16="http://schemas.microsoft.com/office/drawing/2014/main" id="{AAD4FC3E-5324-467D-8C17-D4822B6087E5}"/>
              </a:ext>
            </a:extLst>
          </p:cNvPr>
          <p:cNvSpPr>
            <a:spLocks xmlns:a="http://schemas.openxmlformats.org/drawingml/2006/main" noGrp="1"/>
          </p:cNvSpPr>
          <p:nvPr/>
        </p:nvSpPr>
        <p:spPr>
          <a:xfrm xmlns:a="http://schemas.openxmlformats.org/drawingml/2006/main">
            <a:off x="3810000" y="42386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Legacy imports now stop when required RDF validation is unavailable or fails. Reports retain the validation scope.</a:t>
            </a:r>
          </a:p>
        </p:txBody>
      </p:sp>
      <p:sp>
        <p:nvSpPr>
          <p:cNvPr id="11" name="">
            <a:extLst xmlns:a="http://schemas.openxmlformats.org/drawingml/2006/main">
              <a:ext uri="{FF2B5EF4-FFF2-40B4-BE49-F238E27FC236}">
                <a16:creationId xmlns:a16="http://schemas.microsoft.com/office/drawing/2014/main" id="{1E29D9EB-45A1-426B-8756-89F8811311B1}"/>
              </a:ext>
            </a:extLst>
          </p:cNvPr>
          <p:cNvSpPr>
            <a:spLocks xmlns:a="http://schemas.openxmlformats.org/drawingml/2006/main" noGrp="1"/>
          </p:cNvSpPr>
          <p:nvPr/>
        </p:nvSpPr>
        <p:spPr>
          <a:xfrm xmlns:a="http://schemas.openxmlformats.org/drawingml/2006/main">
            <a:off x="571500" y="53816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Remaining coverage</a:t>
            </a:r>
          </a:p>
        </p:txBody>
      </p:sp>
      <p:sp>
        <p:nvSpPr>
          <p:cNvPr id="12" name="">
            <a:extLst xmlns:a="http://schemas.openxmlformats.org/drawingml/2006/main">
              <a:ext uri="{FF2B5EF4-FFF2-40B4-BE49-F238E27FC236}">
                <a16:creationId xmlns:a16="http://schemas.microsoft.com/office/drawing/2014/main" id="{40D96B91-2719-46D1-94B1-1EEB132A720A}"/>
              </a:ext>
            </a:extLst>
          </p:cNvPr>
          <p:cNvSpPr>
            <a:spLocks xmlns:a="http://schemas.openxmlformats.org/drawingml/2006/main" noGrp="1"/>
          </p:cNvSpPr>
          <p:nvPr/>
        </p:nvSpPr>
        <p:spPr>
          <a:xfrm xmlns:a="http://schemas.openxmlformats.org/drawingml/2006/main">
            <a:off x="3810000" y="53816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Complete instance SHACL enforcement across all governed import and publication paths remains pending.</a:t>
            </a:r>
          </a:p>
        </p:txBody>
      </p:sp>
    </p:spTree>
    <p:extLst>
      <p:ext uri="{BB962C8B-B14F-4D97-AF65-F5344CB8AC3E}">
        <p14:creationId xmlns:p14="http://schemas.microsoft.com/office/powerpoint/2010/main" val="1129980948"/>
      </p:ext>
    </p:extLst>
  </p:cSld>
</p:sld>
</file>

<file path=ppt/slides/slide2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A93850-E13F-4841-BD9D-36AA7121AEA0}"/>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Industry advances and adoption roadmap</a:t>
            </a:r>
          </a:p>
        </p:txBody>
      </p:sp>
      <p:sp>
        <p:nvSpPr>
          <p:cNvPr id="2" name="">
            <a:extLst xmlns:a="http://schemas.openxmlformats.org/drawingml/2006/main">
              <a:ext uri="{FF2B5EF4-FFF2-40B4-BE49-F238E27FC236}">
                <a16:creationId xmlns:a16="http://schemas.microsoft.com/office/drawing/2014/main" id="{F14DB577-5598-4B92-A372-3BC8FD28E391}"/>
              </a:ext>
            </a:extLst>
          </p:cNvPr>
          <p:cNvSpPr>
            <a:spLocks xmlns:a="http://schemas.openxmlformats.org/drawingml/2006/main" noGrp="1"/>
          </p:cNvSpPr>
          <p:nvPr/>
        </p:nvSpPr>
        <p:spPr>
          <a:xfrm xmlns:a="http://schemas.openxmlformats.org/drawingml/2006/main">
            <a:off x="571500" y="11144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Apply new capabilities where they solve a measured DEPO requirement.</a:t>
            </a:r>
          </a:p>
        </p:txBody>
      </p:sp>
      <p:sp>
        <p:nvSpPr>
          <p:cNvPr id="3" name="">
            <a:extLst xmlns:a="http://schemas.openxmlformats.org/drawingml/2006/main">
              <a:ext uri="{FF2B5EF4-FFF2-40B4-BE49-F238E27FC236}">
                <a16:creationId xmlns:a16="http://schemas.microsoft.com/office/drawing/2014/main" id="{DF1DE5F0-DEB2-4588-824F-25A2EF26B61A}"/>
              </a:ext>
            </a:extLst>
          </p:cNvPr>
          <p:cNvSpPr>
            <a:spLocks xmlns:a="http://schemas.openxmlformats.org/drawingml/2006/main" noGrp="1"/>
          </p:cNvSpPr>
          <p:nvPr/>
        </p:nvSpPr>
        <p:spPr>
          <a:xfrm xmlns:a="http://schemas.openxmlformats.org/drawingml/2006/main">
            <a:off x="571500" y="642937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Architecture review • 6 October 2026</a:t>
            </a:r>
          </a:p>
        </p:txBody>
      </p:sp>
      <p:sp>
        <p:nvSpPr>
          <p:cNvPr id="4" name="">
            <a:extLst xmlns:a="http://schemas.openxmlformats.org/drawingml/2006/main">
              <a:ext uri="{FF2B5EF4-FFF2-40B4-BE49-F238E27FC236}">
                <a16:creationId xmlns:a16="http://schemas.microsoft.com/office/drawing/2014/main" id="{1566593E-A99B-4B59-8B37-ADC7F6AE8B45}"/>
              </a:ext>
            </a:extLst>
          </p:cNvPr>
          <p:cNvSpPr>
            <a:spLocks xmlns:a="http://schemas.openxmlformats.org/drawingml/2006/main" noGrp="1"/>
          </p:cNvSpPr>
          <p:nvPr/>
        </p:nvSpPr>
        <p:spPr>
          <a:xfrm xmlns:a="http://schemas.openxmlformats.org/drawingml/2006/main">
            <a:off x="11049000" y="64293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919DBD5B-C7EA-496F-BF76-F836E717F37B}"/>
              </a:ext>
            </a:extLst>
          </p:cNvPr>
          <p:cNvSpPr>
            <a:spLocks xmlns:a="http://schemas.openxmlformats.org/drawingml/2006/main" noGrp="1"/>
          </p:cNvSpPr>
          <p:nvPr/>
        </p:nvSpPr>
        <p:spPr>
          <a:xfrm xmlns:a="http://schemas.openxmlformats.org/drawingml/2006/main">
            <a:off x="571500" y="19526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First: reliability</a:t>
            </a:r>
          </a:p>
        </p:txBody>
      </p:sp>
      <p:sp>
        <p:nvSpPr>
          <p:cNvPr id="6" name="">
            <a:extLst xmlns:a="http://schemas.openxmlformats.org/drawingml/2006/main">
              <a:ext uri="{FF2B5EF4-FFF2-40B4-BE49-F238E27FC236}">
                <a16:creationId xmlns:a16="http://schemas.microsoft.com/office/drawing/2014/main" id="{F64943D5-EF83-4EFE-977C-11FEECE0CBAB}"/>
              </a:ext>
            </a:extLst>
          </p:cNvPr>
          <p:cNvSpPr>
            <a:spLocks xmlns:a="http://schemas.openxmlformats.org/drawingml/2006/main" noGrp="1"/>
          </p:cNvSpPr>
          <p:nvPr/>
        </p:nvSpPr>
        <p:spPr>
          <a:xfrm xmlns:a="http://schemas.openxmlformats.org/drawingml/2006/main">
            <a:off x="3810000" y="19526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Worker recovery, same-origin browser integration, complete validation gates and live deployment acceptance.</a:t>
            </a:r>
          </a:p>
        </p:txBody>
      </p:sp>
      <p:sp>
        <p:nvSpPr>
          <p:cNvPr id="7" name="">
            <a:extLst xmlns:a="http://schemas.openxmlformats.org/drawingml/2006/main">
              <a:ext uri="{FF2B5EF4-FFF2-40B4-BE49-F238E27FC236}">
                <a16:creationId xmlns:a16="http://schemas.microsoft.com/office/drawing/2014/main" id="{CAB1D870-FEC0-4E58-AF0B-08CC4A148077}"/>
              </a:ext>
            </a:extLst>
          </p:cNvPr>
          <p:cNvSpPr>
            <a:spLocks xmlns:a="http://schemas.openxmlformats.org/drawingml/2006/main" noGrp="1"/>
          </p:cNvSpPr>
          <p:nvPr/>
        </p:nvSpPr>
        <p:spPr>
          <a:xfrm xmlns:a="http://schemas.openxmlformats.org/drawingml/2006/main">
            <a:off x="571500" y="300037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Next: measurable AI</a:t>
            </a:r>
          </a:p>
        </p:txBody>
      </p:sp>
      <p:sp>
        <p:nvSpPr>
          <p:cNvPr id="8" name="">
            <a:extLst xmlns:a="http://schemas.openxmlformats.org/drawingml/2006/main">
              <a:ext uri="{FF2B5EF4-FFF2-40B4-BE49-F238E27FC236}">
                <a16:creationId xmlns:a16="http://schemas.microsoft.com/office/drawing/2014/main" id="{255B6A91-6967-4ADE-8FA7-4515FFEC7380}"/>
              </a:ext>
            </a:extLst>
          </p:cNvPr>
          <p:cNvSpPr>
            <a:spLocks xmlns:a="http://schemas.openxmlformats.org/drawingml/2006/main" noGrp="1"/>
          </p:cNvSpPr>
          <p:nvPr/>
        </p:nvSpPr>
        <p:spPr>
          <a:xfrm xmlns:a="http://schemas.openxmlformats.org/drawingml/2006/main">
            <a:off x="3810000" y="300037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Distributed OpenTelemetry traces; engineering evaluation datasets for mapping, extraction and evidence quality.</a:t>
            </a:r>
          </a:p>
        </p:txBody>
      </p:sp>
      <p:sp>
        <p:nvSpPr>
          <p:cNvPr id="9" name="">
            <a:extLst xmlns:a="http://schemas.openxmlformats.org/drawingml/2006/main">
              <a:ext uri="{FF2B5EF4-FFF2-40B4-BE49-F238E27FC236}">
                <a16:creationId xmlns:a16="http://schemas.microsoft.com/office/drawing/2014/main" id="{EBCECDA8-7FE4-434C-B04F-E2C64FC0536E}"/>
              </a:ext>
            </a:extLst>
          </p:cNvPr>
          <p:cNvSpPr>
            <a:spLocks xmlns:a="http://schemas.openxmlformats.org/drawingml/2006/main" noGrp="1"/>
          </p:cNvSpPr>
          <p:nvPr/>
        </p:nvSpPr>
        <p:spPr>
          <a:xfrm xmlns:a="http://schemas.openxmlformats.org/drawingml/2006/main">
            <a:off x="571500" y="40481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Then: interoperability</a:t>
            </a:r>
          </a:p>
        </p:txBody>
      </p:sp>
      <p:sp>
        <p:nvSpPr>
          <p:cNvPr id="10" name="">
            <a:extLst xmlns:a="http://schemas.openxmlformats.org/drawingml/2006/main">
              <a:ext uri="{FF2B5EF4-FFF2-40B4-BE49-F238E27FC236}">
                <a16:creationId xmlns:a16="http://schemas.microsoft.com/office/drawing/2014/main" id="{6D6320C0-8ACF-405B-BB38-2C3CD0677E39}"/>
              </a:ext>
            </a:extLst>
          </p:cNvPr>
          <p:cNvSpPr>
            <a:spLocks xmlns:a="http://schemas.openxmlformats.org/drawingml/2006/main" noGrp="1"/>
          </p:cNvSpPr>
          <p:nvPr/>
        </p:nvSpPr>
        <p:spPr>
          <a:xfrm xmlns:a="http://schemas.openxmlformats.org/drawingml/2006/main">
            <a:off x="3810000" y="404812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MCP adapters expose governed tools. Add A2A only when external agent collaboration is required.</a:t>
            </a:r>
          </a:p>
        </p:txBody>
      </p:sp>
      <p:sp>
        <p:nvSpPr>
          <p:cNvPr id="11" name="">
            <a:extLst xmlns:a="http://schemas.openxmlformats.org/drawingml/2006/main">
              <a:ext uri="{FF2B5EF4-FFF2-40B4-BE49-F238E27FC236}">
                <a16:creationId xmlns:a16="http://schemas.microsoft.com/office/drawing/2014/main" id="{D3BFDF64-6A61-4F59-9C58-66C9C8A6D431}"/>
              </a:ext>
            </a:extLst>
          </p:cNvPr>
          <p:cNvSpPr>
            <a:spLocks xmlns:a="http://schemas.openxmlformats.org/drawingml/2006/main" noGrp="1"/>
          </p:cNvSpPr>
          <p:nvPr/>
        </p:nvSpPr>
        <p:spPr>
          <a:xfrm xmlns:a="http://schemas.openxmlformats.org/drawingml/2006/main">
            <a:off x="571500" y="509587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8594"/>
                </a:solidFill>
                <a:latin typeface="Arial"/>
                <a:ea typeface="Arial"/>
                <a:cs typeface="Arial"/>
              </a:defRPr>
            </a:pPr>
            <a:r>
              <a:rPr sz="1875" b="1">
                <a:solidFill>
                  <a:srgbClr val="008594"/>
                </a:solidFill>
                <a:latin typeface="Arial"/>
                <a:ea typeface="Arial"/>
                <a:cs typeface="Arial"/>
              </a:rPr>
              <a:t>Optional platforms</a:t>
            </a:r>
          </a:p>
        </p:txBody>
      </p:sp>
      <p:sp>
        <p:nvSpPr>
          <p:cNvPr id="12" name="">
            <a:extLst xmlns:a="http://schemas.openxmlformats.org/drawingml/2006/main">
              <a:ext uri="{FF2B5EF4-FFF2-40B4-BE49-F238E27FC236}">
                <a16:creationId xmlns:a16="http://schemas.microsoft.com/office/drawing/2014/main" id="{050DD14C-1525-43ED-8140-D7FDAD321787}"/>
              </a:ext>
            </a:extLst>
          </p:cNvPr>
          <p:cNvSpPr>
            <a:spLocks xmlns:a="http://schemas.openxmlformats.org/drawingml/2006/main" noGrp="1"/>
          </p:cNvSpPr>
          <p:nvPr/>
        </p:nvSpPr>
        <p:spPr>
          <a:xfrm xmlns:a="http://schemas.openxmlformats.org/drawingml/2006/main">
            <a:off x="3810000" y="5095875"/>
            <a:ext cx="781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33747"/>
                </a:solidFill>
                <a:latin typeface="Arial"/>
                <a:ea typeface="Arial"/>
                <a:cs typeface="Arial"/>
              </a:defRPr>
            </a:pPr>
            <a:r>
              <a:rPr sz="1800" b="0">
                <a:solidFill>
                  <a:srgbClr val="233747"/>
                </a:solidFill>
                <a:latin typeface="Arial"/>
                <a:ea typeface="Arial"/>
                <a:cs typeface="Arial"/>
              </a:rPr>
              <a:t>NVIDIA NeMo Agent Toolkit supports evaluation/profiling. Adoption does not require rewriting all services.</a:t>
            </a:r>
          </a:p>
        </p:txBody>
      </p:sp>
      <p:sp>
        <p:nvSpPr>
          <p:cNvPr id="13" name="">
            <a:extLst xmlns:a="http://schemas.openxmlformats.org/drawingml/2006/main">
              <a:ext uri="{FF2B5EF4-FFF2-40B4-BE49-F238E27FC236}">
                <a16:creationId xmlns:a16="http://schemas.microsoft.com/office/drawing/2014/main" id="{4502A837-CDC5-4762-9118-1BD641BDE28A}"/>
              </a:ext>
            </a:extLst>
          </p:cNvPr>
          <p:cNvSpPr>
            <a:spLocks xmlns:a="http://schemas.openxmlformats.org/drawingml/2006/main" noGrp="1"/>
          </p:cNvSpPr>
          <p:nvPr/>
        </p:nvSpPr>
        <p:spPr>
          <a:xfrm xmlns:a="http://schemas.openxmlformats.org/drawingml/2006/main">
            <a:off x="571500" y="5943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26D82"/>
                </a:solidFill>
                <a:latin typeface="Arial"/>
                <a:ea typeface="Arial"/>
                <a:cs typeface="Arial"/>
              </a:defRPr>
            </a:pPr>
            <a:r>
              <a:rPr sz="1500" b="0">
                <a:solidFill>
                  <a:srgbClr val="526D82"/>
                </a:solidFill>
                <a:latin typeface="Arial"/>
                <a:ea typeface="Arial"/>
                <a:cs typeface="Arial"/>
              </a:rPr>
              <a:t>Recommendations • no framework migration, GPU deployment or new protocol is claimed as implemented</a:t>
            </a:r>
          </a:p>
        </p:txBody>
      </p:sp>
    </p:spTree>
    <p:extLst>
      <p:ext uri="{BB962C8B-B14F-4D97-AF65-F5344CB8AC3E}">
        <p14:creationId xmlns:p14="http://schemas.microsoft.com/office/powerpoint/2010/main" val="728275470"/>
      </p:ext>
    </p:extLst>
  </p:cSld>
</p:sld>
</file>

<file path=ppt/slides/slide2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7E1249E-FCAB-49B0-AADC-4FA0447C71CB}"/>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Agents, tools and service interaction</a:t>
            </a:r>
          </a:p>
        </p:txBody>
      </p:sp>
      <p:sp>
        <p:nvSpPr>
          <p:cNvPr id="2" name="">
            <a:extLst xmlns:a="http://schemas.openxmlformats.org/drawingml/2006/main">
              <a:ext uri="{FF2B5EF4-FFF2-40B4-BE49-F238E27FC236}">
                <a16:creationId xmlns:a16="http://schemas.microsoft.com/office/drawing/2014/main" id="{9366098B-62DD-4509-B1F1-5E9A9D956A28}"/>
              </a:ext>
            </a:extLst>
          </p:cNvPr>
          <p:cNvSpPr>
            <a:spLocks xmlns:a="http://schemas.openxmlformats.org/drawingml/2006/main" noGrp="1"/>
          </p:cNvSpPr>
          <p:nvPr/>
        </p:nvSpPr>
        <p:spPr>
          <a:xfrm xmlns:a="http://schemas.openxmlformats.org/drawingml/2006/main">
            <a:off x="571500" y="1123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Current logical flow. Agent orchestration and durable data jobs have separate execution paths.</a:t>
            </a:r>
          </a:p>
        </p:txBody>
      </p:sp>
      <p:sp>
        <p:nvSpPr>
          <p:cNvPr id="3" name="">
            <a:extLst xmlns:a="http://schemas.openxmlformats.org/drawingml/2006/main">
              <a:ext uri="{FF2B5EF4-FFF2-40B4-BE49-F238E27FC236}">
                <a16:creationId xmlns:a16="http://schemas.microsoft.com/office/drawing/2014/main" id="{3509A4FF-82CF-4287-AFCC-43B21E941588}"/>
              </a:ext>
            </a:extLst>
          </p:cNvPr>
          <p:cNvSpPr>
            <a:spLocks xmlns:a="http://schemas.openxmlformats.org/drawingml/2006/main" noGrp="1"/>
          </p:cNvSpPr>
          <p:nvPr/>
        </p:nvSpPr>
        <p:spPr>
          <a:xfrm xmlns:a="http://schemas.openxmlformats.org/drawingml/2006/main">
            <a:off x="571500" y="64293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Component interactions / 6 October 2026</a:t>
            </a:r>
          </a:p>
        </p:txBody>
      </p:sp>
      <p:sp>
        <p:nvSpPr>
          <p:cNvPr id="4" name="">
            <a:extLst xmlns:a="http://schemas.openxmlformats.org/drawingml/2006/main">
              <a:ext uri="{FF2B5EF4-FFF2-40B4-BE49-F238E27FC236}">
                <a16:creationId xmlns:a16="http://schemas.microsoft.com/office/drawing/2014/main" id="{16475C20-5005-4A25-99B6-24F9903D560E}"/>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233747"/>
                </a:solidFill>
                <a:latin typeface="Arial"/>
                <a:ea typeface="Arial"/>
                <a:cs typeface="Arial"/>
              </a:defRPr>
            </a:pPr>
            <a:r>
              <a:rPr sz="1125" b="0">
                <a:solidFill>
                  <a:srgbClr val="233747"/>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08568741-3D42-4099-8752-AE7EB555B973}"/>
              </a:ext>
            </a:extLst>
          </p:cNvPr>
          <p:cNvSpPr>
            <a:spLocks xmlns:a="http://schemas.openxmlformats.org/drawingml/2006/main" noGrp="1"/>
          </p:cNvSpPr>
          <p:nvPr/>
        </p:nvSpPr>
        <p:spPr>
          <a:xfrm xmlns:a="http://schemas.openxmlformats.org/drawingml/2006/main">
            <a:off x="571500" y="2000250"/>
            <a:ext cx="32385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6" name="">
            <a:extLst xmlns:a="http://schemas.openxmlformats.org/drawingml/2006/main">
              <a:ext uri="{FF2B5EF4-FFF2-40B4-BE49-F238E27FC236}">
                <a16:creationId xmlns:a16="http://schemas.microsoft.com/office/drawing/2014/main" id="{5CA35957-E20D-4072-B9A0-1E758155A330}"/>
              </a:ext>
            </a:extLst>
          </p:cNvPr>
          <p:cNvSpPr>
            <a:spLocks xmlns:a="http://schemas.openxmlformats.org/drawingml/2006/main" noGrp="1"/>
          </p:cNvSpPr>
          <p:nvPr/>
        </p:nvSpPr>
        <p:spPr>
          <a:xfrm xmlns:a="http://schemas.openxmlformats.org/drawingml/2006/main">
            <a:off x="714375" y="21145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Frontend</a:t>
            </a:r>
          </a:p>
        </p:txBody>
      </p:sp>
      <p:sp>
        <p:nvSpPr>
          <p:cNvPr id="7" name="">
            <a:extLst xmlns:a="http://schemas.openxmlformats.org/drawingml/2006/main">
              <a:ext uri="{FF2B5EF4-FFF2-40B4-BE49-F238E27FC236}">
                <a16:creationId xmlns:a16="http://schemas.microsoft.com/office/drawing/2014/main" id="{648E2CEB-0BA1-40B1-94CB-D0651D4209F3}"/>
              </a:ext>
            </a:extLst>
          </p:cNvPr>
          <p:cNvSpPr>
            <a:spLocks xmlns:a="http://schemas.openxmlformats.org/drawingml/2006/main" noGrp="1"/>
          </p:cNvSpPr>
          <p:nvPr/>
        </p:nvSpPr>
        <p:spPr>
          <a:xfrm xmlns:a="http://schemas.openxmlformats.org/drawingml/2006/main">
            <a:off x="714375" y="25050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Companion, Ontology Junction</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Import and approval actions</a:t>
            </a:r>
          </a:p>
        </p:txBody>
      </p:sp>
      <p:sp>
        <p:nvSpPr>
          <p:cNvPr id="8" name="">
            <a:extLst xmlns:a="http://schemas.openxmlformats.org/drawingml/2006/main">
              <a:ext uri="{FF2B5EF4-FFF2-40B4-BE49-F238E27FC236}">
                <a16:creationId xmlns:a16="http://schemas.microsoft.com/office/drawing/2014/main" id="{27865482-B33F-4607-9DC4-9ACA9F4A9DFA}"/>
              </a:ext>
            </a:extLst>
          </p:cNvPr>
          <p:cNvSpPr>
            <a:spLocks xmlns:a="http://schemas.openxmlformats.org/drawingml/2006/main" noGrp="1"/>
          </p:cNvSpPr>
          <p:nvPr/>
        </p:nvSpPr>
        <p:spPr>
          <a:xfrm xmlns:a="http://schemas.openxmlformats.org/drawingml/2006/main">
            <a:off x="4476750" y="2000250"/>
            <a:ext cx="32385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9" name="">
            <a:extLst xmlns:a="http://schemas.openxmlformats.org/drawingml/2006/main">
              <a:ext uri="{FF2B5EF4-FFF2-40B4-BE49-F238E27FC236}">
                <a16:creationId xmlns:a16="http://schemas.microsoft.com/office/drawing/2014/main" id="{B5BC95A5-F1AD-4A37-BBE8-0AB2D158F289}"/>
              </a:ext>
            </a:extLst>
          </p:cNvPr>
          <p:cNvSpPr>
            <a:spLocks xmlns:a="http://schemas.openxmlformats.org/drawingml/2006/main" noGrp="1"/>
          </p:cNvSpPr>
          <p:nvPr/>
        </p:nvSpPr>
        <p:spPr>
          <a:xfrm xmlns:a="http://schemas.openxmlformats.org/drawingml/2006/main">
            <a:off x="4619625" y="21145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Agentic service :8012</a:t>
            </a:r>
          </a:p>
        </p:txBody>
      </p:sp>
      <p:sp>
        <p:nvSpPr>
          <p:cNvPr id="10" name="">
            <a:extLst xmlns:a="http://schemas.openxmlformats.org/drawingml/2006/main">
              <a:ext uri="{FF2B5EF4-FFF2-40B4-BE49-F238E27FC236}">
                <a16:creationId xmlns:a16="http://schemas.microsoft.com/office/drawing/2014/main" id="{FE2183CB-4FFB-40DB-9D4F-BDC6CD2D0F85}"/>
              </a:ext>
            </a:extLst>
          </p:cNvPr>
          <p:cNvSpPr>
            <a:spLocks xmlns:a="http://schemas.openxmlformats.org/drawingml/2006/main" noGrp="1"/>
          </p:cNvSpPr>
          <p:nvPr/>
        </p:nvSpPr>
        <p:spPr>
          <a:xfrm xmlns:a="http://schemas.openxmlformats.org/drawingml/2006/main">
            <a:off x="4619625" y="25050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Select agent and tools</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Track run state and telemetry</a:t>
            </a:r>
          </a:p>
        </p:txBody>
      </p:sp>
      <p:sp>
        <p:nvSpPr>
          <p:cNvPr id="11" name="">
            <a:extLst xmlns:a="http://schemas.openxmlformats.org/drawingml/2006/main">
              <a:ext uri="{FF2B5EF4-FFF2-40B4-BE49-F238E27FC236}">
                <a16:creationId xmlns:a16="http://schemas.microsoft.com/office/drawing/2014/main" id="{C5397D45-3A6F-4D04-9293-E1A234532724}"/>
              </a:ext>
            </a:extLst>
          </p:cNvPr>
          <p:cNvSpPr>
            <a:spLocks xmlns:a="http://schemas.openxmlformats.org/drawingml/2006/main" noGrp="1"/>
          </p:cNvSpPr>
          <p:nvPr/>
        </p:nvSpPr>
        <p:spPr>
          <a:xfrm xmlns:a="http://schemas.openxmlformats.org/drawingml/2006/main">
            <a:off x="8382000" y="2000250"/>
            <a:ext cx="32385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2" name="">
            <a:extLst xmlns:a="http://schemas.openxmlformats.org/drawingml/2006/main">
              <a:ext uri="{FF2B5EF4-FFF2-40B4-BE49-F238E27FC236}">
                <a16:creationId xmlns:a16="http://schemas.microsoft.com/office/drawing/2014/main" id="{203BF6BD-2467-4F6B-8709-F2AC064D968B}"/>
              </a:ext>
            </a:extLst>
          </p:cNvPr>
          <p:cNvSpPr>
            <a:spLocks xmlns:a="http://schemas.openxmlformats.org/drawingml/2006/main" noGrp="1"/>
          </p:cNvSpPr>
          <p:nvPr/>
        </p:nvSpPr>
        <p:spPr>
          <a:xfrm xmlns:a="http://schemas.openxmlformats.org/drawingml/2006/main">
            <a:off x="8524875" y="21145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Governed tools</a:t>
            </a:r>
          </a:p>
        </p:txBody>
      </p:sp>
      <p:sp>
        <p:nvSpPr>
          <p:cNvPr id="13" name="">
            <a:extLst xmlns:a="http://schemas.openxmlformats.org/drawingml/2006/main">
              <a:ext uri="{FF2B5EF4-FFF2-40B4-BE49-F238E27FC236}">
                <a16:creationId xmlns:a16="http://schemas.microsoft.com/office/drawing/2014/main" id="{25DFFF74-377F-4E5F-BD7F-ADA0B65F0019}"/>
              </a:ext>
            </a:extLst>
          </p:cNvPr>
          <p:cNvSpPr>
            <a:spLocks xmlns:a="http://schemas.openxmlformats.org/drawingml/2006/main" noGrp="1"/>
          </p:cNvSpPr>
          <p:nvPr/>
        </p:nvSpPr>
        <p:spPr>
          <a:xfrm xmlns:a="http://schemas.openxmlformats.org/drawingml/2006/main">
            <a:off x="8524875" y="25050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Validate arguments and scope</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Use configured service URLs</a:t>
            </a:r>
          </a:p>
        </p:txBody>
      </p:sp>
      <p:cxnSp>
        <p:nvCxnSpPr>
          <p:cNvPr id="69" name=""/>
          <p:cNvCxnSpPr>
            <a:stCxn xmlns:a="http://schemas.openxmlformats.org/drawingml/2006/main" id="5" idx="3"/>
            <a:endCxn xmlns:a="http://schemas.openxmlformats.org/drawingml/2006/main" id="8" idx="1"/>
          </p:cNvCxnSpPr>
          <p:nvPr/>
        </p:nvCxnSpPr>
        <p:spPr>
          <a:xfrm xmlns:a="http://schemas.openxmlformats.org/drawingml/2006/main">
            <a:off x="3810000" y="2595563"/>
            <a:ext cx="66675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70" name=""/>
          <p:cNvCxnSpPr>
            <a:stCxn xmlns:a="http://schemas.openxmlformats.org/drawingml/2006/main" id="8" idx="3"/>
            <a:endCxn xmlns:a="http://schemas.openxmlformats.org/drawingml/2006/main" id="11" idx="1"/>
          </p:cNvCxnSpPr>
          <p:nvPr/>
        </p:nvCxnSpPr>
        <p:spPr>
          <a:xfrm xmlns:a="http://schemas.openxmlformats.org/drawingml/2006/main">
            <a:off x="7715250" y="2595563"/>
            <a:ext cx="666750" cy="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16" name="">
            <a:extLst xmlns:a="http://schemas.openxmlformats.org/drawingml/2006/main">
              <a:ext uri="{FF2B5EF4-FFF2-40B4-BE49-F238E27FC236}">
                <a16:creationId xmlns:a16="http://schemas.microsoft.com/office/drawing/2014/main" id="{8B0E6E82-3254-41A4-AB91-E5544315B6EC}"/>
              </a:ext>
            </a:extLst>
          </p:cNvPr>
          <p:cNvSpPr>
            <a:spLocks xmlns:a="http://schemas.openxmlformats.org/drawingml/2006/main" noGrp="1"/>
          </p:cNvSpPr>
          <p:nvPr/>
        </p:nvSpPr>
        <p:spPr>
          <a:xfrm xmlns:a="http://schemas.openxmlformats.org/drawingml/2006/main">
            <a:off x="571500" y="4048125"/>
            <a:ext cx="32385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7" name="">
            <a:extLst xmlns:a="http://schemas.openxmlformats.org/drawingml/2006/main">
              <a:ext uri="{FF2B5EF4-FFF2-40B4-BE49-F238E27FC236}">
                <a16:creationId xmlns:a16="http://schemas.microsoft.com/office/drawing/2014/main" id="{C684569F-BFE4-41F2-9068-5D6BEB14E2B2}"/>
              </a:ext>
            </a:extLst>
          </p:cNvPr>
          <p:cNvSpPr>
            <a:spLocks xmlns:a="http://schemas.openxmlformats.org/drawingml/2006/main" noGrp="1"/>
          </p:cNvSpPr>
          <p:nvPr/>
        </p:nvSpPr>
        <p:spPr>
          <a:xfrm xmlns:a="http://schemas.openxmlformats.org/drawingml/2006/main">
            <a:off x="714375" y="41624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Optional LLM</a:t>
            </a:r>
          </a:p>
        </p:txBody>
      </p:sp>
      <p:sp>
        <p:nvSpPr>
          <p:cNvPr id="18" name="">
            <a:extLst xmlns:a="http://schemas.openxmlformats.org/drawingml/2006/main">
              <a:ext uri="{FF2B5EF4-FFF2-40B4-BE49-F238E27FC236}">
                <a16:creationId xmlns:a16="http://schemas.microsoft.com/office/drawing/2014/main" id="{4B4DFEF3-0F98-4B50-824C-C5637519065F}"/>
              </a:ext>
            </a:extLst>
          </p:cNvPr>
          <p:cNvSpPr>
            <a:spLocks xmlns:a="http://schemas.openxmlformats.org/drawingml/2006/main" noGrp="1"/>
          </p:cNvSpPr>
          <p:nvPr/>
        </p:nvSpPr>
        <p:spPr>
          <a:xfrm xmlns:a="http://schemas.openxmlformats.org/drawingml/2006/main">
            <a:off x="714375" y="45529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Ollama generation</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Tools enforce permissions</a:t>
            </a:r>
          </a:p>
        </p:txBody>
      </p:sp>
      <p:sp>
        <p:nvSpPr>
          <p:cNvPr id="19" name="">
            <a:extLst xmlns:a="http://schemas.openxmlformats.org/drawingml/2006/main">
              <a:ext uri="{FF2B5EF4-FFF2-40B4-BE49-F238E27FC236}">
                <a16:creationId xmlns:a16="http://schemas.microsoft.com/office/drawing/2014/main" id="{AB1953B0-891D-4B57-99EA-CD945B41404F}"/>
              </a:ext>
            </a:extLst>
          </p:cNvPr>
          <p:cNvSpPr>
            <a:spLocks xmlns:a="http://schemas.openxmlformats.org/drawingml/2006/main" noGrp="1"/>
          </p:cNvSpPr>
          <p:nvPr/>
        </p:nvSpPr>
        <p:spPr>
          <a:xfrm xmlns:a="http://schemas.openxmlformats.org/drawingml/2006/main">
            <a:off x="4476750" y="4048125"/>
            <a:ext cx="32385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20" name="">
            <a:extLst xmlns:a="http://schemas.openxmlformats.org/drawingml/2006/main">
              <a:ext uri="{FF2B5EF4-FFF2-40B4-BE49-F238E27FC236}">
                <a16:creationId xmlns:a16="http://schemas.microsoft.com/office/drawing/2014/main" id="{50B7EEDC-47D7-45FE-A74C-7AE4CA32363B}"/>
              </a:ext>
            </a:extLst>
          </p:cNvPr>
          <p:cNvSpPr>
            <a:spLocks xmlns:a="http://schemas.openxmlformats.org/drawingml/2006/main" noGrp="1"/>
          </p:cNvSpPr>
          <p:nvPr/>
        </p:nvSpPr>
        <p:spPr>
          <a:xfrm xmlns:a="http://schemas.openxmlformats.org/drawingml/2006/main">
            <a:off x="4619625" y="41624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Control and evidence</a:t>
            </a:r>
          </a:p>
        </p:txBody>
      </p:sp>
      <p:sp>
        <p:nvSpPr>
          <p:cNvPr id="21" name="">
            <a:extLst xmlns:a="http://schemas.openxmlformats.org/drawingml/2006/main">
              <a:ext uri="{FF2B5EF4-FFF2-40B4-BE49-F238E27FC236}">
                <a16:creationId xmlns:a16="http://schemas.microsoft.com/office/drawing/2014/main" id="{5E579FC4-CFD9-4216-A769-E9AAB7AA0673}"/>
              </a:ext>
            </a:extLst>
          </p:cNvPr>
          <p:cNvSpPr>
            <a:spLocks xmlns:a="http://schemas.openxmlformats.org/drawingml/2006/main" noGrp="1"/>
          </p:cNvSpPr>
          <p:nvPr/>
        </p:nvSpPr>
        <p:spPr>
          <a:xfrm xmlns:a="http://schemas.openxmlformats.org/drawingml/2006/main">
            <a:off x="4619625" y="45529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PostgreSQL: state, credentials</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Neo4j and retained artifacts</a:t>
            </a:r>
          </a:p>
        </p:txBody>
      </p:sp>
      <p:sp>
        <p:nvSpPr>
          <p:cNvPr id="22" name="">
            <a:extLst xmlns:a="http://schemas.openxmlformats.org/drawingml/2006/main">
              <a:ext uri="{FF2B5EF4-FFF2-40B4-BE49-F238E27FC236}">
                <a16:creationId xmlns:a16="http://schemas.microsoft.com/office/drawing/2014/main" id="{0A343F67-2792-484F-AEAF-FF533EF4B3A4}"/>
              </a:ext>
            </a:extLst>
          </p:cNvPr>
          <p:cNvSpPr>
            <a:spLocks xmlns:a="http://schemas.openxmlformats.org/drawingml/2006/main" noGrp="1"/>
          </p:cNvSpPr>
          <p:nvPr/>
        </p:nvSpPr>
        <p:spPr>
          <a:xfrm xmlns:a="http://schemas.openxmlformats.org/drawingml/2006/main">
            <a:off x="8382000" y="4048125"/>
            <a:ext cx="32385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23" name="">
            <a:extLst xmlns:a="http://schemas.openxmlformats.org/drawingml/2006/main">
              <a:ext uri="{FF2B5EF4-FFF2-40B4-BE49-F238E27FC236}">
                <a16:creationId xmlns:a16="http://schemas.microsoft.com/office/drawing/2014/main" id="{99D5301F-C9D1-4BA3-86AE-63E0F19DE94A}"/>
              </a:ext>
            </a:extLst>
          </p:cNvPr>
          <p:cNvSpPr>
            <a:spLocks xmlns:a="http://schemas.openxmlformats.org/drawingml/2006/main" noGrp="1"/>
          </p:cNvSpPr>
          <p:nvPr/>
        </p:nvSpPr>
        <p:spPr>
          <a:xfrm xmlns:a="http://schemas.openxmlformats.org/drawingml/2006/main">
            <a:off x="8524875" y="41624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Domain services</a:t>
            </a:r>
          </a:p>
        </p:txBody>
      </p:sp>
      <p:sp>
        <p:nvSpPr>
          <p:cNvPr id="24" name="">
            <a:extLst xmlns:a="http://schemas.openxmlformats.org/drawingml/2006/main">
              <a:ext uri="{FF2B5EF4-FFF2-40B4-BE49-F238E27FC236}">
                <a16:creationId xmlns:a16="http://schemas.microsoft.com/office/drawing/2014/main" id="{7F422898-45A2-4FD0-8F24-2B1BAB841985}"/>
              </a:ext>
            </a:extLst>
          </p:cNvPr>
          <p:cNvSpPr>
            <a:spLocks xmlns:a="http://schemas.openxmlformats.org/drawingml/2006/main" noGrp="1"/>
          </p:cNvSpPr>
          <p:nvPr/>
        </p:nvSpPr>
        <p:spPr>
          <a:xfrm xmlns:a="http://schemas.openxmlformats.org/drawingml/2006/main">
            <a:off x="8524875" y="45529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Ontology, graph, ingestion</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Pipeline, catalog and products</a:t>
            </a:r>
          </a:p>
        </p:txBody>
      </p:sp>
      <p:cxnSp>
        <p:nvCxnSpPr>
          <p:cNvPr id="80" name=""/>
          <p:cNvCxnSpPr>
            <a:stCxn xmlns:a="http://schemas.openxmlformats.org/drawingml/2006/main" id="8" idx="2"/>
            <a:endCxn xmlns:a="http://schemas.openxmlformats.org/drawingml/2006/main" id="16" idx="0"/>
          </p:cNvCxnSpPr>
          <p:nvPr/>
        </p:nvCxnSpPr>
        <p:spPr>
          <a:xfrm xmlns:a="http://schemas.openxmlformats.org/drawingml/2006/main" flipH="1">
            <a:off x="2190750" y="3190875"/>
            <a:ext cx="3905250" cy="857250"/>
          </a:xfrm>
          <a:prstGeom xmlns:a="http://schemas.openxmlformats.org/drawingml/2006/main" prst="bentConnector4">
            <a:avLst>
              <a:gd name="adj1" fmla="val 0"/>
              <a:gd name="adj2" fmla="val 50000"/>
            </a:avLst>
          </a:prstGeom>
          <a:ln xmlns:a="http://schemas.openxmlformats.org/drawingml/2006/main" w="19050">
            <a:solidFill>
              <a:srgbClr val="008594"/>
            </a:solidFill>
            <a:tailEnd type="arrow" w="med" len="med"/>
          </a:ln>
        </p:spPr>
      </p:cxnSp>
      <p:cxnSp>
        <p:nvCxnSpPr>
          <p:cNvPr id="81" name=""/>
          <p:cNvCxnSpPr>
            <a:stCxn xmlns:a="http://schemas.openxmlformats.org/drawingml/2006/main" id="8" idx="2"/>
            <a:endCxn xmlns:a="http://schemas.openxmlformats.org/drawingml/2006/main" id="19" idx="0"/>
          </p:cNvCxnSpPr>
          <p:nvPr/>
        </p:nvCxnSpPr>
        <p:spPr>
          <a:xfrm xmlns:a="http://schemas.openxmlformats.org/drawingml/2006/main">
            <a:off x="6096000" y="3190875"/>
            <a:ext cx="0" cy="85725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82" name=""/>
          <p:cNvCxnSpPr>
            <a:stCxn xmlns:a="http://schemas.openxmlformats.org/drawingml/2006/main" id="11" idx="2"/>
            <a:endCxn xmlns:a="http://schemas.openxmlformats.org/drawingml/2006/main" id="22" idx="0"/>
          </p:cNvCxnSpPr>
          <p:nvPr/>
        </p:nvCxnSpPr>
        <p:spPr>
          <a:xfrm xmlns:a="http://schemas.openxmlformats.org/drawingml/2006/main">
            <a:off x="10001250" y="3190875"/>
            <a:ext cx="0" cy="85725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28" name="">
            <a:extLst xmlns:a="http://schemas.openxmlformats.org/drawingml/2006/main">
              <a:ext uri="{FF2B5EF4-FFF2-40B4-BE49-F238E27FC236}">
                <a16:creationId xmlns:a16="http://schemas.microsoft.com/office/drawing/2014/main" id="{6A799CEC-A114-4788-B338-59A93F51ECDC}"/>
              </a:ext>
            </a:extLst>
          </p:cNvPr>
          <p:cNvSpPr>
            <a:spLocks xmlns:a="http://schemas.openxmlformats.org/drawingml/2006/main" noGrp="1"/>
          </p:cNvSpPr>
          <p:nvPr/>
        </p:nvSpPr>
        <p:spPr>
          <a:xfrm xmlns:a="http://schemas.openxmlformats.org/drawingml/2006/main">
            <a:off x="571500" y="5724525"/>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233747"/>
                </a:solidFill>
                <a:latin typeface="Arial"/>
                <a:ea typeface="Arial"/>
                <a:cs typeface="Arial"/>
              </a:defRPr>
            </a:pPr>
            <a:r>
              <a:rPr sz="1725" b="0">
                <a:solidFill>
                  <a:srgbClr val="233747"/>
                </a:solidFill>
                <a:latin typeface="Arial"/>
                <a:ea typeface="Arial"/>
                <a:cs typeface="Arial"/>
              </a:rPr>
              <a:t>Services return results to the caller. The UI reviews evidence and sends explicit approval for protected changes.</a:t>
            </a:r>
          </a:p>
        </p:txBody>
      </p:sp>
    </p:spTree>
    <p:extLst>
      <p:ext uri="{BB962C8B-B14F-4D97-AF65-F5344CB8AC3E}">
        <p14:creationId xmlns:p14="http://schemas.microsoft.com/office/powerpoint/2010/main" val="316553472"/>
      </p:ext>
    </p:extLst>
  </p:cSld>
</p:sld>
</file>

<file path=ppt/slides/slide2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057643F-9E8A-49CE-80C9-BE86D980B37D}"/>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Pipeline execution and publication</a:t>
            </a:r>
          </a:p>
        </p:txBody>
      </p:sp>
      <p:sp>
        <p:nvSpPr>
          <p:cNvPr id="2" name="">
            <a:extLst xmlns:a="http://schemas.openxmlformats.org/drawingml/2006/main">
              <a:ext uri="{FF2B5EF4-FFF2-40B4-BE49-F238E27FC236}">
                <a16:creationId xmlns:a16="http://schemas.microsoft.com/office/drawing/2014/main" id="{2A6D89D5-248E-4F94-BF7B-231AC8170D47}"/>
              </a:ext>
            </a:extLst>
          </p:cNvPr>
          <p:cNvSpPr>
            <a:spLocks xmlns:a="http://schemas.openxmlformats.org/drawingml/2006/main" noGrp="1"/>
          </p:cNvSpPr>
          <p:nvPr/>
        </p:nvSpPr>
        <p:spPr>
          <a:xfrm xmlns:a="http://schemas.openxmlformats.org/drawingml/2006/main">
            <a:off x="571500" y="1123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Approved jobs execute through a durable worker. Catalog registration uses a separate outbox worker.</a:t>
            </a:r>
          </a:p>
        </p:txBody>
      </p:sp>
      <p:sp>
        <p:nvSpPr>
          <p:cNvPr id="3" name="">
            <a:extLst xmlns:a="http://schemas.openxmlformats.org/drawingml/2006/main">
              <a:ext uri="{FF2B5EF4-FFF2-40B4-BE49-F238E27FC236}">
                <a16:creationId xmlns:a16="http://schemas.microsoft.com/office/drawing/2014/main" id="{4F6171B5-0424-4D82-940F-7BF8E8DE86C0}"/>
              </a:ext>
            </a:extLst>
          </p:cNvPr>
          <p:cNvSpPr>
            <a:spLocks xmlns:a="http://schemas.openxmlformats.org/drawingml/2006/main" noGrp="1"/>
          </p:cNvSpPr>
          <p:nvPr/>
        </p:nvSpPr>
        <p:spPr>
          <a:xfrm xmlns:a="http://schemas.openxmlformats.org/drawingml/2006/main">
            <a:off x="571500" y="64293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Component interactions / 6 October 2026</a:t>
            </a:r>
          </a:p>
        </p:txBody>
      </p:sp>
      <p:sp>
        <p:nvSpPr>
          <p:cNvPr id="4" name="">
            <a:extLst xmlns:a="http://schemas.openxmlformats.org/drawingml/2006/main">
              <a:ext uri="{FF2B5EF4-FFF2-40B4-BE49-F238E27FC236}">
                <a16:creationId xmlns:a16="http://schemas.microsoft.com/office/drawing/2014/main" id="{DA381799-D42E-46F8-B605-3BFC83E3392E}"/>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233747"/>
                </a:solidFill>
                <a:latin typeface="Arial"/>
                <a:ea typeface="Arial"/>
                <a:cs typeface="Arial"/>
              </a:defRPr>
            </a:pPr>
            <a:r>
              <a:rPr sz="1125" b="0">
                <a:solidFill>
                  <a:srgbClr val="233747"/>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0FB74DF5-49AF-4502-92CE-79C544DAF9D3}"/>
              </a:ext>
            </a:extLst>
          </p:cNvPr>
          <p:cNvSpPr>
            <a:spLocks xmlns:a="http://schemas.openxmlformats.org/drawingml/2006/main" noGrp="1"/>
          </p:cNvSpPr>
          <p:nvPr/>
        </p:nvSpPr>
        <p:spPr>
          <a:xfrm xmlns:a="http://schemas.openxmlformats.org/drawingml/2006/main">
            <a:off x="571500" y="2000250"/>
            <a:ext cx="2476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6" name="">
            <a:extLst xmlns:a="http://schemas.openxmlformats.org/drawingml/2006/main">
              <a:ext uri="{FF2B5EF4-FFF2-40B4-BE49-F238E27FC236}">
                <a16:creationId xmlns:a16="http://schemas.microsoft.com/office/drawing/2014/main" id="{837FF9F8-2192-4663-A7EB-0C327288D8E9}"/>
              </a:ext>
            </a:extLst>
          </p:cNvPr>
          <p:cNvSpPr>
            <a:spLocks xmlns:a="http://schemas.openxmlformats.org/drawingml/2006/main" noGrp="1"/>
          </p:cNvSpPr>
          <p:nvPr/>
        </p:nvSpPr>
        <p:spPr>
          <a:xfrm xmlns:a="http://schemas.openxmlformats.org/drawingml/2006/main">
            <a:off x="714375" y="21145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UI / agent tool</a:t>
            </a:r>
          </a:p>
        </p:txBody>
      </p:sp>
      <p:sp>
        <p:nvSpPr>
          <p:cNvPr id="7" name="">
            <a:extLst xmlns:a="http://schemas.openxmlformats.org/drawingml/2006/main">
              <a:ext uri="{FF2B5EF4-FFF2-40B4-BE49-F238E27FC236}">
                <a16:creationId xmlns:a16="http://schemas.microsoft.com/office/drawing/2014/main" id="{1840F104-310B-434D-94D4-966D1746727D}"/>
              </a:ext>
            </a:extLst>
          </p:cNvPr>
          <p:cNvSpPr>
            <a:spLocks xmlns:a="http://schemas.openxmlformats.org/drawingml/2006/main" noGrp="1"/>
          </p:cNvSpPr>
          <p:nvPr/>
        </p:nvSpPr>
        <p:spPr>
          <a:xfrm xmlns:a="http://schemas.openxmlformats.org/drawingml/2006/main">
            <a:off x="714375" y="25050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Submit job</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Read run status</a:t>
            </a:r>
          </a:p>
        </p:txBody>
      </p:sp>
      <p:sp>
        <p:nvSpPr>
          <p:cNvPr id="8" name="">
            <a:extLst xmlns:a="http://schemas.openxmlformats.org/drawingml/2006/main">
              <a:ext uri="{FF2B5EF4-FFF2-40B4-BE49-F238E27FC236}">
                <a16:creationId xmlns:a16="http://schemas.microsoft.com/office/drawing/2014/main" id="{EB632ED6-5068-4386-B6ED-BE0466D311F6}"/>
              </a:ext>
            </a:extLst>
          </p:cNvPr>
          <p:cNvSpPr>
            <a:spLocks xmlns:a="http://schemas.openxmlformats.org/drawingml/2006/main" noGrp="1"/>
          </p:cNvSpPr>
          <p:nvPr/>
        </p:nvSpPr>
        <p:spPr>
          <a:xfrm xmlns:a="http://schemas.openxmlformats.org/drawingml/2006/main">
            <a:off x="3429000" y="2000250"/>
            <a:ext cx="2476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9" name="">
            <a:extLst xmlns:a="http://schemas.openxmlformats.org/drawingml/2006/main">
              <a:ext uri="{FF2B5EF4-FFF2-40B4-BE49-F238E27FC236}">
                <a16:creationId xmlns:a16="http://schemas.microsoft.com/office/drawing/2014/main" id="{D0DD6A5B-DB19-4722-8B8F-03225FD0DFFE}"/>
              </a:ext>
            </a:extLst>
          </p:cNvPr>
          <p:cNvSpPr>
            <a:spLocks xmlns:a="http://schemas.openxmlformats.org/drawingml/2006/main" noGrp="1"/>
          </p:cNvSpPr>
          <p:nvPr/>
        </p:nvSpPr>
        <p:spPr>
          <a:xfrm xmlns:a="http://schemas.openxmlformats.org/drawingml/2006/main">
            <a:off x="3571875" y="21145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Pipeline API :8019</a:t>
            </a:r>
          </a:p>
        </p:txBody>
      </p:sp>
      <p:sp>
        <p:nvSpPr>
          <p:cNvPr id="10" name="">
            <a:extLst xmlns:a="http://schemas.openxmlformats.org/drawingml/2006/main">
              <a:ext uri="{FF2B5EF4-FFF2-40B4-BE49-F238E27FC236}">
                <a16:creationId xmlns:a16="http://schemas.microsoft.com/office/drawing/2014/main" id="{C67D2002-1D42-4657-AE59-D4524530C2EE}"/>
              </a:ext>
            </a:extLst>
          </p:cNvPr>
          <p:cNvSpPr>
            <a:spLocks xmlns:a="http://schemas.openxmlformats.org/drawingml/2006/main" noGrp="1"/>
          </p:cNvSpPr>
          <p:nvPr/>
        </p:nvSpPr>
        <p:spPr>
          <a:xfrm xmlns:a="http://schemas.openxmlformats.org/drawingml/2006/main">
            <a:off x="3571875" y="25050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Validate approval</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Persist run</a:t>
            </a:r>
          </a:p>
        </p:txBody>
      </p:sp>
      <p:sp>
        <p:nvSpPr>
          <p:cNvPr id="11" name="">
            <a:extLst xmlns:a="http://schemas.openxmlformats.org/drawingml/2006/main">
              <a:ext uri="{FF2B5EF4-FFF2-40B4-BE49-F238E27FC236}">
                <a16:creationId xmlns:a16="http://schemas.microsoft.com/office/drawing/2014/main" id="{A98D7A86-C32E-4FDC-917A-7A71D1251FF7}"/>
              </a:ext>
            </a:extLst>
          </p:cNvPr>
          <p:cNvSpPr>
            <a:spLocks xmlns:a="http://schemas.openxmlformats.org/drawingml/2006/main" noGrp="1"/>
          </p:cNvSpPr>
          <p:nvPr/>
        </p:nvSpPr>
        <p:spPr>
          <a:xfrm xmlns:a="http://schemas.openxmlformats.org/drawingml/2006/main">
            <a:off x="6286500" y="2000250"/>
            <a:ext cx="2476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2" name="">
            <a:extLst xmlns:a="http://schemas.openxmlformats.org/drawingml/2006/main">
              <a:ext uri="{FF2B5EF4-FFF2-40B4-BE49-F238E27FC236}">
                <a16:creationId xmlns:a16="http://schemas.microsoft.com/office/drawing/2014/main" id="{C5D8A597-A437-476C-BBF3-F85A9AA460B0}"/>
              </a:ext>
            </a:extLst>
          </p:cNvPr>
          <p:cNvSpPr>
            <a:spLocks xmlns:a="http://schemas.openxmlformats.org/drawingml/2006/main" noGrp="1"/>
          </p:cNvSpPr>
          <p:nvPr/>
        </p:nvSpPr>
        <p:spPr>
          <a:xfrm xmlns:a="http://schemas.openxmlformats.org/drawingml/2006/main">
            <a:off x="6429375" y="21145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Pipeline worker</a:t>
            </a:r>
          </a:p>
        </p:txBody>
      </p:sp>
      <p:sp>
        <p:nvSpPr>
          <p:cNvPr id="13" name="">
            <a:extLst xmlns:a="http://schemas.openxmlformats.org/drawingml/2006/main">
              <a:ext uri="{FF2B5EF4-FFF2-40B4-BE49-F238E27FC236}">
                <a16:creationId xmlns:a16="http://schemas.microsoft.com/office/drawing/2014/main" id="{470BABE4-0DB2-45FD-9538-6D6E2906B3B8}"/>
              </a:ext>
            </a:extLst>
          </p:cNvPr>
          <p:cNvSpPr>
            <a:spLocks xmlns:a="http://schemas.openxmlformats.org/drawingml/2006/main" noGrp="1"/>
          </p:cNvSpPr>
          <p:nvPr/>
        </p:nvSpPr>
        <p:spPr>
          <a:xfrm xmlns:a="http://schemas.openxmlformats.org/drawingml/2006/main">
            <a:off x="6429375" y="25050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Renew job lease</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Execute stages</a:t>
            </a:r>
          </a:p>
        </p:txBody>
      </p:sp>
      <p:sp>
        <p:nvSpPr>
          <p:cNvPr id="14" name="">
            <a:extLst xmlns:a="http://schemas.openxmlformats.org/drawingml/2006/main">
              <a:ext uri="{FF2B5EF4-FFF2-40B4-BE49-F238E27FC236}">
                <a16:creationId xmlns:a16="http://schemas.microsoft.com/office/drawing/2014/main" id="{768D008C-678E-4591-99AE-EE9CECE8594C}"/>
              </a:ext>
            </a:extLst>
          </p:cNvPr>
          <p:cNvSpPr>
            <a:spLocks xmlns:a="http://schemas.openxmlformats.org/drawingml/2006/main" noGrp="1"/>
          </p:cNvSpPr>
          <p:nvPr/>
        </p:nvSpPr>
        <p:spPr>
          <a:xfrm xmlns:a="http://schemas.openxmlformats.org/drawingml/2006/main">
            <a:off x="9144000" y="2000250"/>
            <a:ext cx="2476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15" name="">
            <a:extLst xmlns:a="http://schemas.openxmlformats.org/drawingml/2006/main">
              <a:ext uri="{FF2B5EF4-FFF2-40B4-BE49-F238E27FC236}">
                <a16:creationId xmlns:a16="http://schemas.microsoft.com/office/drawing/2014/main" id="{258CBCB7-88F9-43FE-993E-D6A1F49A6275}"/>
              </a:ext>
            </a:extLst>
          </p:cNvPr>
          <p:cNvSpPr>
            <a:spLocks xmlns:a="http://schemas.openxmlformats.org/drawingml/2006/main" noGrp="1"/>
          </p:cNvSpPr>
          <p:nvPr/>
        </p:nvSpPr>
        <p:spPr>
          <a:xfrm xmlns:a="http://schemas.openxmlformats.org/drawingml/2006/main">
            <a:off x="9286875" y="21145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Job outputs</a:t>
            </a:r>
          </a:p>
        </p:txBody>
      </p:sp>
      <p:sp>
        <p:nvSpPr>
          <p:cNvPr id="16" name="">
            <a:extLst xmlns:a="http://schemas.openxmlformats.org/drawingml/2006/main">
              <a:ext uri="{FF2B5EF4-FFF2-40B4-BE49-F238E27FC236}">
                <a16:creationId xmlns:a16="http://schemas.microsoft.com/office/drawing/2014/main" id="{ED0EBEE0-9A10-49DF-8361-81F18007D6EF}"/>
              </a:ext>
            </a:extLst>
          </p:cNvPr>
          <p:cNvSpPr>
            <a:spLocks xmlns:a="http://schemas.openxmlformats.org/drawingml/2006/main" noGrp="1"/>
          </p:cNvSpPr>
          <p:nvPr/>
        </p:nvSpPr>
        <p:spPr>
          <a:xfrm xmlns:a="http://schemas.openxmlformats.org/drawingml/2006/main">
            <a:off x="9286875" y="25050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Quality and artifacts</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Graph / product</a:t>
            </a:r>
          </a:p>
        </p:txBody>
      </p:sp>
      <p:cxnSp>
        <p:nvCxnSpPr>
          <p:cNvPr id="78" name=""/>
          <p:cNvCxnSpPr>
            <a:stCxn xmlns:a="http://schemas.openxmlformats.org/drawingml/2006/main" id="5" idx="3"/>
            <a:endCxn xmlns:a="http://schemas.openxmlformats.org/drawingml/2006/main" id="8" idx="1"/>
          </p:cNvCxnSpPr>
          <p:nvPr/>
        </p:nvCxnSpPr>
        <p:spPr>
          <a:xfrm xmlns:a="http://schemas.openxmlformats.org/drawingml/2006/main">
            <a:off x="3048000" y="2690813"/>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79" name=""/>
          <p:cNvCxnSpPr>
            <a:stCxn xmlns:a="http://schemas.openxmlformats.org/drawingml/2006/main" id="8" idx="3"/>
            <a:endCxn xmlns:a="http://schemas.openxmlformats.org/drawingml/2006/main" id="11" idx="1"/>
          </p:cNvCxnSpPr>
          <p:nvPr/>
        </p:nvCxnSpPr>
        <p:spPr>
          <a:xfrm xmlns:a="http://schemas.openxmlformats.org/drawingml/2006/main">
            <a:off x="5905500" y="2690813"/>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80" name=""/>
          <p:cNvCxnSpPr>
            <a:stCxn xmlns:a="http://schemas.openxmlformats.org/drawingml/2006/main" id="11" idx="3"/>
            <a:endCxn xmlns:a="http://schemas.openxmlformats.org/drawingml/2006/main" id="14" idx="1"/>
          </p:cNvCxnSpPr>
          <p:nvPr/>
        </p:nvCxnSpPr>
        <p:spPr>
          <a:xfrm xmlns:a="http://schemas.openxmlformats.org/drawingml/2006/main">
            <a:off x="8763000" y="2690813"/>
            <a:ext cx="381000" cy="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20" name="">
            <a:extLst xmlns:a="http://schemas.openxmlformats.org/drawingml/2006/main">
              <a:ext uri="{FF2B5EF4-FFF2-40B4-BE49-F238E27FC236}">
                <a16:creationId xmlns:a16="http://schemas.microsoft.com/office/drawing/2014/main" id="{07B96891-24DD-4F63-A801-FE16790D438B}"/>
              </a:ext>
            </a:extLst>
          </p:cNvPr>
          <p:cNvSpPr>
            <a:spLocks xmlns:a="http://schemas.openxmlformats.org/drawingml/2006/main" noGrp="1"/>
          </p:cNvSpPr>
          <p:nvPr/>
        </p:nvSpPr>
        <p:spPr>
          <a:xfrm xmlns:a="http://schemas.openxmlformats.org/drawingml/2006/main">
            <a:off x="1047750" y="4191000"/>
            <a:ext cx="30480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21" name="">
            <a:extLst xmlns:a="http://schemas.openxmlformats.org/drawingml/2006/main">
              <a:ext uri="{FF2B5EF4-FFF2-40B4-BE49-F238E27FC236}">
                <a16:creationId xmlns:a16="http://schemas.microsoft.com/office/drawing/2014/main" id="{59DF8F28-A309-4328-AC34-EA556D1A31F3}"/>
              </a:ext>
            </a:extLst>
          </p:cNvPr>
          <p:cNvSpPr>
            <a:spLocks xmlns:a="http://schemas.openxmlformats.org/drawingml/2006/main" noGrp="1"/>
          </p:cNvSpPr>
          <p:nvPr/>
        </p:nvSpPr>
        <p:spPr>
          <a:xfrm xmlns:a="http://schemas.openxmlformats.org/drawingml/2006/main">
            <a:off x="1190625" y="430530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Data products :8017</a:t>
            </a:r>
          </a:p>
        </p:txBody>
      </p:sp>
      <p:sp>
        <p:nvSpPr>
          <p:cNvPr id="22" name="">
            <a:extLst xmlns:a="http://schemas.openxmlformats.org/drawingml/2006/main">
              <a:ext uri="{FF2B5EF4-FFF2-40B4-BE49-F238E27FC236}">
                <a16:creationId xmlns:a16="http://schemas.microsoft.com/office/drawing/2014/main" id="{3B89EB67-CB14-4632-97EC-81997FA47597}"/>
              </a:ext>
            </a:extLst>
          </p:cNvPr>
          <p:cNvSpPr>
            <a:spLocks xmlns:a="http://schemas.openxmlformats.org/drawingml/2006/main" noGrp="1"/>
          </p:cNvSpPr>
          <p:nvPr/>
        </p:nvSpPr>
        <p:spPr>
          <a:xfrm xmlns:a="http://schemas.openxmlformats.org/drawingml/2006/main">
            <a:off x="1190625" y="46958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Publish package metadata</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Record catalog outbox task</a:t>
            </a:r>
          </a:p>
        </p:txBody>
      </p:sp>
      <p:sp>
        <p:nvSpPr>
          <p:cNvPr id="23" name="">
            <a:extLst xmlns:a="http://schemas.openxmlformats.org/drawingml/2006/main">
              <a:ext uri="{FF2B5EF4-FFF2-40B4-BE49-F238E27FC236}">
                <a16:creationId xmlns:a16="http://schemas.microsoft.com/office/drawing/2014/main" id="{64930898-95A1-44B5-8D50-93F6D0A9F2F6}"/>
              </a:ext>
            </a:extLst>
          </p:cNvPr>
          <p:cNvSpPr>
            <a:spLocks xmlns:a="http://schemas.openxmlformats.org/drawingml/2006/main" noGrp="1"/>
          </p:cNvSpPr>
          <p:nvPr/>
        </p:nvSpPr>
        <p:spPr>
          <a:xfrm xmlns:a="http://schemas.openxmlformats.org/drawingml/2006/main">
            <a:off x="4572000" y="4191000"/>
            <a:ext cx="30480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24" name="">
            <a:extLst xmlns:a="http://schemas.openxmlformats.org/drawingml/2006/main">
              <a:ext uri="{FF2B5EF4-FFF2-40B4-BE49-F238E27FC236}">
                <a16:creationId xmlns:a16="http://schemas.microsoft.com/office/drawing/2014/main" id="{E48373B2-FE9C-4965-9C27-B5A969D6E62D}"/>
              </a:ext>
            </a:extLst>
          </p:cNvPr>
          <p:cNvSpPr>
            <a:spLocks xmlns:a="http://schemas.openxmlformats.org/drawingml/2006/main" noGrp="1"/>
          </p:cNvSpPr>
          <p:nvPr/>
        </p:nvSpPr>
        <p:spPr>
          <a:xfrm xmlns:a="http://schemas.openxmlformats.org/drawingml/2006/main">
            <a:off x="4714875" y="430530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Product outbox worker</a:t>
            </a:r>
          </a:p>
        </p:txBody>
      </p:sp>
      <p:sp>
        <p:nvSpPr>
          <p:cNvPr id="25" name="">
            <a:extLst xmlns:a="http://schemas.openxmlformats.org/drawingml/2006/main">
              <a:ext uri="{FF2B5EF4-FFF2-40B4-BE49-F238E27FC236}">
                <a16:creationId xmlns:a16="http://schemas.microsoft.com/office/drawing/2014/main" id="{7D11554A-7F5D-4867-9BBA-BEEF56022CDB}"/>
              </a:ext>
            </a:extLst>
          </p:cNvPr>
          <p:cNvSpPr>
            <a:spLocks xmlns:a="http://schemas.openxmlformats.org/drawingml/2006/main" noGrp="1"/>
          </p:cNvSpPr>
          <p:nvPr/>
        </p:nvSpPr>
        <p:spPr>
          <a:xfrm xmlns:a="http://schemas.openxmlformats.org/drawingml/2006/main">
            <a:off x="4714875" y="46958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Retry pending registration</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Reconcile delivery status</a:t>
            </a:r>
          </a:p>
        </p:txBody>
      </p:sp>
      <p:sp>
        <p:nvSpPr>
          <p:cNvPr id="26" name="">
            <a:extLst xmlns:a="http://schemas.openxmlformats.org/drawingml/2006/main">
              <a:ext uri="{FF2B5EF4-FFF2-40B4-BE49-F238E27FC236}">
                <a16:creationId xmlns:a16="http://schemas.microsoft.com/office/drawing/2014/main" id="{D85C34AB-920A-4EEC-9C18-126F21A1077A}"/>
              </a:ext>
            </a:extLst>
          </p:cNvPr>
          <p:cNvSpPr>
            <a:spLocks xmlns:a="http://schemas.openxmlformats.org/drawingml/2006/main" noGrp="1"/>
          </p:cNvSpPr>
          <p:nvPr/>
        </p:nvSpPr>
        <p:spPr>
          <a:xfrm xmlns:a="http://schemas.openxmlformats.org/drawingml/2006/main">
            <a:off x="8096250" y="4191000"/>
            <a:ext cx="3048000"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C6DBE3"/>
            </a:solidFill>
          </a:ln>
        </p:spPr>
      </p:sp>
      <p:sp>
        <p:nvSpPr>
          <p:cNvPr id="27" name="">
            <a:extLst xmlns:a="http://schemas.openxmlformats.org/drawingml/2006/main">
              <a:ext uri="{FF2B5EF4-FFF2-40B4-BE49-F238E27FC236}">
                <a16:creationId xmlns:a16="http://schemas.microsoft.com/office/drawing/2014/main" id="{9CA7EA46-790D-4AEB-A14A-8EFCDE6D5FFC}"/>
              </a:ext>
            </a:extLst>
          </p:cNvPr>
          <p:cNvSpPr>
            <a:spLocks xmlns:a="http://schemas.openxmlformats.org/drawingml/2006/main" noGrp="1"/>
          </p:cNvSpPr>
          <p:nvPr/>
        </p:nvSpPr>
        <p:spPr>
          <a:xfrm xmlns:a="http://schemas.openxmlformats.org/drawingml/2006/main">
            <a:off x="8239125" y="430530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94"/>
                </a:solidFill>
                <a:latin typeface="Arial"/>
                <a:ea typeface="Arial"/>
                <a:cs typeface="Arial"/>
              </a:defRPr>
            </a:pPr>
            <a:r>
              <a:rPr sz="1800" b="1">
                <a:solidFill>
                  <a:srgbClr val="008594"/>
                </a:solidFill>
                <a:latin typeface="Arial"/>
                <a:ea typeface="Arial"/>
                <a:cs typeface="Arial"/>
              </a:rPr>
              <a:t>Catalog :8016</a:t>
            </a:r>
          </a:p>
        </p:txBody>
      </p:sp>
      <p:sp>
        <p:nvSpPr>
          <p:cNvPr id="28" name="">
            <a:extLst xmlns:a="http://schemas.openxmlformats.org/drawingml/2006/main">
              <a:ext uri="{FF2B5EF4-FFF2-40B4-BE49-F238E27FC236}">
                <a16:creationId xmlns:a16="http://schemas.microsoft.com/office/drawing/2014/main" id="{67EB0C7D-A1A3-4281-8F9B-3E8918AE1C35}"/>
              </a:ext>
            </a:extLst>
          </p:cNvPr>
          <p:cNvSpPr>
            <a:spLocks xmlns:a="http://schemas.openxmlformats.org/drawingml/2006/main" noGrp="1"/>
          </p:cNvSpPr>
          <p:nvPr/>
        </p:nvSpPr>
        <p:spPr>
          <a:xfrm xmlns:a="http://schemas.openxmlformats.org/drawingml/2006/main">
            <a:off x="8239125" y="46958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Register product</a:t>
            </a:r>
          </a:p>
          <a:p xmlns:a="http://schemas.openxmlformats.org/drawingml/2006/main">
            <a:pPr>
              <a:buNone/>
              <a:defRPr sz="1575" b="0">
                <a:solidFill>
                  <a:srgbClr val="233747"/>
                </a:solidFill>
                <a:latin typeface="Arial"/>
                <a:ea typeface="Arial"/>
                <a:cs typeface="Arial"/>
              </a:defRPr>
            </a:pPr>
            <a:r>
              <a:rPr sz="1575" b="0">
                <a:solidFill>
                  <a:srgbClr val="233747"/>
                </a:solidFill>
                <a:latin typeface="Arial"/>
                <a:ea typeface="Arial"/>
                <a:cs typeface="Arial"/>
              </a:rPr>
              <a:t>Expose metadata</a:t>
            </a:r>
          </a:p>
        </p:txBody>
      </p:sp>
      <p:cxnSp>
        <p:nvCxnSpPr>
          <p:cNvPr id="90" name=""/>
          <p:cNvCxnSpPr>
            <a:stCxn xmlns:a="http://schemas.openxmlformats.org/drawingml/2006/main" id="20" idx="3"/>
            <a:endCxn xmlns:a="http://schemas.openxmlformats.org/drawingml/2006/main" id="23" idx="1"/>
          </p:cNvCxnSpPr>
          <p:nvPr/>
        </p:nvCxnSpPr>
        <p:spPr>
          <a:xfrm xmlns:a="http://schemas.openxmlformats.org/drawingml/2006/main">
            <a:off x="4095750" y="4786313"/>
            <a:ext cx="476250" cy="0"/>
          </a:xfrm>
          <a:prstGeom xmlns:a="http://schemas.openxmlformats.org/drawingml/2006/main" prst="straightConnector1">
            <a:avLst/>
          </a:prstGeom>
          <a:ln xmlns:a="http://schemas.openxmlformats.org/drawingml/2006/main" w="19050">
            <a:solidFill>
              <a:srgbClr val="008594"/>
            </a:solidFill>
            <a:tailEnd type="arrow" w="med" len="med"/>
          </a:ln>
        </p:spPr>
      </p:cxnSp>
      <p:cxnSp>
        <p:nvCxnSpPr>
          <p:cNvPr id="91" name=""/>
          <p:cNvCxnSpPr>
            <a:stCxn xmlns:a="http://schemas.openxmlformats.org/drawingml/2006/main" id="23" idx="3"/>
            <a:endCxn xmlns:a="http://schemas.openxmlformats.org/drawingml/2006/main" id="26" idx="1"/>
          </p:cNvCxnSpPr>
          <p:nvPr/>
        </p:nvCxnSpPr>
        <p:spPr>
          <a:xfrm xmlns:a="http://schemas.openxmlformats.org/drawingml/2006/main">
            <a:off x="7620000" y="4786313"/>
            <a:ext cx="476250" cy="0"/>
          </a:xfrm>
          <a:prstGeom xmlns:a="http://schemas.openxmlformats.org/drawingml/2006/main" prst="straightConnector1">
            <a:avLst/>
          </a:prstGeom>
          <a:ln xmlns:a="http://schemas.openxmlformats.org/drawingml/2006/main" w="19050">
            <a:solidFill>
              <a:srgbClr val="008594"/>
            </a:solidFill>
            <a:tailEnd type="arrow" w="med" len="med"/>
          </a:ln>
        </p:spPr>
      </p:cxnSp>
      <p:sp>
        <p:nvSpPr>
          <p:cNvPr id="31" name="">
            <a:extLst xmlns:a="http://schemas.openxmlformats.org/drawingml/2006/main">
              <a:ext uri="{FF2B5EF4-FFF2-40B4-BE49-F238E27FC236}">
                <a16:creationId xmlns:a16="http://schemas.microsoft.com/office/drawing/2014/main" id="{6CF84C4F-2DE5-45F9-BD4F-1AA73FC2C275}"/>
              </a:ext>
            </a:extLst>
          </p:cNvPr>
          <p:cNvSpPr>
            <a:spLocks xmlns:a="http://schemas.openxmlformats.org/drawingml/2006/main" noGrp="1"/>
          </p:cNvSpPr>
          <p:nvPr/>
        </p:nvSpPr>
        <p:spPr>
          <a:xfrm xmlns:a="http://schemas.openxmlformats.org/drawingml/2006/main">
            <a:off x="571500" y="57816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233747"/>
                </a:solidFill>
                <a:latin typeface="Arial"/>
                <a:ea typeface="Arial"/>
                <a:cs typeface="Arial"/>
              </a:defRPr>
            </a:pPr>
            <a:r>
              <a:rPr sz="1725" b="0">
                <a:solidFill>
                  <a:srgbClr val="233747"/>
                </a:solidFill>
                <a:latin typeface="Arial"/>
                <a:ea typeface="Arial"/>
                <a:cs typeface="Arial"/>
              </a:rPr>
              <a:t>Spark is optional. Disabling Spark preserves the worker for supported non-Spark jobs. UI polling reads persisted run status.</a:t>
            </a:r>
          </a:p>
        </p:txBody>
      </p:sp>
    </p:spTree>
    <p:extLst>
      <p:ext uri="{BB962C8B-B14F-4D97-AF65-F5344CB8AC3E}">
        <p14:creationId xmlns:p14="http://schemas.microsoft.com/office/powerpoint/2010/main" val="1234563508"/>
      </p:ext>
    </p:extLst>
  </p:cSld>
</p:sld>
</file>

<file path=ppt/slides/slide2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84CE138-480E-4BD0-B862-02AE187DCA18}"/>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B2233"/>
                </a:solidFill>
                <a:latin typeface="Arial"/>
                <a:ea typeface="Arial"/>
                <a:cs typeface="Arial"/>
              </a:defRPr>
            </a:pPr>
            <a:r>
              <a:rPr sz="3000" b="1">
                <a:solidFill>
                  <a:srgbClr val="0B2233"/>
                </a:solidFill>
                <a:latin typeface="Arial"/>
                <a:ea typeface="Arial"/>
                <a:cs typeface="Arial"/>
              </a:rPr>
              <a:t>Service ownership and frontend workflows</a:t>
            </a:r>
          </a:p>
        </p:txBody>
      </p:sp>
      <p:sp>
        <p:nvSpPr>
          <p:cNvPr id="2" name="">
            <a:extLst xmlns:a="http://schemas.openxmlformats.org/drawingml/2006/main">
              <a:ext uri="{FF2B5EF4-FFF2-40B4-BE49-F238E27FC236}">
                <a16:creationId xmlns:a16="http://schemas.microsoft.com/office/drawing/2014/main" id="{DC4E91FC-6EB2-4E07-813A-A9320953B10C}"/>
              </a:ext>
            </a:extLst>
          </p:cNvPr>
          <p:cNvSpPr>
            <a:spLocks xmlns:a="http://schemas.openxmlformats.org/drawingml/2006/main" noGrp="1"/>
          </p:cNvSpPr>
          <p:nvPr/>
        </p:nvSpPr>
        <p:spPr>
          <a:xfrm xmlns:a="http://schemas.openxmlformats.org/drawingml/2006/main">
            <a:off x="571500" y="1123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D82"/>
                </a:solidFill>
                <a:latin typeface="Arial"/>
                <a:ea typeface="Arial"/>
                <a:cs typeface="Arial"/>
              </a:defRPr>
            </a:pPr>
            <a:r>
              <a:rPr sz="1725" b="0">
                <a:solidFill>
                  <a:srgbClr val="526D82"/>
                </a:solidFill>
                <a:latin typeface="Arial"/>
                <a:ea typeface="Arial"/>
                <a:cs typeface="Arial"/>
              </a:rPr>
              <a:t>The ten APIs expose distinct responsibilities. Direct service access and optional gateway routing use the same contracts.</a:t>
            </a:r>
          </a:p>
        </p:txBody>
      </p:sp>
      <p:sp>
        <p:nvSpPr>
          <p:cNvPr id="3" name="">
            <a:extLst xmlns:a="http://schemas.openxmlformats.org/drawingml/2006/main">
              <a:ext uri="{FF2B5EF4-FFF2-40B4-BE49-F238E27FC236}">
                <a16:creationId xmlns:a16="http://schemas.microsoft.com/office/drawing/2014/main" id="{BD8489AA-F9C2-4815-8BD0-BBABD4AD9BF8}"/>
              </a:ext>
            </a:extLst>
          </p:cNvPr>
          <p:cNvSpPr>
            <a:spLocks xmlns:a="http://schemas.openxmlformats.org/drawingml/2006/main" noGrp="1"/>
          </p:cNvSpPr>
          <p:nvPr/>
        </p:nvSpPr>
        <p:spPr>
          <a:xfrm xmlns:a="http://schemas.openxmlformats.org/drawingml/2006/main">
            <a:off x="571500" y="64293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26D82"/>
                </a:solidFill>
                <a:latin typeface="Arial"/>
                <a:ea typeface="Arial"/>
                <a:cs typeface="Arial"/>
              </a:defRPr>
            </a:pPr>
            <a:r>
              <a:rPr sz="1125" b="0">
                <a:solidFill>
                  <a:srgbClr val="526D82"/>
                </a:solidFill>
                <a:latin typeface="Arial"/>
                <a:ea typeface="Arial"/>
                <a:cs typeface="Arial"/>
              </a:rPr>
              <a:t>DEPO / Component interactions / 6 October 2026</a:t>
            </a:r>
          </a:p>
        </p:txBody>
      </p:sp>
      <p:sp>
        <p:nvSpPr>
          <p:cNvPr id="4" name="">
            <a:extLst xmlns:a="http://schemas.openxmlformats.org/drawingml/2006/main">
              <a:ext uri="{FF2B5EF4-FFF2-40B4-BE49-F238E27FC236}">
                <a16:creationId xmlns:a16="http://schemas.microsoft.com/office/drawing/2014/main" id="{8BD00C40-8227-4EA5-BAD6-0AB1FF8A64FC}"/>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233747"/>
                </a:solidFill>
                <a:latin typeface="Arial"/>
                <a:ea typeface="Arial"/>
                <a:cs typeface="Arial"/>
              </a:defRPr>
            </a:pPr>
            <a:r>
              <a:rPr sz="1125" b="0">
                <a:solidFill>
                  <a:srgbClr val="233747"/>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BF457C8E-6CFB-4678-A377-3BEDC9A9C16A}"/>
              </a:ext>
            </a:extLst>
          </p:cNvPr>
          <p:cNvSpPr>
            <a:spLocks xmlns:a="http://schemas.openxmlformats.org/drawingml/2006/main" noGrp="1"/>
          </p:cNvSpPr>
          <p:nvPr/>
        </p:nvSpPr>
        <p:spPr>
          <a:xfrm xmlns:a="http://schemas.openxmlformats.org/drawingml/2006/main">
            <a:off x="571500" y="1952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8594"/>
                </a:solidFill>
                <a:latin typeface="Arial"/>
                <a:ea typeface="Arial"/>
                <a:cs typeface="Arial"/>
              </a:defRPr>
            </a:pPr>
            <a:r>
              <a:rPr sz="1725" b="1">
                <a:solidFill>
                  <a:srgbClr val="008594"/>
                </a:solidFill>
                <a:latin typeface="Arial"/>
                <a:ea typeface="Arial"/>
                <a:cs typeface="Arial"/>
              </a:rPr>
              <a:t>Import and schema</a:t>
            </a:r>
          </a:p>
        </p:txBody>
      </p:sp>
      <p:sp>
        <p:nvSpPr>
          <p:cNvPr id="6" name="">
            <a:extLst xmlns:a="http://schemas.openxmlformats.org/drawingml/2006/main">
              <a:ext uri="{FF2B5EF4-FFF2-40B4-BE49-F238E27FC236}">
                <a16:creationId xmlns:a16="http://schemas.microsoft.com/office/drawing/2014/main" id="{5F54038B-DA57-4E61-A0C7-4AF62D73DC99}"/>
              </a:ext>
            </a:extLst>
          </p:cNvPr>
          <p:cNvSpPr>
            <a:spLocks xmlns:a="http://schemas.openxmlformats.org/drawingml/2006/main" noGrp="1"/>
          </p:cNvSpPr>
          <p:nvPr/>
        </p:nvSpPr>
        <p:spPr>
          <a:xfrm xmlns:a="http://schemas.openxmlformats.org/drawingml/2006/main">
            <a:off x="4000500" y="19526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B2233"/>
                </a:solidFill>
                <a:latin typeface="Arial"/>
                <a:ea typeface="Arial"/>
                <a:cs typeface="Arial"/>
              </a:defRPr>
            </a:pPr>
            <a:r>
              <a:rPr sz="1725" b="1">
                <a:solidFill>
                  <a:srgbClr val="0B2233"/>
                </a:solidFill>
                <a:latin typeface="Arial"/>
                <a:ea typeface="Arial"/>
                <a:cs typeface="Arial"/>
              </a:rPr>
              <a:t>Schema sets :8010, ingestion :8014</a:t>
            </a:r>
          </a:p>
        </p:txBody>
      </p:sp>
      <p:sp>
        <p:nvSpPr>
          <p:cNvPr id="7" name="">
            <a:extLst xmlns:a="http://schemas.openxmlformats.org/drawingml/2006/main">
              <a:ext uri="{FF2B5EF4-FFF2-40B4-BE49-F238E27FC236}">
                <a16:creationId xmlns:a16="http://schemas.microsoft.com/office/drawing/2014/main" id="{537A82E5-8742-4944-B9E7-9B9893D6ACBB}"/>
              </a:ext>
            </a:extLst>
          </p:cNvPr>
          <p:cNvSpPr>
            <a:spLocks xmlns:a="http://schemas.openxmlformats.org/drawingml/2006/main" noGrp="1"/>
          </p:cNvSpPr>
          <p:nvPr/>
        </p:nvSpPr>
        <p:spPr>
          <a:xfrm xmlns:a="http://schemas.openxmlformats.org/drawingml/2006/main">
            <a:off x="4000500" y="22860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Parse sources, retain artifacts and validate schema inputs</a:t>
            </a:r>
          </a:p>
        </p:txBody>
      </p:sp>
      <p:sp>
        <p:nvSpPr>
          <p:cNvPr id="8" name="">
            <a:extLst xmlns:a="http://schemas.openxmlformats.org/drawingml/2006/main">
              <a:ext uri="{FF2B5EF4-FFF2-40B4-BE49-F238E27FC236}">
                <a16:creationId xmlns:a16="http://schemas.microsoft.com/office/drawing/2014/main" id="{EACAE335-9311-4D5C-AEA9-65D76A3BF35D}"/>
              </a:ext>
            </a:extLst>
          </p:cNvPr>
          <p:cNvSpPr>
            <a:spLocks xmlns:a="http://schemas.openxmlformats.org/drawingml/2006/main" noGrp="1"/>
          </p:cNvSpPr>
          <p:nvPr/>
        </p:nvSpPr>
        <p:spPr>
          <a:xfrm xmlns:a="http://schemas.openxmlformats.org/drawingml/2006/main">
            <a:off x="571500" y="27717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8594"/>
                </a:solidFill>
                <a:latin typeface="Arial"/>
                <a:ea typeface="Arial"/>
                <a:cs typeface="Arial"/>
              </a:defRPr>
            </a:pPr>
            <a:r>
              <a:rPr sz="1725" b="1">
                <a:solidFill>
                  <a:srgbClr val="008594"/>
                </a:solidFill>
                <a:latin typeface="Arial"/>
                <a:ea typeface="Arial"/>
                <a:cs typeface="Arial"/>
              </a:rPr>
              <a:t>Ontology Junction and bridge</a:t>
            </a:r>
          </a:p>
        </p:txBody>
      </p:sp>
      <p:sp>
        <p:nvSpPr>
          <p:cNvPr id="9" name="">
            <a:extLst xmlns:a="http://schemas.openxmlformats.org/drawingml/2006/main">
              <a:ext uri="{FF2B5EF4-FFF2-40B4-BE49-F238E27FC236}">
                <a16:creationId xmlns:a16="http://schemas.microsoft.com/office/drawing/2014/main" id="{C91EBECE-3BEC-4D7B-A7D2-DB646EB2BB06}"/>
              </a:ext>
            </a:extLst>
          </p:cNvPr>
          <p:cNvSpPr>
            <a:spLocks xmlns:a="http://schemas.openxmlformats.org/drawingml/2006/main" noGrp="1"/>
          </p:cNvSpPr>
          <p:nvPr/>
        </p:nvSpPr>
        <p:spPr>
          <a:xfrm xmlns:a="http://schemas.openxmlformats.org/drawingml/2006/main">
            <a:off x="4000500" y="277177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B2233"/>
                </a:solidFill>
                <a:latin typeface="Arial"/>
                <a:ea typeface="Arial"/>
                <a:cs typeface="Arial"/>
              </a:defRPr>
            </a:pPr>
            <a:r>
              <a:rPr sz="1725" b="1">
                <a:solidFill>
                  <a:srgbClr val="0B2233"/>
                </a:solidFill>
                <a:latin typeface="Arial"/>
                <a:ea typeface="Arial"/>
                <a:cs typeface="Arial"/>
              </a:rPr>
              <a:t>Ontology :8011, agentic :8012, graph :8013</a:t>
            </a:r>
          </a:p>
        </p:txBody>
      </p:sp>
      <p:sp>
        <p:nvSpPr>
          <p:cNvPr id="10" name="">
            <a:extLst xmlns:a="http://schemas.openxmlformats.org/drawingml/2006/main">
              <a:ext uri="{FF2B5EF4-FFF2-40B4-BE49-F238E27FC236}">
                <a16:creationId xmlns:a16="http://schemas.microsoft.com/office/drawing/2014/main" id="{BDDC6EFB-2DD2-41D4-8F75-5D1083EC241F}"/>
              </a:ext>
            </a:extLst>
          </p:cNvPr>
          <p:cNvSpPr>
            <a:spLocks xmlns:a="http://schemas.openxmlformats.org/drawingml/2006/main" noGrp="1"/>
          </p:cNvSpPr>
          <p:nvPr/>
        </p:nvSpPr>
        <p:spPr>
          <a:xfrm xmlns:a="http://schemas.openxmlformats.org/drawingml/2006/main">
            <a:off x="4000500" y="31051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Review structure, propose mappings and publish approved changes</a:t>
            </a:r>
          </a:p>
        </p:txBody>
      </p:sp>
      <p:sp>
        <p:nvSpPr>
          <p:cNvPr id="11" name="">
            <a:extLst xmlns:a="http://schemas.openxmlformats.org/drawingml/2006/main">
              <a:ext uri="{FF2B5EF4-FFF2-40B4-BE49-F238E27FC236}">
                <a16:creationId xmlns:a16="http://schemas.microsoft.com/office/drawing/2014/main" id="{D984BCF5-CF07-4D00-95DD-D71618FBE2CE}"/>
              </a:ext>
            </a:extLst>
          </p:cNvPr>
          <p:cNvSpPr>
            <a:spLocks xmlns:a="http://schemas.openxmlformats.org/drawingml/2006/main" noGrp="1"/>
          </p:cNvSpPr>
          <p:nvPr/>
        </p:nvSpPr>
        <p:spPr>
          <a:xfrm xmlns:a="http://schemas.openxmlformats.org/drawingml/2006/main">
            <a:off x="571500" y="35909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8594"/>
                </a:solidFill>
                <a:latin typeface="Arial"/>
                <a:ea typeface="Arial"/>
                <a:cs typeface="Arial"/>
              </a:defRPr>
            </a:pPr>
            <a:r>
              <a:rPr sz="1725" b="1">
                <a:solidFill>
                  <a:srgbClr val="008594"/>
                </a:solidFill>
                <a:latin typeface="Arial"/>
                <a:ea typeface="Arial"/>
                <a:cs typeface="Arial"/>
              </a:rPr>
              <a:t>Knowledge Companion and graph</a:t>
            </a:r>
          </a:p>
        </p:txBody>
      </p:sp>
      <p:sp>
        <p:nvSpPr>
          <p:cNvPr id="12" name="">
            <a:extLst xmlns:a="http://schemas.openxmlformats.org/drawingml/2006/main">
              <a:ext uri="{FF2B5EF4-FFF2-40B4-BE49-F238E27FC236}">
                <a16:creationId xmlns:a16="http://schemas.microsoft.com/office/drawing/2014/main" id="{418EF8A2-F0ED-4B5C-8F36-BBB1537764C3}"/>
              </a:ext>
            </a:extLst>
          </p:cNvPr>
          <p:cNvSpPr>
            <a:spLocks xmlns:a="http://schemas.openxmlformats.org/drawingml/2006/main" noGrp="1"/>
          </p:cNvSpPr>
          <p:nvPr/>
        </p:nvSpPr>
        <p:spPr>
          <a:xfrm xmlns:a="http://schemas.openxmlformats.org/drawingml/2006/main">
            <a:off x="4000500" y="35909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B2233"/>
                </a:solidFill>
                <a:latin typeface="Arial"/>
                <a:ea typeface="Arial"/>
                <a:cs typeface="Arial"/>
              </a:defRPr>
            </a:pPr>
            <a:r>
              <a:rPr sz="1725" b="1">
                <a:solidFill>
                  <a:srgbClr val="0B2233"/>
                </a:solidFill>
                <a:latin typeface="Arial"/>
                <a:ea typeface="Arial"/>
                <a:cs typeface="Arial"/>
              </a:rPr>
              <a:t>Agentic :8012, graph :8013</a:t>
            </a:r>
          </a:p>
        </p:txBody>
      </p:sp>
      <p:sp>
        <p:nvSpPr>
          <p:cNvPr id="13" name="">
            <a:extLst xmlns:a="http://schemas.openxmlformats.org/drawingml/2006/main">
              <a:ext uri="{FF2B5EF4-FFF2-40B4-BE49-F238E27FC236}">
                <a16:creationId xmlns:a16="http://schemas.microsoft.com/office/drawing/2014/main" id="{0ABD9715-2615-4101-8F49-E0BCA3226E84}"/>
              </a:ext>
            </a:extLst>
          </p:cNvPr>
          <p:cNvSpPr>
            <a:spLocks xmlns:a="http://schemas.openxmlformats.org/drawingml/2006/main" noGrp="1"/>
          </p:cNvSpPr>
          <p:nvPr/>
        </p:nvSpPr>
        <p:spPr>
          <a:xfrm xmlns:a="http://schemas.openxmlformats.org/drawingml/2006/main">
            <a:off x="4000500" y="39243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Retrieve scoped evidence, expand relationships and return answers</a:t>
            </a:r>
          </a:p>
        </p:txBody>
      </p:sp>
      <p:sp>
        <p:nvSpPr>
          <p:cNvPr id="14" name="">
            <a:extLst xmlns:a="http://schemas.openxmlformats.org/drawingml/2006/main">
              <a:ext uri="{FF2B5EF4-FFF2-40B4-BE49-F238E27FC236}">
                <a16:creationId xmlns:a16="http://schemas.microsoft.com/office/drawing/2014/main" id="{DE7007CD-85C0-47E4-9BE2-6E82F1AA612B}"/>
              </a:ext>
            </a:extLst>
          </p:cNvPr>
          <p:cNvSpPr>
            <a:spLocks xmlns:a="http://schemas.openxmlformats.org/drawingml/2006/main" noGrp="1"/>
          </p:cNvSpPr>
          <p:nvPr/>
        </p:nvSpPr>
        <p:spPr>
          <a:xfrm xmlns:a="http://schemas.openxmlformats.org/drawingml/2006/main">
            <a:off x="571500" y="44100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8594"/>
                </a:solidFill>
                <a:latin typeface="Arial"/>
                <a:ea typeface="Arial"/>
                <a:cs typeface="Arial"/>
              </a:defRPr>
            </a:pPr>
            <a:r>
              <a:rPr sz="1725" b="1">
                <a:solidFill>
                  <a:srgbClr val="008594"/>
                </a:solidFill>
                <a:latin typeface="Arial"/>
                <a:ea typeface="Arial"/>
                <a:cs typeface="Arial"/>
              </a:rPr>
              <a:t>Data jobs and products</a:t>
            </a:r>
          </a:p>
        </p:txBody>
      </p:sp>
      <p:sp>
        <p:nvSpPr>
          <p:cNvPr id="15" name="">
            <a:extLst xmlns:a="http://schemas.openxmlformats.org/drawingml/2006/main">
              <a:ext uri="{FF2B5EF4-FFF2-40B4-BE49-F238E27FC236}">
                <a16:creationId xmlns:a16="http://schemas.microsoft.com/office/drawing/2014/main" id="{04A6CC5C-21D5-408D-97F6-4179C5488E06}"/>
              </a:ext>
            </a:extLst>
          </p:cNvPr>
          <p:cNvSpPr>
            <a:spLocks xmlns:a="http://schemas.openxmlformats.org/drawingml/2006/main" noGrp="1"/>
          </p:cNvSpPr>
          <p:nvPr/>
        </p:nvSpPr>
        <p:spPr>
          <a:xfrm xmlns:a="http://schemas.openxmlformats.org/drawingml/2006/main">
            <a:off x="4000500" y="441007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B2233"/>
                </a:solidFill>
                <a:latin typeface="Arial"/>
                <a:ea typeface="Arial"/>
                <a:cs typeface="Arial"/>
              </a:defRPr>
            </a:pPr>
            <a:r>
              <a:rPr sz="1725" b="1">
                <a:solidFill>
                  <a:srgbClr val="0B2233"/>
                </a:solidFill>
                <a:latin typeface="Arial"/>
                <a:ea typeface="Arial"/>
                <a:cs typeface="Arial"/>
              </a:rPr>
              <a:t>Pipeline :8019, data products :8017, catalog :8016</a:t>
            </a:r>
          </a:p>
        </p:txBody>
      </p:sp>
      <p:sp>
        <p:nvSpPr>
          <p:cNvPr id="16" name="">
            <a:extLst xmlns:a="http://schemas.openxmlformats.org/drawingml/2006/main">
              <a:ext uri="{FF2B5EF4-FFF2-40B4-BE49-F238E27FC236}">
                <a16:creationId xmlns:a16="http://schemas.microsoft.com/office/drawing/2014/main" id="{492F6BDF-8075-45D4-B81F-F6B09A319A89}"/>
              </a:ext>
            </a:extLst>
          </p:cNvPr>
          <p:cNvSpPr>
            <a:spLocks xmlns:a="http://schemas.openxmlformats.org/drawingml/2006/main" noGrp="1"/>
          </p:cNvSpPr>
          <p:nvPr/>
        </p:nvSpPr>
        <p:spPr>
          <a:xfrm xmlns:a="http://schemas.openxmlformats.org/drawingml/2006/main">
            <a:off x="4000500" y="47434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Execute jobs, publish packages and discover product metadata</a:t>
            </a:r>
          </a:p>
        </p:txBody>
      </p:sp>
      <p:sp>
        <p:nvSpPr>
          <p:cNvPr id="17" name="">
            <a:extLst xmlns:a="http://schemas.openxmlformats.org/drawingml/2006/main">
              <a:ext uri="{FF2B5EF4-FFF2-40B4-BE49-F238E27FC236}">
                <a16:creationId xmlns:a16="http://schemas.microsoft.com/office/drawing/2014/main" id="{72435353-9D72-4E11-A0B0-B00EA3926824}"/>
              </a:ext>
            </a:extLst>
          </p:cNvPr>
          <p:cNvSpPr>
            <a:spLocks xmlns:a="http://schemas.openxmlformats.org/drawingml/2006/main" noGrp="1"/>
          </p:cNvSpPr>
          <p:nvPr/>
        </p:nvSpPr>
        <p:spPr>
          <a:xfrm xmlns:a="http://schemas.openxmlformats.org/drawingml/2006/main">
            <a:off x="571500" y="52292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8594"/>
                </a:solidFill>
                <a:latin typeface="Arial"/>
                <a:ea typeface="Arial"/>
                <a:cs typeface="Arial"/>
              </a:defRPr>
            </a:pPr>
            <a:r>
              <a:rPr sz="1725" b="1">
                <a:solidFill>
                  <a:srgbClr val="008594"/>
                </a:solidFill>
                <a:latin typeface="Arial"/>
                <a:ea typeface="Arial"/>
                <a:cs typeface="Arial"/>
              </a:rPr>
              <a:t>Cross-system integration</a:t>
            </a:r>
          </a:p>
        </p:txBody>
      </p:sp>
      <p:sp>
        <p:nvSpPr>
          <p:cNvPr id="18" name="">
            <a:extLst xmlns:a="http://schemas.openxmlformats.org/drawingml/2006/main">
              <a:ext uri="{FF2B5EF4-FFF2-40B4-BE49-F238E27FC236}">
                <a16:creationId xmlns:a16="http://schemas.microsoft.com/office/drawing/2014/main" id="{0BF19DCF-E7E0-4A4F-8632-B50C4CD5B4CD}"/>
              </a:ext>
            </a:extLst>
          </p:cNvPr>
          <p:cNvSpPr>
            <a:spLocks xmlns:a="http://schemas.openxmlformats.org/drawingml/2006/main" noGrp="1"/>
          </p:cNvSpPr>
          <p:nvPr/>
        </p:nvSpPr>
        <p:spPr>
          <a:xfrm xmlns:a="http://schemas.openxmlformats.org/drawingml/2006/main">
            <a:off x="4000500" y="52292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B2233"/>
                </a:solidFill>
                <a:latin typeface="Arial"/>
                <a:ea typeface="Arial"/>
                <a:cs typeface="Arial"/>
              </a:defRPr>
            </a:pPr>
            <a:r>
              <a:rPr sz="1725" b="1">
                <a:solidFill>
                  <a:srgbClr val="0B2233"/>
                </a:solidFill>
                <a:latin typeface="Arial"/>
                <a:ea typeface="Arial"/>
                <a:cs typeface="Arial"/>
              </a:rPr>
              <a:t>OSLC :8015, CEIM :8018</a:t>
            </a:r>
          </a:p>
        </p:txBody>
      </p:sp>
      <p:sp>
        <p:nvSpPr>
          <p:cNvPr id="19" name="">
            <a:extLst xmlns:a="http://schemas.openxmlformats.org/drawingml/2006/main">
              <a:ext uri="{FF2B5EF4-FFF2-40B4-BE49-F238E27FC236}">
                <a16:creationId xmlns:a16="http://schemas.microsoft.com/office/drawing/2014/main" id="{07E6DFF2-D98E-4EC4-9657-6C4A35D7B9F2}"/>
              </a:ext>
            </a:extLst>
          </p:cNvPr>
          <p:cNvSpPr>
            <a:spLocks xmlns:a="http://schemas.openxmlformats.org/drawingml/2006/main" noGrp="1"/>
          </p:cNvSpPr>
          <p:nvPr/>
        </p:nvSpPr>
        <p:spPr>
          <a:xfrm xmlns:a="http://schemas.openxmlformats.org/drawingml/2006/main">
            <a:off x="4000500" y="55626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33747"/>
                </a:solidFill>
                <a:latin typeface="Arial"/>
                <a:ea typeface="Arial"/>
                <a:cs typeface="Arial"/>
              </a:defRPr>
            </a:pPr>
            <a:r>
              <a:rPr sz="1650" b="0">
                <a:solidFill>
                  <a:srgbClr val="233747"/>
                </a:solidFill>
                <a:latin typeface="Arial"/>
                <a:ea typeface="Arial"/>
                <a:cs typeface="Arial"/>
              </a:rPr>
              <a:t>Expose linked resources and governed identity resolution</a:t>
            </a:r>
          </a:p>
        </p:txBody>
      </p:sp>
    </p:spTree>
    <p:extLst>
      <p:ext uri="{BB962C8B-B14F-4D97-AF65-F5344CB8AC3E}">
        <p14:creationId xmlns:p14="http://schemas.microsoft.com/office/powerpoint/2010/main" val="1674087024"/>
      </p:ext>
    </p:extLst>
  </p:cSld>
</p:sld>
</file>

<file path=ppt/slides/slide3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52B709-363C-4B5D-8348-FB25C0A8948F}"/>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B2233"/>
                </a:solidFill>
                <a:latin typeface="Arial"/>
                <a:ea typeface="Arial"/>
                <a:cs typeface="Arial"/>
              </a:defRPr>
            </a:pPr>
            <a:r>
              <a:rPr sz="3000" b="1">
                <a:solidFill>
                  <a:srgbClr val="0B2233"/>
                </a:solidFill>
                <a:latin typeface="Arial"/>
                <a:ea typeface="Arial"/>
                <a:cs typeface="Arial"/>
              </a:rPr>
              <a:t>Schema analytics as a governed data product</a:t>
            </a:r>
          </a:p>
        </p:txBody>
      </p:sp>
      <p:sp>
        <p:nvSpPr>
          <p:cNvPr id="2" name="">
            <a:extLst xmlns:a="http://schemas.openxmlformats.org/drawingml/2006/main">
              <a:ext uri="{FF2B5EF4-FFF2-40B4-BE49-F238E27FC236}">
                <a16:creationId xmlns:a16="http://schemas.microsoft.com/office/drawing/2014/main" id="{1F3D7D76-D1A8-4540-8756-6CABEA6E38B0}"/>
              </a:ext>
            </a:extLst>
          </p:cNvPr>
          <p:cNvSpPr>
            <a:spLocks xmlns:a="http://schemas.openxmlformats.org/drawingml/2006/main" noGrp="1"/>
          </p:cNvSpPr>
          <p:nvPr/>
        </p:nvSpPr>
        <p:spPr>
          <a:xfrm xmlns:a="http://schemas.openxmlformats.org/drawingml/2006/main">
            <a:off x="571500" y="11239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D82"/>
                </a:solidFill>
                <a:latin typeface="Arial"/>
                <a:ea typeface="Arial"/>
                <a:cs typeface="Arial"/>
              </a:defRPr>
            </a:pPr>
            <a:r>
              <a:rPr sz="1725" b="0">
                <a:solidFill>
                  <a:srgbClr val="526D82"/>
                </a:solidFill>
                <a:latin typeface="Arial"/>
                <a:ea typeface="Arial"/>
                <a:cs typeface="Arial"/>
              </a:rPr>
              <a:t>XSD conversion retains design evidence for review and publication.</a:t>
            </a:r>
          </a:p>
        </p:txBody>
      </p:sp>
      <p:sp>
        <p:nvSpPr>
          <p:cNvPr id="3" name="">
            <a:extLst xmlns:a="http://schemas.openxmlformats.org/drawingml/2006/main">
              <a:ext uri="{FF2B5EF4-FFF2-40B4-BE49-F238E27FC236}">
                <a16:creationId xmlns:a16="http://schemas.microsoft.com/office/drawing/2014/main" id="{7734C796-06FF-40CD-9C38-D28C51383C62}"/>
              </a:ext>
            </a:extLst>
          </p:cNvPr>
          <p:cNvSpPr>
            <a:spLocks xmlns:a="http://schemas.openxmlformats.org/drawingml/2006/main" noGrp="1"/>
          </p:cNvSpPr>
          <p:nvPr/>
        </p:nvSpPr>
        <p:spPr>
          <a:xfrm xmlns:a="http://schemas.openxmlformats.org/drawingml/2006/main">
            <a:off x="571500" y="64293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82"/>
                </a:solidFill>
                <a:latin typeface="Arial"/>
                <a:ea typeface="Arial"/>
                <a:cs typeface="Arial"/>
              </a:defRPr>
            </a:pPr>
            <a:r>
              <a:rPr sz="1125" b="0">
                <a:solidFill>
                  <a:srgbClr val="526D82"/>
                </a:solidFill>
                <a:latin typeface="Arial"/>
                <a:ea typeface="Arial"/>
                <a:cs typeface="Arial"/>
              </a:rPr>
              <a:t>DEPO / Analytics publication / 6 October 2026</a:t>
            </a:r>
          </a:p>
        </p:txBody>
      </p:sp>
      <p:sp>
        <p:nvSpPr>
          <p:cNvPr id="4" name="">
            <a:extLst xmlns:a="http://schemas.openxmlformats.org/drawingml/2006/main">
              <a:ext uri="{FF2B5EF4-FFF2-40B4-BE49-F238E27FC236}">
                <a16:creationId xmlns:a16="http://schemas.microsoft.com/office/drawing/2014/main" id="{120AFA7A-42D3-4778-9C0B-5CD802931463}"/>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33747"/>
                </a:solidFill>
                <a:latin typeface="Arial"/>
                <a:ea typeface="Arial"/>
                <a:cs typeface="Arial"/>
              </a:defRPr>
            </a:pPr>
            <a:r>
              <a:rPr sz="1125" b="0">
                <a:solidFill>
                  <a:srgbClr val="233747"/>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8F7D2AC0-83FC-44AF-A734-E2D66202E311}"/>
              </a:ext>
            </a:extLst>
          </p:cNvPr>
          <p:cNvSpPr>
            <a:spLocks xmlns:a="http://schemas.openxmlformats.org/drawingml/2006/main" noGrp="1"/>
          </p:cNvSpPr>
          <p:nvPr/>
        </p:nvSpPr>
        <p:spPr>
          <a:xfrm xmlns:a="http://schemas.openxmlformats.org/drawingml/2006/main">
            <a:off x="571500" y="195262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8594"/>
                </a:solidFill>
                <a:latin typeface="Arial"/>
                <a:ea typeface="Arial"/>
                <a:cs typeface="Arial"/>
              </a:defRPr>
            </a:pPr>
            <a:r>
              <a:rPr sz="1875" b="1">
                <a:solidFill>
                  <a:srgbClr val="008594"/>
                </a:solidFill>
                <a:latin typeface="Arial"/>
                <a:ea typeface="Arial"/>
                <a:cs typeface="Arial"/>
              </a:rPr>
              <a:t>1  Schema input</a:t>
            </a:r>
          </a:p>
        </p:txBody>
      </p:sp>
      <p:sp>
        <p:nvSpPr>
          <p:cNvPr id="6" name="">
            <a:extLst xmlns:a="http://schemas.openxmlformats.org/drawingml/2006/main">
              <a:ext uri="{FF2B5EF4-FFF2-40B4-BE49-F238E27FC236}">
                <a16:creationId xmlns:a16="http://schemas.microsoft.com/office/drawing/2014/main" id="{16A57252-9FFA-495E-A64F-30799E8C699B}"/>
              </a:ext>
            </a:extLst>
          </p:cNvPr>
          <p:cNvSpPr>
            <a:spLocks xmlns:a="http://schemas.openxmlformats.org/drawingml/2006/main" noGrp="1"/>
          </p:cNvSpPr>
          <p:nvPr/>
        </p:nvSpPr>
        <p:spPr>
          <a:xfrm xmlns:a="http://schemas.openxmlformats.org/drawingml/2006/main">
            <a:off x="3714750" y="1952625"/>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Root XSD plus local include/import files. Safe relative paths preserve the schema set.</a:t>
            </a:r>
          </a:p>
        </p:txBody>
      </p:sp>
      <p:sp>
        <p:nvSpPr>
          <p:cNvPr id="7" name="">
            <a:extLst xmlns:a="http://schemas.openxmlformats.org/drawingml/2006/main">
              <a:ext uri="{FF2B5EF4-FFF2-40B4-BE49-F238E27FC236}">
                <a16:creationId xmlns:a16="http://schemas.microsoft.com/office/drawing/2014/main" id="{79213538-636E-42D2-A620-0FABE763AD49}"/>
              </a:ext>
            </a:extLst>
          </p:cNvPr>
          <p:cNvSpPr>
            <a:spLocks xmlns:a="http://schemas.openxmlformats.org/drawingml/2006/main" noGrp="1"/>
          </p:cNvSpPr>
          <p:nvPr/>
        </p:nvSpPr>
        <p:spPr>
          <a:xfrm xmlns:a="http://schemas.openxmlformats.org/drawingml/2006/main">
            <a:off x="571500" y="28860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8594"/>
                </a:solidFill>
                <a:latin typeface="Arial"/>
                <a:ea typeface="Arial"/>
                <a:cs typeface="Arial"/>
              </a:defRPr>
            </a:pPr>
            <a:r>
              <a:rPr sz="1875" b="1">
                <a:solidFill>
                  <a:srgbClr val="008594"/>
                </a:solidFill>
                <a:latin typeface="Arial"/>
                <a:ea typeface="Arial"/>
                <a:cs typeface="Arial"/>
              </a:rPr>
              <a:t>2  Conversion and evidence</a:t>
            </a:r>
          </a:p>
        </p:txBody>
      </p:sp>
      <p:sp>
        <p:nvSpPr>
          <p:cNvPr id="8" name="">
            <a:extLst xmlns:a="http://schemas.openxmlformats.org/drawingml/2006/main">
              <a:ext uri="{FF2B5EF4-FFF2-40B4-BE49-F238E27FC236}">
                <a16:creationId xmlns:a16="http://schemas.microsoft.com/office/drawing/2014/main" id="{3AB51751-662D-4247-AAB8-1B8B865E68BF}"/>
              </a:ext>
            </a:extLst>
          </p:cNvPr>
          <p:cNvSpPr>
            <a:spLocks xmlns:a="http://schemas.openxmlformats.org/drawingml/2006/main" noGrp="1"/>
          </p:cNvSpPr>
          <p:nvPr/>
        </p:nvSpPr>
        <p:spPr>
          <a:xfrm xmlns:a="http://schemas.openxmlformats.org/drawingml/2006/main">
            <a:off x="3714750" y="2886075"/>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Ingestion uses the same files for OWL conversion and the structural model. Artifacts retain source, Turtle, SHACL and the analytics plan.</a:t>
            </a:r>
          </a:p>
        </p:txBody>
      </p:sp>
      <p:sp>
        <p:nvSpPr>
          <p:cNvPr id="9" name="">
            <a:extLst xmlns:a="http://schemas.openxmlformats.org/drawingml/2006/main">
              <a:ext uri="{FF2B5EF4-FFF2-40B4-BE49-F238E27FC236}">
                <a16:creationId xmlns:a16="http://schemas.microsoft.com/office/drawing/2014/main" id="{B8187ABC-A16C-4A28-A7D8-528E49A50EB4}"/>
              </a:ext>
            </a:extLst>
          </p:cNvPr>
          <p:cNvSpPr>
            <a:spLocks xmlns:a="http://schemas.openxmlformats.org/drawingml/2006/main" noGrp="1"/>
          </p:cNvSpPr>
          <p:nvPr/>
        </p:nvSpPr>
        <p:spPr>
          <a:xfrm xmlns:a="http://schemas.openxmlformats.org/drawingml/2006/main">
            <a:off x="571500" y="381952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8594"/>
                </a:solidFill>
                <a:latin typeface="Arial"/>
                <a:ea typeface="Arial"/>
                <a:cs typeface="Arial"/>
              </a:defRPr>
            </a:pPr>
            <a:r>
              <a:rPr sz="1875" b="1">
                <a:solidFill>
                  <a:srgbClr val="008594"/>
                </a:solidFill>
                <a:latin typeface="Arial"/>
                <a:ea typeface="Arial"/>
                <a:cs typeface="Arial"/>
              </a:rPr>
              <a:t>3  Steward review</a:t>
            </a:r>
          </a:p>
        </p:txBody>
      </p:sp>
      <p:sp>
        <p:nvSpPr>
          <p:cNvPr id="10" name="">
            <a:extLst xmlns:a="http://schemas.openxmlformats.org/drawingml/2006/main">
              <a:ext uri="{FF2B5EF4-FFF2-40B4-BE49-F238E27FC236}">
                <a16:creationId xmlns:a16="http://schemas.microsoft.com/office/drawing/2014/main" id="{91E9147F-AA9F-4D51-ABCC-49627F6F01E3}"/>
              </a:ext>
            </a:extLst>
          </p:cNvPr>
          <p:cNvSpPr>
            <a:spLocks xmlns:a="http://schemas.openxmlformats.org/drawingml/2006/main" noGrp="1"/>
          </p:cNvSpPr>
          <p:nvPr/>
        </p:nvSpPr>
        <p:spPr>
          <a:xfrm xmlns:a="http://schemas.openxmlformats.org/drawingml/2006/main">
            <a:off x="3714750" y="3819525"/>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The Data Products UI validates metadata and references an approved semantic release. Scoped credentials authorize publication.</a:t>
            </a:r>
          </a:p>
        </p:txBody>
      </p:sp>
      <p:sp>
        <p:nvSpPr>
          <p:cNvPr id="11" name="">
            <a:extLst xmlns:a="http://schemas.openxmlformats.org/drawingml/2006/main">
              <a:ext uri="{FF2B5EF4-FFF2-40B4-BE49-F238E27FC236}">
                <a16:creationId xmlns:a16="http://schemas.microsoft.com/office/drawing/2014/main" id="{3015F23D-BCC9-41B0-950D-B90BAD8F9A5B}"/>
              </a:ext>
            </a:extLst>
          </p:cNvPr>
          <p:cNvSpPr>
            <a:spLocks xmlns:a="http://schemas.openxmlformats.org/drawingml/2006/main" noGrp="1"/>
          </p:cNvSpPr>
          <p:nvPr/>
        </p:nvSpPr>
        <p:spPr>
          <a:xfrm xmlns:a="http://schemas.openxmlformats.org/drawingml/2006/main">
            <a:off x="571500" y="47529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8594"/>
                </a:solidFill>
                <a:latin typeface="Arial"/>
                <a:ea typeface="Arial"/>
                <a:cs typeface="Arial"/>
              </a:defRPr>
            </a:pPr>
            <a:r>
              <a:rPr sz="1875" b="1">
                <a:solidFill>
                  <a:srgbClr val="008594"/>
                </a:solidFill>
                <a:latin typeface="Arial"/>
                <a:ea typeface="Arial"/>
                <a:cs typeface="Arial"/>
              </a:rPr>
              <a:t>4  Immutable publication</a:t>
            </a:r>
          </a:p>
        </p:txBody>
      </p:sp>
      <p:sp>
        <p:nvSpPr>
          <p:cNvPr id="12" name="">
            <a:extLst xmlns:a="http://schemas.openxmlformats.org/drawingml/2006/main">
              <a:ext uri="{FF2B5EF4-FFF2-40B4-BE49-F238E27FC236}">
                <a16:creationId xmlns:a16="http://schemas.microsoft.com/office/drawing/2014/main" id="{C0A83D25-C8F2-4154-AF92-1396612911C0}"/>
              </a:ext>
            </a:extLst>
          </p:cNvPr>
          <p:cNvSpPr>
            <a:spLocks xmlns:a="http://schemas.openxmlformats.org/drawingml/2006/main" noGrp="1"/>
          </p:cNvSpPr>
          <p:nvPr/>
        </p:nvSpPr>
        <p:spPr>
          <a:xfrm xmlns:a="http://schemas.openxmlformats.org/drawingml/2006/main">
            <a:off x="3714750" y="4752975"/>
            <a:ext cx="7858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The product service writes a manifest and ZIP. PostgreSQL records the product and approval together. The outbox retries catalog delivery.</a:t>
            </a:r>
          </a:p>
        </p:txBody>
      </p:sp>
      <p:sp>
        <p:nvSpPr>
          <p:cNvPr id="13" name="">
            <a:extLst xmlns:a="http://schemas.openxmlformats.org/drawingml/2006/main">
              <a:ext uri="{FF2B5EF4-FFF2-40B4-BE49-F238E27FC236}">
                <a16:creationId xmlns:a16="http://schemas.microsoft.com/office/drawing/2014/main" id="{2C6AF977-A1B4-4EEB-A9F2-D2187E6231F5}"/>
              </a:ext>
            </a:extLst>
          </p:cNvPr>
          <p:cNvSpPr>
            <a:spLocks xmlns:a="http://schemas.openxmlformats.org/drawingml/2006/main" noGrp="1"/>
          </p:cNvSpPr>
          <p:nvPr/>
        </p:nvSpPr>
        <p:spPr>
          <a:xfrm xmlns:a="http://schemas.openxmlformats.org/drawingml/2006/main">
            <a:off x="571500" y="58578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B2233"/>
                </a:solidFill>
                <a:latin typeface="Arial"/>
                <a:ea typeface="Arial"/>
                <a:cs typeface="Arial"/>
              </a:defRPr>
            </a:pPr>
            <a:r>
              <a:rPr sz="1800" b="1">
                <a:solidFill>
                  <a:srgbClr val="0B2233"/>
                </a:solidFill>
                <a:latin typeface="Arial"/>
                <a:ea typeface="Arial"/>
                <a:cs typeface="Arial"/>
              </a:rPr>
              <a:t>Warehouse facts, dimensions and KPIs still require a business definition and explicit materialization.</a:t>
            </a:r>
          </a:p>
        </p:txBody>
      </p:sp>
    </p:spTree>
    <p:extLst>
      <p:ext uri="{BB962C8B-B14F-4D97-AF65-F5344CB8AC3E}">
        <p14:creationId xmlns:p14="http://schemas.microsoft.com/office/powerpoint/2010/main" val="166190490"/>
      </p:ext>
    </p:extLst>
  </p:cSld>
</p:sld>
</file>

<file path=ppt/slides/slide3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1FC0DF0-F41B-4C89-B22A-1FD74E37FC34}"/>
              </a:ext>
            </a:extLst>
          </p:cNvPr>
          <p:cNvSpPr>
            <a:spLocks xmlns:a="http://schemas.openxmlformats.org/drawingml/2006/main" noGrp="1"/>
          </p:cNvSpPr>
          <p:nvPr/>
        </p:nvSpPr>
        <p:spPr>
          <a:xfrm xmlns:a="http://schemas.openxmlformats.org/drawingml/2006/main">
            <a:off x="571500" y="4191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B2233"/>
                </a:solidFill>
                <a:latin typeface="Arial"/>
                <a:ea typeface="Arial"/>
                <a:cs typeface="Arial"/>
              </a:defRPr>
            </a:pPr>
            <a:r>
              <a:rPr sz="3000" b="1">
                <a:solidFill>
                  <a:srgbClr val="0B2233"/>
                </a:solidFill>
                <a:latin typeface="Arial"/>
                <a:ea typeface="Arial"/>
                <a:cs typeface="Arial"/>
              </a:rPr>
              <a:t>Publication recovery and service failure handling</a:t>
            </a:r>
          </a:p>
        </p:txBody>
      </p:sp>
      <p:sp>
        <p:nvSpPr>
          <p:cNvPr id="2" name="">
            <a:extLst xmlns:a="http://schemas.openxmlformats.org/drawingml/2006/main">
              <a:ext uri="{FF2B5EF4-FFF2-40B4-BE49-F238E27FC236}">
                <a16:creationId xmlns:a16="http://schemas.microsoft.com/office/drawing/2014/main" id="{A528C448-8961-4C71-913F-62BC1EB264BC}"/>
              </a:ext>
            </a:extLst>
          </p:cNvPr>
          <p:cNvSpPr>
            <a:spLocks xmlns:a="http://schemas.openxmlformats.org/drawingml/2006/main" noGrp="1"/>
          </p:cNvSpPr>
          <p:nvPr/>
        </p:nvSpPr>
        <p:spPr>
          <a:xfrm xmlns:a="http://schemas.openxmlformats.org/drawingml/2006/main">
            <a:off x="571500" y="11239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D82"/>
                </a:solidFill>
                <a:latin typeface="Arial"/>
                <a:ea typeface="Arial"/>
                <a:cs typeface="Arial"/>
              </a:defRPr>
            </a:pPr>
            <a:r>
              <a:rPr sz="1725" b="0">
                <a:solidFill>
                  <a:srgbClr val="526D82"/>
                </a:solidFill>
                <a:latin typeface="Arial"/>
                <a:ea typeface="Arial"/>
                <a:cs typeface="Arial"/>
              </a:rPr>
              <a:t>The application preserves request identity when a publication outcome remains uncertain.</a:t>
            </a:r>
          </a:p>
        </p:txBody>
      </p:sp>
      <p:sp>
        <p:nvSpPr>
          <p:cNvPr id="3" name="">
            <a:extLst xmlns:a="http://schemas.openxmlformats.org/drawingml/2006/main">
              <a:ext uri="{FF2B5EF4-FFF2-40B4-BE49-F238E27FC236}">
                <a16:creationId xmlns:a16="http://schemas.microsoft.com/office/drawing/2014/main" id="{AD1F50D7-0BC8-4E7D-B632-14059D6F3D52}"/>
              </a:ext>
            </a:extLst>
          </p:cNvPr>
          <p:cNvSpPr>
            <a:spLocks xmlns:a="http://schemas.openxmlformats.org/drawingml/2006/main" noGrp="1"/>
          </p:cNvSpPr>
          <p:nvPr/>
        </p:nvSpPr>
        <p:spPr>
          <a:xfrm xmlns:a="http://schemas.openxmlformats.org/drawingml/2006/main">
            <a:off x="571500" y="64293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82"/>
                </a:solidFill>
                <a:latin typeface="Arial"/>
                <a:ea typeface="Arial"/>
                <a:cs typeface="Arial"/>
              </a:defRPr>
            </a:pPr>
            <a:r>
              <a:rPr sz="1125" b="0">
                <a:solidFill>
                  <a:srgbClr val="526D82"/>
                </a:solidFill>
                <a:latin typeface="Arial"/>
                <a:ea typeface="Arial"/>
                <a:cs typeface="Arial"/>
              </a:rPr>
              <a:t>DEPO / Analytics publication / 6 October 2026</a:t>
            </a:r>
          </a:p>
        </p:txBody>
      </p:sp>
      <p:sp>
        <p:nvSpPr>
          <p:cNvPr id="4" name="">
            <a:extLst xmlns:a="http://schemas.openxmlformats.org/drawingml/2006/main">
              <a:ext uri="{FF2B5EF4-FFF2-40B4-BE49-F238E27FC236}">
                <a16:creationId xmlns:a16="http://schemas.microsoft.com/office/drawing/2014/main" id="{048F8267-E425-4B30-A16C-14C4413951A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33747"/>
                </a:solidFill>
                <a:latin typeface="Arial"/>
                <a:ea typeface="Arial"/>
                <a:cs typeface="Arial"/>
              </a:defRPr>
            </a:pPr>
            <a:r>
              <a:rPr sz="1125" b="0">
                <a:solidFill>
                  <a:srgbClr val="233747"/>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F6A491C7-3246-46B5-9872-4E81748EE693}"/>
              </a:ext>
            </a:extLst>
          </p:cNvPr>
          <p:cNvSpPr>
            <a:spLocks xmlns:a="http://schemas.openxmlformats.org/drawingml/2006/main" noGrp="1"/>
          </p:cNvSpPr>
          <p:nvPr/>
        </p:nvSpPr>
        <p:spPr>
          <a:xfrm xmlns:a="http://schemas.openxmlformats.org/drawingml/2006/main">
            <a:off x="571500" y="19526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8594"/>
                </a:solidFill>
                <a:latin typeface="Arial"/>
                <a:ea typeface="Arial"/>
                <a:cs typeface="Arial"/>
              </a:defRPr>
            </a:pPr>
            <a:r>
              <a:rPr sz="1800" b="1">
                <a:solidFill>
                  <a:srgbClr val="008594"/>
                </a:solidFill>
                <a:latin typeface="Arial"/>
                <a:ea typeface="Arial"/>
                <a:cs typeface="Arial"/>
              </a:rPr>
              <a:t>Validation or access rejection</a:t>
            </a:r>
          </a:p>
        </p:txBody>
      </p:sp>
      <p:sp>
        <p:nvSpPr>
          <p:cNvPr id="6" name="">
            <a:extLst xmlns:a="http://schemas.openxmlformats.org/drawingml/2006/main">
              <a:ext uri="{FF2B5EF4-FFF2-40B4-BE49-F238E27FC236}">
                <a16:creationId xmlns:a16="http://schemas.microsoft.com/office/drawing/2014/main" id="{A215F44E-6677-4A99-88CA-D23149727278}"/>
              </a:ext>
            </a:extLst>
          </p:cNvPr>
          <p:cNvSpPr>
            <a:spLocks xmlns:a="http://schemas.openxmlformats.org/drawingml/2006/main" noGrp="1"/>
          </p:cNvSpPr>
          <p:nvPr/>
        </p:nvSpPr>
        <p:spPr>
          <a:xfrm xmlns:a="http://schemas.openxmlformats.org/drawingml/2006/main">
            <a:off x="3905250" y="1952625"/>
            <a:ext cx="766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HTTP 400, 401, 403, 404, 405 or 422 unlocks the form. The user corrects metadata or access and validates again.</a:t>
            </a:r>
          </a:p>
        </p:txBody>
      </p:sp>
      <p:sp>
        <p:nvSpPr>
          <p:cNvPr id="7" name="">
            <a:extLst xmlns:a="http://schemas.openxmlformats.org/drawingml/2006/main">
              <a:ext uri="{FF2B5EF4-FFF2-40B4-BE49-F238E27FC236}">
                <a16:creationId xmlns:a16="http://schemas.microsoft.com/office/drawing/2014/main" id="{C51CF46D-6344-43F4-B206-0298750F9C6E}"/>
              </a:ext>
            </a:extLst>
          </p:cNvPr>
          <p:cNvSpPr>
            <a:spLocks xmlns:a="http://schemas.openxmlformats.org/drawingml/2006/main" noGrp="1"/>
          </p:cNvSpPr>
          <p:nvPr/>
        </p:nvSpPr>
        <p:spPr>
          <a:xfrm xmlns:a="http://schemas.openxmlformats.org/drawingml/2006/main">
            <a:off x="571500" y="28860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8594"/>
                </a:solidFill>
                <a:latin typeface="Arial"/>
                <a:ea typeface="Arial"/>
                <a:cs typeface="Arial"/>
              </a:defRPr>
            </a:pPr>
            <a:r>
              <a:rPr sz="1800" b="1">
                <a:solidFill>
                  <a:srgbClr val="008594"/>
                </a:solidFill>
                <a:latin typeface="Arial"/>
                <a:ea typeface="Arial"/>
                <a:cs typeface="Arial"/>
              </a:rPr>
              <a:t>Timeout or server failure</a:t>
            </a:r>
          </a:p>
        </p:txBody>
      </p:sp>
      <p:sp>
        <p:nvSpPr>
          <p:cNvPr id="8" name="">
            <a:extLst xmlns:a="http://schemas.openxmlformats.org/drawingml/2006/main">
              <a:ext uri="{FF2B5EF4-FFF2-40B4-BE49-F238E27FC236}">
                <a16:creationId xmlns:a16="http://schemas.microsoft.com/office/drawing/2014/main" id="{BBAE58EF-B40A-4146-9E8A-5028C8270DE7}"/>
              </a:ext>
            </a:extLst>
          </p:cNvPr>
          <p:cNvSpPr>
            <a:spLocks xmlns:a="http://schemas.openxmlformats.org/drawingml/2006/main" noGrp="1"/>
          </p:cNvSpPr>
          <p:nvPr/>
        </p:nvSpPr>
        <p:spPr>
          <a:xfrm xmlns:a="http://schemas.openxmlformats.org/drawingml/2006/main">
            <a:off x="3905250" y="2886075"/>
            <a:ext cx="766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The UI retains the exact payload and idempotency key. Retry uses the same request to avoid a duplicate publication.</a:t>
            </a:r>
          </a:p>
        </p:txBody>
      </p:sp>
      <p:sp>
        <p:nvSpPr>
          <p:cNvPr id="9" name="">
            <a:extLst xmlns:a="http://schemas.openxmlformats.org/drawingml/2006/main">
              <a:ext uri="{FF2B5EF4-FFF2-40B4-BE49-F238E27FC236}">
                <a16:creationId xmlns:a16="http://schemas.microsoft.com/office/drawing/2014/main" id="{CBE45DAA-4169-4C5E-B243-3E68D3815D00}"/>
              </a:ext>
            </a:extLst>
          </p:cNvPr>
          <p:cNvSpPr>
            <a:spLocks xmlns:a="http://schemas.openxmlformats.org/drawingml/2006/main" noGrp="1"/>
          </p:cNvSpPr>
          <p:nvPr/>
        </p:nvSpPr>
        <p:spPr>
          <a:xfrm xmlns:a="http://schemas.openxmlformats.org/drawingml/2006/main">
            <a:off x="571500" y="38195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8594"/>
                </a:solidFill>
                <a:latin typeface="Arial"/>
                <a:ea typeface="Arial"/>
                <a:cs typeface="Arial"/>
              </a:defRPr>
            </a:pPr>
            <a:r>
              <a:rPr sz="1800" b="1">
                <a:solidFill>
                  <a:srgbClr val="008594"/>
                </a:solidFill>
                <a:latin typeface="Arial"/>
                <a:ea typeface="Arial"/>
                <a:cs typeface="Arial"/>
              </a:rPr>
              <a:t>Existing package recovery</a:t>
            </a:r>
          </a:p>
        </p:txBody>
      </p:sp>
      <p:sp>
        <p:nvSpPr>
          <p:cNvPr id="10" name="">
            <a:extLst xmlns:a="http://schemas.openxmlformats.org/drawingml/2006/main">
              <a:ext uri="{FF2B5EF4-FFF2-40B4-BE49-F238E27FC236}">
                <a16:creationId xmlns:a16="http://schemas.microsoft.com/office/drawing/2014/main" id="{FDA2B768-E548-4CF6-AF6A-B843D8E10E53}"/>
              </a:ext>
            </a:extLst>
          </p:cNvPr>
          <p:cNvSpPr>
            <a:spLocks xmlns:a="http://schemas.openxmlformats.org/drawingml/2006/main" noGrp="1"/>
          </p:cNvSpPr>
          <p:nvPr/>
        </p:nvSpPr>
        <p:spPr>
          <a:xfrm xmlns:a="http://schemas.openxmlformats.org/drawingml/2006/main">
            <a:off x="3905250" y="3819525"/>
            <a:ext cx="766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The service verifies ZIP integrity, manifest equality, member names and artifact checksums. Corruption blocks recovery.</a:t>
            </a:r>
          </a:p>
        </p:txBody>
      </p:sp>
      <p:sp>
        <p:nvSpPr>
          <p:cNvPr id="11" name="">
            <a:extLst xmlns:a="http://schemas.openxmlformats.org/drawingml/2006/main">
              <a:ext uri="{FF2B5EF4-FFF2-40B4-BE49-F238E27FC236}">
                <a16:creationId xmlns:a16="http://schemas.microsoft.com/office/drawing/2014/main" id="{95C1CF38-1A46-466E-BBC6-2F4729FA8BE6}"/>
              </a:ext>
            </a:extLst>
          </p:cNvPr>
          <p:cNvSpPr>
            <a:spLocks xmlns:a="http://schemas.openxmlformats.org/drawingml/2006/main" noGrp="1"/>
          </p:cNvSpPr>
          <p:nvPr/>
        </p:nvSpPr>
        <p:spPr>
          <a:xfrm xmlns:a="http://schemas.openxmlformats.org/drawingml/2006/main">
            <a:off x="571500" y="47529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8594"/>
                </a:solidFill>
                <a:latin typeface="Arial"/>
                <a:ea typeface="Arial"/>
                <a:cs typeface="Arial"/>
              </a:defRPr>
            </a:pPr>
            <a:r>
              <a:rPr sz="1800" b="1">
                <a:solidFill>
                  <a:srgbClr val="008594"/>
                </a:solidFill>
                <a:latin typeface="Arial"/>
                <a:ea typeface="Arial"/>
                <a:cs typeface="Arial"/>
              </a:rPr>
              <a:t>Registry and catalog contracts</a:t>
            </a:r>
          </a:p>
        </p:txBody>
      </p:sp>
      <p:sp>
        <p:nvSpPr>
          <p:cNvPr id="12" name="">
            <a:extLst xmlns:a="http://schemas.openxmlformats.org/drawingml/2006/main">
              <a:ext uri="{FF2B5EF4-FFF2-40B4-BE49-F238E27FC236}">
                <a16:creationId xmlns:a16="http://schemas.microsoft.com/office/drawing/2014/main" id="{F6C5999B-775E-4775-901B-ACC4D7A82AD1}"/>
              </a:ext>
            </a:extLst>
          </p:cNvPr>
          <p:cNvSpPr>
            <a:spLocks xmlns:a="http://schemas.openxmlformats.org/drawingml/2006/main" noGrp="1"/>
          </p:cNvSpPr>
          <p:nvPr/>
        </p:nvSpPr>
        <p:spPr>
          <a:xfrm xmlns:a="http://schemas.openxmlformats.org/drawingml/2006/main">
            <a:off x="3905250" y="4752975"/>
            <a:ext cx="766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7"/>
                </a:solidFill>
                <a:latin typeface="Arial"/>
                <a:ea typeface="Arial"/>
                <a:cs typeface="Arial"/>
              </a:defRPr>
            </a:pPr>
            <a:r>
              <a:rPr sz="1725" b="0">
                <a:solidFill>
                  <a:srgbClr val="233747"/>
                </a:solidFill>
                <a:latin typeface="Arial"/>
                <a:ea typeface="Arial"/>
                <a:cs typeface="Arial"/>
              </a:rPr>
              <a:t>Malformed registry responses produce a controlled service error. Legacy catalog records retain their original optional-field shape.</a:t>
            </a:r>
          </a:p>
        </p:txBody>
      </p:sp>
      <p:sp>
        <p:nvSpPr>
          <p:cNvPr id="13" name="">
            <a:extLst xmlns:a="http://schemas.openxmlformats.org/drawingml/2006/main">
              <a:ext uri="{FF2B5EF4-FFF2-40B4-BE49-F238E27FC236}">
                <a16:creationId xmlns:a16="http://schemas.microsoft.com/office/drawing/2014/main" id="{4FA0EB4B-570A-4DD1-8BE8-04961E8FD700}"/>
              </a:ext>
            </a:extLst>
          </p:cNvPr>
          <p:cNvSpPr>
            <a:spLocks xmlns:a="http://schemas.openxmlformats.org/drawingml/2006/main" noGrp="1"/>
          </p:cNvSpPr>
          <p:nvPr/>
        </p:nvSpPr>
        <p:spPr>
          <a:xfrm xmlns:a="http://schemas.openxmlformats.org/drawingml/2006/main">
            <a:off x="571500" y="58578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B2233"/>
                </a:solidFill>
                <a:latin typeface="Arial"/>
                <a:ea typeface="Arial"/>
                <a:cs typeface="Arial"/>
              </a:defRPr>
            </a:pPr>
            <a:r>
              <a:rPr sz="1800" b="1">
                <a:solidFill>
                  <a:srgbClr val="0B2233"/>
                </a:solidFill>
                <a:latin typeface="Arial"/>
                <a:ea typeface="Arial"/>
                <a:cs typeface="Arial"/>
              </a:rPr>
              <a:t>Customer acceptance still requires a frontend build and live database, graph and gateway workflow checks.</a:t>
            </a:r>
          </a:p>
        </p:txBody>
      </p:sp>
    </p:spTree>
    <p:extLst>
      <p:ext uri="{BB962C8B-B14F-4D97-AF65-F5344CB8AC3E}">
        <p14:creationId xmlns:p14="http://schemas.microsoft.com/office/powerpoint/2010/main" val="1866666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2026-10-06T04:51:48.7790000Z</dcterms:created>
  <dcterms:modified xsi:type="dcterms:W3CDTF">2026-10-06T04:51:48.7790000Z</dcterms:modified>
</coreProperties>
</file>