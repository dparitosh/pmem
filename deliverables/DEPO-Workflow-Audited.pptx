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1337a5bd684925" /><Relationship Type="http://schemas.openxmlformats.org/officeDocument/2006/relationships/extended-properties" Target="/docProps/app.xml" Id="Rcf01dd3a6e0f4d19" /><Relationship Type="http://schemas.openxmlformats.org/officeDocument/2006/relationships/officeDocument" Target="/ppt/presentation.xml" Id="R5dcfa7b03cb6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bc448d187c4837"/>
  </p:sldMasterIdLst>
  <p:notesMasterIdLst>
    <p:notesMasterId xmlns:r="http://schemas.openxmlformats.org/officeDocument/2006/relationships" r:id="Rc842a95394584324"/>
  </p:notesMasterIdLst>
  <p:sldIdLst>
    <p:sldId xmlns:r="http://schemas.openxmlformats.org/officeDocument/2006/relationships" id="256" r:id="R76fa47e426134774"/>
    <p:sldId xmlns:r="http://schemas.openxmlformats.org/officeDocument/2006/relationships" id="257" r:id="R84e3fb8404d24a1e"/>
    <p:sldId xmlns:r="http://schemas.openxmlformats.org/officeDocument/2006/relationships" id="258" r:id="Reda7ea8053524cb6"/>
    <p:sldId xmlns:r="http://schemas.openxmlformats.org/officeDocument/2006/relationships" id="259" r:id="R3528290d8d584676"/>
    <p:sldId xmlns:r="http://schemas.openxmlformats.org/officeDocument/2006/relationships" id="260" r:id="R2ebd62b57c9e4cd3"/>
    <p:sldId xmlns:r="http://schemas.openxmlformats.org/officeDocument/2006/relationships" id="261" r:id="Re57670c43b724663"/>
    <p:sldId xmlns:r="http://schemas.openxmlformats.org/officeDocument/2006/relationships" id="262" r:id="Rdf5d5a23993b484e"/>
    <p:sldId xmlns:r="http://schemas.openxmlformats.org/officeDocument/2006/relationships" id="263" r:id="R5bdd7a8062ca478f"/>
    <p:sldId xmlns:r="http://schemas.openxmlformats.org/officeDocument/2006/relationships" id="264" r:id="Reeea31e76e2847f1"/>
    <p:sldId xmlns:r="http://schemas.openxmlformats.org/officeDocument/2006/relationships" id="265" r:id="R4e29007828a342b1"/>
    <p:sldId xmlns:r="http://schemas.openxmlformats.org/officeDocument/2006/relationships" id="266" r:id="R55af27c1bc0945b6"/>
    <p:sldId xmlns:r="http://schemas.openxmlformats.org/officeDocument/2006/relationships" id="267" r:id="R9a0da8824c034d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dccaed99ab4ec3" /><Relationship Type="http://schemas.openxmlformats.org/officeDocument/2006/relationships/slideMaster" Target="/ppt/slideMasters/slideMaster1.xml" Id="R6cbc448d187c4837" /><Relationship Type="http://schemas.openxmlformats.org/officeDocument/2006/relationships/notesMaster" Target="/ppt/notesMasters/notesMaster1.xml" Id="Rc842a95394584324" /><Relationship Type="http://schemas.openxmlformats.org/officeDocument/2006/relationships/presProps" Target="/ppt/presProps.xml" Id="Rd9158238181d4258" /><Relationship Type="http://schemas.openxmlformats.org/officeDocument/2006/relationships/tableStyles" Target="/ppt/tableStyles.xml" Id="R973487f955044caa" /><Relationship Type="http://schemas.openxmlformats.org/officeDocument/2006/relationships/slide" Target="/ppt/slides/slide1.xml" Id="R76fa47e426134774" /><Relationship Type="http://schemas.openxmlformats.org/officeDocument/2006/relationships/slide" Target="/ppt/slides/slide2.xml" Id="R84e3fb8404d24a1e" /><Relationship Type="http://schemas.openxmlformats.org/officeDocument/2006/relationships/slide" Target="/ppt/slides/slide3.xml" Id="Reda7ea8053524cb6" /><Relationship Type="http://schemas.openxmlformats.org/officeDocument/2006/relationships/slide" Target="/ppt/slides/slide4.xml" Id="R3528290d8d584676" /><Relationship Type="http://schemas.openxmlformats.org/officeDocument/2006/relationships/slide" Target="/ppt/slides/slide5.xml" Id="R2ebd62b57c9e4cd3" /><Relationship Type="http://schemas.openxmlformats.org/officeDocument/2006/relationships/slide" Target="/ppt/slides/slide6.xml" Id="Re57670c43b724663" /><Relationship Type="http://schemas.openxmlformats.org/officeDocument/2006/relationships/slide" Target="/ppt/slides/slide7.xml" Id="Rdf5d5a23993b484e" /><Relationship Type="http://schemas.openxmlformats.org/officeDocument/2006/relationships/slide" Target="/ppt/slides/slide8.xml" Id="R5bdd7a8062ca478f" /><Relationship Type="http://schemas.openxmlformats.org/officeDocument/2006/relationships/slide" Target="/ppt/slides/slide9.xml" Id="Reeea31e76e2847f1" /><Relationship Type="http://schemas.openxmlformats.org/officeDocument/2006/relationships/slide" Target="/ppt/slides/slide10.xml" Id="R4e29007828a342b1" /><Relationship Type="http://schemas.openxmlformats.org/officeDocument/2006/relationships/slide" Target="/ppt/slides/slide11.xml" Id="R55af27c1bc0945b6" /><Relationship Type="http://schemas.openxmlformats.org/officeDocument/2006/relationships/slide" Target="/ppt/slides/slide12.xml" Id="R9a0da8824c034d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0306ef01074d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0f84fe10a94592" /><Relationship Type="http://schemas.openxmlformats.org/officeDocument/2006/relationships/notesMaster" Target="/ppt/notesMasters/notesMaster1.xml" Id="Rf13a6bb3749142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0f0981816e4992" /><Relationship Type="http://schemas.openxmlformats.org/officeDocument/2006/relationships/notesMaster" Target="/ppt/notesMasters/notesMaster1.xml" Id="Rf0270e38924f47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d4c7d725954c96" /><Relationship Type="http://schemas.openxmlformats.org/officeDocument/2006/relationships/notesMaster" Target="/ppt/notesMasters/notesMaster1.xml" Id="Ra852b819544042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7cc281bee54bfa" /><Relationship Type="http://schemas.openxmlformats.org/officeDocument/2006/relationships/notesMaster" Target="/ppt/notesMasters/notesMaster1.xml" Id="R169bcdd1b78346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a2ac40552f425c" /><Relationship Type="http://schemas.openxmlformats.org/officeDocument/2006/relationships/notesMaster" Target="/ppt/notesMasters/notesMaster1.xml" Id="Ra15e753ad1174f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cc03d3650d4471" /><Relationship Type="http://schemas.openxmlformats.org/officeDocument/2006/relationships/notesMaster" Target="/ppt/notesMasters/notesMaster1.xml" Id="Rd51077d0c27f41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b1c85dfb804f7d" /><Relationship Type="http://schemas.openxmlformats.org/officeDocument/2006/relationships/notesMaster" Target="/ppt/notesMasters/notesMaster1.xml" Id="R7d4d2d3d6a4148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54b9006b604f85" /><Relationship Type="http://schemas.openxmlformats.org/officeDocument/2006/relationships/notesMaster" Target="/ppt/notesMasters/notesMaster1.xml" Id="R12076b28940445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f5b6ad6e745c0" /><Relationship Type="http://schemas.openxmlformats.org/officeDocument/2006/relationships/notesMaster" Target="/ppt/notesMasters/notesMaster1.xml" Id="R7afb41f96a434f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10e02e4f1d4326" /><Relationship Type="http://schemas.openxmlformats.org/officeDocument/2006/relationships/notesMaster" Target="/ppt/notesMasters/notesMaster1.xml" Id="R0387e17a9ebe43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8d2c309db04580" /><Relationship Type="http://schemas.openxmlformats.org/officeDocument/2006/relationships/notesMaster" Target="/ppt/notesMasters/notesMaster1.xml" Id="Rb57ee810f01d4b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0c524ce30146c3" /><Relationship Type="http://schemas.openxmlformats.org/officeDocument/2006/relationships/notesMaster" Target="/ppt/notesMasters/notesMaster1.xml" Id="R0f20053671df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ba53c87d34d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989fd972b4c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6fd23400a44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2c91ea46b40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57b0ff9f14a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ca845eed84e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49E8BD-AD65-4B3A-B74F-DAAEEA2F72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1DA0A3-8FCE-4D07-B383-6C243EA6CC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D26154-9D09-4A9C-A197-6EA775651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8E2DED-12A1-45C6-9DC2-0A9FE1BE5D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A1FD5D-D887-4B93-90BE-5C990548DB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74DF0B-2E05-4D03-8DAF-C0018810CD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DCE40F-BB7F-45C9-BFAE-34C2163EE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B35960-B97E-4A8C-813D-B7752ADA68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DFDC5E-11D9-447A-8B16-8C5F0B714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0E3B02-4138-4CB7-BD3B-60F97FB210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e906c9646b457f" /><Relationship Type="http://schemas.openxmlformats.org/officeDocument/2006/relationships/slideLayout" Target="/ppt/slideLayouts/slideLayout1.xml" Id="Rf470ea9d00764615" /><Relationship Type="http://schemas.openxmlformats.org/officeDocument/2006/relationships/slideLayout" Target="/ppt/slideLayouts/slideLayout2.xml" Id="R453396f797334c09" /><Relationship Type="http://schemas.openxmlformats.org/officeDocument/2006/relationships/slideLayout" Target="/ppt/slideLayouts/slideLayout3.xml" Id="Rf11b99fd22be4a6a" /><Relationship Type="http://schemas.openxmlformats.org/officeDocument/2006/relationships/slideLayout" Target="/ppt/slideLayouts/slideLayout4.xml" Id="Rabb0c712f04249e9" /><Relationship Type="http://schemas.openxmlformats.org/officeDocument/2006/relationships/slideLayout" Target="/ppt/slideLayouts/slideLayout5.xml" Id="R6dbb9b15d6c84bbe" /><Relationship Type="http://schemas.openxmlformats.org/officeDocument/2006/relationships/slideLayout" Target="/ppt/slideLayouts/slideLayout6.xml" Id="Rc4f26175ba7449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70ea9d00764615"/>
    <p:sldLayoutId xmlns:r="http://schemas.openxmlformats.org/officeDocument/2006/relationships" id="2147483650" r:id="R453396f797334c09"/>
    <p:sldLayoutId xmlns:r="http://schemas.openxmlformats.org/officeDocument/2006/relationships" id="2147483651" r:id="Rf11b99fd22be4a6a"/>
    <p:sldLayoutId xmlns:r="http://schemas.openxmlformats.org/officeDocument/2006/relationships" id="2147483652" r:id="Rabb0c712f04249e9"/>
    <p:sldLayoutId xmlns:r="http://schemas.openxmlformats.org/officeDocument/2006/relationships" id="2147483653" r:id="R6dbb9b15d6c84bbe"/>
    <p:sldLayoutId xmlns:r="http://schemas.openxmlformats.org/officeDocument/2006/relationships" id="2147483654" r:id="Rc4f26175ba7449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f3e7f21c44e02" /><Relationship Type="http://schemas.openxmlformats.org/officeDocument/2006/relationships/notesSlide" Target="/ppt/notesSlides/notesSlide1.xml" Id="R43bd74b0f1c548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f9e194234426b" /><Relationship Type="http://schemas.openxmlformats.org/officeDocument/2006/relationships/notesSlide" Target="/ppt/notesSlides/notesSlide2.xml" Id="Rd2690883f83c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25478f1af41dd" /><Relationship Type="http://schemas.openxmlformats.org/officeDocument/2006/relationships/notesSlide" Target="/ppt/notesSlides/notesSlide3.xml" Id="R0db851852434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15b3d2e3c4615" /><Relationship Type="http://schemas.openxmlformats.org/officeDocument/2006/relationships/notesSlide" Target="/ppt/notesSlides/notesSlide4.xml" Id="Ra51171a5be6040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58f40f8e94d34" /><Relationship Type="http://schemas.openxmlformats.org/officeDocument/2006/relationships/notesSlide" Target="/ppt/notesSlides/notesSlide5.xml" Id="R639cea5b612842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dfd74b797410c" /><Relationship Type="http://schemas.openxmlformats.org/officeDocument/2006/relationships/notesSlide" Target="/ppt/notesSlides/notesSlide6.xml" Id="Rafc71349407c4d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902cccb5d45b1" /><Relationship Type="http://schemas.openxmlformats.org/officeDocument/2006/relationships/notesSlide" Target="/ppt/notesSlides/notesSlide7.xml" Id="R36b90f63bb424a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3860a60034b3f" /><Relationship Type="http://schemas.openxmlformats.org/officeDocument/2006/relationships/notesSlide" Target="/ppt/notesSlides/notesSlide8.xml" Id="R31760a88dd1845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f182aae6242cb" /><Relationship Type="http://schemas.openxmlformats.org/officeDocument/2006/relationships/notesSlide" Target="/ppt/notesSlides/notesSlide9.xml" Id="R8aedd7ef62fd41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f0caf494b4b0e" /><Relationship Type="http://schemas.openxmlformats.org/officeDocument/2006/relationships/notesSlide" Target="/ppt/notesSlides/notesSlide10.xml" Id="R39738b40ca3d44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cfe8df1874176" /><Relationship Type="http://schemas.openxmlformats.org/officeDocument/2006/relationships/notesSlide" Target="/ppt/notesSlides/notesSlide11.xml" Id="R55fe6ed4d7e94b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886fcbb40543ca" /><Relationship Type="http://schemas.openxmlformats.org/officeDocument/2006/relationships/notesSlide" Target="/ppt/notesSlides/notesSlide12.xml" Id="Ref44ec912a7040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B7FFA-C359-42DD-856F-EE9700F2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DEPO workflow and pipeline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03820-CA9E-4173-9F0E-C107A46A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Product lifecycle memory and knowledge for engineering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80E7C-ECC9-408B-BCAB-8558D48F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59416-3F74-4334-8450-B1BD5976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777BA-FE05-4D87-AA81-8F14F47E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Business process, ordered jobs and agent responsibilities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8124B-7369-4EFE-84F5-4EC84F6A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PLM, MBSE, manufacturing and quality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Reference architecture and current implementation gaps</a:t>
            </a:r>
          </a:p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30 October 2026</a:t>
            </a:r>
          </a:p>
        </p:txBody>
      </p:sp>
    </p:spTree>
    <p:extLst>
      <p:ext uri="{BB962C8B-B14F-4D97-AF65-F5344CB8AC3E}">
        <p14:creationId xmlns:p14="http://schemas.microsoft.com/office/powerpoint/2010/main" val="991319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54B826-DDA5-483B-819E-5B3B7259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Product lifecycle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8BB7A-ADB0-4380-88EE-4B66FF53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Capability flows implemented across separate services and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FFEBC-FF76-4326-9DFC-E2CFB037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CE8F8-D148-4DB2-91D5-0F0886E7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D57E1-F63B-4C1F-8239-05DD7554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ingestion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6621D-BD3F-4B78-9B8D-CC8360D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1. Retain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ED455-2D93-41ED-89B5-72ABC8E8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2. Parse business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1AFF6-E84C-4EEA-B86C-CD226E8B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3. Validate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2223E-4360-4E6D-BCB2-DB82AC3D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621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4. Publish instances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E6982-F40F-40EC-9218-EB710AA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193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Ontology ingestion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4C9A2-C82C-4A33-82FE-817A0F50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1937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1. Resolve schemas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3080F-8805-4748-94CB-F901BC18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1937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2. Build taxonomy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08463-9399-452B-9EBF-181F35CB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3. Assess semantics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6C7B8-3039-4E02-8B1B-9536D41E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4. Publish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5A079-9AE5-468D-ACF1-D80F05B3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 bridge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9CD93-0CAD-43C2-AB44-F47B576C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766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1. Propose links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B23D8-36C2-4F37-91CD-A3AD404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2. Steward assessment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CDB7E-4B5B-4099-AA74-B6F0D5C3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3. Authorize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AE8F2-D233-48B1-987C-39237C83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4. Publish mappings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A03EC-CA28-4A7F-A821-99816B02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2F060-1C1B-4A5F-9FDF-A932CA4D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3387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1. Inspect vocabulary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15789-BDC8-4229-B5EA-379127F4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2. Review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A129D-95B4-41B3-A458-98E6CAAD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3. Approve in workflow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2B98E-B486-4BA3-83C0-F9BBE5E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4. Verify receipt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97309-495B-402A-9DEE-D0CA4414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Lifecycle memory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556248-8C08-4EF9-B775-D873F12E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911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1. Retain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D83FDF-C9CF-491B-A52A-E24D3177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911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2. Record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895C2-2135-4CD3-966D-0EA0E353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911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3. Review lessons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08EA5-D084-416B-B931-24F46346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911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4. Retrieve evidence</a:t>
            </a:r>
          </a:p>
        </p:txBody>
      </p:sp>
    </p:spTree>
    <p:extLst>
      <p:ext uri="{BB962C8B-B14F-4D97-AF65-F5344CB8AC3E}">
        <p14:creationId xmlns:p14="http://schemas.microsoft.com/office/powerpoint/2010/main" val="1359778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9923B-4D97-42C5-B88C-2F6147B1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Data ingestion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212BD-794D-4A2F-9629-DCF00449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ING-01  Source intake and instance publication  /  Presentation labels, not executable job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28E87-7A59-4E0F-9B56-1348FD53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F5373-64C2-4BA0-8CC7-4962E5EC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84CC3-4D40-44E6-8C06-19DE229B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01   Retain supported source files and their import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D7A71-EED9-4EAB-BA57-2653A0E6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02   Parse PLM, MBSE, process or document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F5607-E17B-4B26-986C-3D530679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03   Validate structure, source identity and required properties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BD435-FFB6-4026-9EE9-C9233C1E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04   Review load evidence and authorize graph publication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4CD83-81E7-4EB6-9CCF-9215A9B0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05   Inspect retained import status and publication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01D03-CDD8-476C-A983-2A8D0443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6AA6"/>
                </a:solidFill>
                <a:latin typeface="Arial"/>
                <a:ea typeface="Arial"/>
                <a:cs typeface="Arial"/>
              </a:rPr>
              <a:t>Import services parse and load data. Agent investigations are separate optional workflows.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5484D-EDE0-4A35-B05D-CD5A28B7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Output: business instances, source references and a retained execution receipt</a:t>
            </a:r>
          </a:p>
        </p:txBody>
      </p:sp>
    </p:spTree>
    <p:extLst>
      <p:ext uri="{BB962C8B-B14F-4D97-AF65-F5344CB8AC3E}">
        <p14:creationId xmlns:p14="http://schemas.microsoft.com/office/powerpoint/2010/main" val="1524944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F921B-69DD-4EAE-B388-3EB36BE0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Ontology ingestion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E2809-D212-4E22-A235-21B8B059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ONT-01  Schema intake and ontology publication  /  Presentation labels, not executable job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42FDF-D7ED-45A4-B797-473EA488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34977-29EC-4535-90FA-9B93FBF7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0CE2F-5D56-4E1C-B6A6-2430B7A8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01   Group root XSD and dependencies as one schema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0A240-843C-4C2C-9662-3A694AFD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02   Resolve local and remote dependencies with controlled parsing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50E6A-8FBF-404F-B553-0709C2B3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03   Convert supported constructs and build taxonomy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925E5-1C40-4407-92FC-DD730870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04   Run structural checks and bounded OWL-DL assessment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E8C29-CAFC-4D79-BE15-FC65B158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05   Review and approve the retained ontology, then publish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434AA-F0CA-4A03-A902-E802101A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6AA6"/>
                </a:solidFill>
                <a:latin typeface="Arial"/>
                <a:ea typeface="Arial"/>
                <a:cs typeface="Arial"/>
              </a:rPr>
              <a:t>Governor and Steward tools support specific review flows. Semantic asset release approval is separate.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55DE7-B5A0-49BB-AE1E-4480AD74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Output: versioned ontology, validation evidence and publication status</a:t>
            </a:r>
          </a:p>
        </p:txBody>
      </p:sp>
    </p:spTree>
    <p:extLst>
      <p:ext uri="{BB962C8B-B14F-4D97-AF65-F5344CB8AC3E}">
        <p14:creationId xmlns:p14="http://schemas.microsoft.com/office/powerpoint/2010/main" val="688918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DAB80-8F42-4052-9518-B58318FC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Semantic bridge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82D2B-ECF1-46C6-80C7-BF2DBFA1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BRG-01  Instance classification and ontology alignment  /  Presentation labels, not executable job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7FAFD-A749-44BD-BDD5-4B6E8DF6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07952-EF2C-4426-B735-C9F211F6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08730-C148-4405-A1B9-67750566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01   Select source instances and the target ontology 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44D69-364D-473F-88CD-F6BDD12B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02   Generate candidates using labels, properties 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C19E2-7AC3-49DF-83AE-5367001E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03   Assess domain, range, ambiguity and confidence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48C4B-2BB3-465D-9F57-8E65B51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04   Review held candidates and authorize accepted mappings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31549-B2C5-4F41-9F3B-59A4837A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05   Publish approved links and verify their receipt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8F6DD-2FF6-401D-80CB-5CE15E36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6AA6"/>
                </a:solidFill>
                <a:latin typeface="Arial"/>
                <a:ea typeface="Arial"/>
                <a:cs typeface="Arial"/>
              </a:rPr>
              <a:t>Governor proposes and publishes. Steward evaluates. Policy may allow validated-only automation.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4C17F-A2BB-4019-9A10-9759B4F3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Output: traceable mappings with source, target, version and decision evidence</a:t>
            </a:r>
          </a:p>
        </p:txBody>
      </p:sp>
    </p:spTree>
    <p:extLst>
      <p:ext uri="{BB962C8B-B14F-4D97-AF65-F5344CB8AC3E}">
        <p14:creationId xmlns:p14="http://schemas.microsoft.com/office/powerpoint/2010/main" val="1246922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ADA37-0920-4B89-8176-2C09C248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Guardrails and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5FD36-B318-4F12-9236-8833B6DB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Existing approval workflows and Change Control visibility  /  Presentation labels, not executable job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CEAAC-8ABB-49B7-A88A-52508612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15969-05AC-4902-9642-C82CE85D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BCBA4-3D9C-4D58-913A-BF067ED7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01   Inspect vocabulary and the selected source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CB037-A8BF-45D9-83E4-060BA3A1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02   Collect quality, reasoning and lineage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0A71D-6CA2-41F8-8BC9-EDD50762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03   Review retained proposals through the owning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18BDE-54B0-4292-BA9E-B93C6528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04   Record approval separately from execution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02E82-3953-47C7-905C-A94BF6E1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05   Inspect aggregated Change Control records and receipts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19087-813A-45AB-B178-1189C7C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6AA6"/>
                </a:solidFill>
                <a:latin typeface="Arial"/>
                <a:ea typeface="Arial"/>
                <a:cs typeface="Arial"/>
              </a:rPr>
              <a:t>Change Control aggregates existing records. A unified CR/CO authoring and execution process is not implemented.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F560C-E30E-4F17-B738-D1F0ED60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Code: oslc_service/change_control.py and ontology_service/governance.py</a:t>
            </a:r>
          </a:p>
        </p:txBody>
      </p:sp>
    </p:spTree>
    <p:extLst>
      <p:ext uri="{BB962C8B-B14F-4D97-AF65-F5344CB8AC3E}">
        <p14:creationId xmlns:p14="http://schemas.microsoft.com/office/powerpoint/2010/main" val="593657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8106F-629A-470B-848B-6358D87E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Product lifecycle memory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6FEDD-F406-47A8-AA7A-C2AF7CA3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MEM-01  Conversation context and reviewed lessons  /  Presentation labels, not executable job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8A50D-B961-40E2-98D8-5D4F90D1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9E7A0-67EF-4C6F-9335-996130B7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2F7CC-DD9F-4C0A-9587-03DB3D46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01   Conversation: retain selected scope and follow-up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BFE80-6D3E-447A-B93E-9D20C34B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02   Conversation: retrieve available scoped business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F483F-C48A-4072-BE46-5E1B5805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03   Conversation: answer from evidence with explicit 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F6441-FF5C-414E-A748-FF0FF44D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04   Mapping review: record outcomes for receipted mappings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7CFBE-7314-43D9-AA50-7AE1426E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05   Mapping review: approve advisory lessons for that revision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7D0B9-BD11-422A-B3F3-7FF022AE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6AA6"/>
                </a:solidFill>
                <a:latin typeface="Arial"/>
                <a:ea typeface="Arial"/>
                <a:cs typeface="Arial"/>
              </a:rPr>
              <a:t>These are separate flows. Mapping lessons do not establish universal Companion learning or model training.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461E8-D521-4409-AA2E-B5E93259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Output: scoped conversation context and separately approved mapping review hints</a:t>
            </a:r>
          </a:p>
        </p:txBody>
      </p:sp>
    </p:spTree>
    <p:extLst>
      <p:ext uri="{BB962C8B-B14F-4D97-AF65-F5344CB8AC3E}">
        <p14:creationId xmlns:p14="http://schemas.microsoft.com/office/powerpoint/2010/main" val="128999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764F3-459B-4FC0-B3E3-DE665D89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Analytics materialization and products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503CC-B538-45EA-A8A7-0A7CBCC4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Existing XML analytics worker and product publication  /  Presentation labels, not executable job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C59DD-76F1-4F48-92E4-AE5C9B53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D1FE8-841E-4530-9E00-FEFA06E2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C6CC6-25F5-4342-BA00-070699F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01   Select retained XSD schema and matching XML instance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FEB65-6AFF-4A42-A398-2F2E4B48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02   Queue an approved XML analytics materialization job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3FD89-FD64-4F05-8625-A5C48A44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03   Validate XML and create a versioned relational projection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8D082-0BDC-4169-9A2B-30E9CBDA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04   Create supported explicit business views when supplied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05D5F-4C1F-4E13-A7DE-65D3A527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05   Publish through the separate governed product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676AC-1098-436F-A13C-FBE428C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6AA6"/>
                </a:solidFill>
                <a:latin typeface="Arial"/>
                <a:ea typeface="Arial"/>
                <a:cs typeface="Arial"/>
              </a:rPr>
              <a:t>Code supports relational projections and bounded business views. Automatic dimensional marts and KPI modeling are incomplete.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EC18E-544C-4ADF-90F9-B72CEE8A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Code: data_pipeline_service/xml_analytics.py and analytics_evidence.py</a:t>
            </a:r>
          </a:p>
        </p:txBody>
      </p:sp>
    </p:spTree>
    <p:extLst>
      <p:ext uri="{BB962C8B-B14F-4D97-AF65-F5344CB8AC3E}">
        <p14:creationId xmlns:p14="http://schemas.microsoft.com/office/powerpoint/2010/main" val="1263426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86083-E1F3-4CD6-B79D-BA78A88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Agent interaction and approval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D7DDB-DCA5-4BD0-BF2B-0BE2019E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Validated bridge workflow: preview, evaluation and policy-authorized publication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4F51A-2564-408F-AAA7-F6D5B08E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C2093-C733-4D41-A778-94D164C8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65FAD-FD77-4345-9C3A-D7F1ED8A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Owning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9C053-1B1E-4EB3-BA11-DBA7E738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1. Select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9145F-A833-4259-A0D2-67CA739A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2. Governor proposes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F05CA-6BF0-4E2F-839D-B6BA2B8C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3. Steward evaluates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F214B-E857-453C-9D18-F2D1DA17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4. Review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B5FDF-0CE5-4C1A-96B2-081C465F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4039C-CF99-4185-8F2B-926D41A9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1. Confirm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BD5B9-198F-4B78-8120-494035F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2. Queue 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0C3C5-05E4-4E23-8600-A270572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3. Verify receipt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1FDE1-FDA7-477B-83F2-1D52719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4. Expose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E8626-9100-4EB4-8168-1FD8EB21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HermiT and Semantica supply evidence. They do not grant human authority.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1F9BE-8388-4B3E-8420-6CA7905F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Held or unknown results stay explicit. Recovery checks the retained outcome before repeating a write.</a:t>
            </a:r>
          </a:p>
        </p:txBody>
      </p:sp>
    </p:spTree>
    <p:extLst>
      <p:ext uri="{BB962C8B-B14F-4D97-AF65-F5344CB8AC3E}">
        <p14:creationId xmlns:p14="http://schemas.microsoft.com/office/powerpoint/2010/main" val="8098588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89691-A0A0-479E-866D-7F38FD3A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Storage and consumption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8F077-E1E1-444A-908D-F1F1B14D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Each store has a clear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E7CEB-506D-4607-A130-B4D56033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139AF-02A6-4FC2-BA2A-8772ECCC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A687A-65E4-4D69-A9F0-AB308776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487DE-CA2E-4ED4-9A80-01076E78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3238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Workflow state and leases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Credentials and approvals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Authoritative ontology artifacts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Artifact references and lineage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Relational analytics and receipts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Reviewed memory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45167-3B51-4986-B626-8AA51CAA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Knowledge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617AC-7815-4E9B-80A2-7A54691D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Published ontology projections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Published business instances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Semantic mappings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Traceability and context paths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Evidence-backed relationships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DD51A-34FC-4C55-8438-6890C873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Business consumption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8D77C-C0B9-4E85-925E-54278839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Contextual graph exploration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Companion conversations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Change impact and similarity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Data products and catalog</a:t>
            </a:r>
          </a:p>
          <a:p xmlns:a="http://schemas.openxmlformats.org/drawingml/2006/main">
            <a:pPr>
              <a:defRPr sz="187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APIs, including GraphQL where configured</a:t>
            </a:r>
          </a:p>
        </p:txBody>
      </p:sp>
    </p:spTree>
    <p:extLst>
      <p:ext uri="{BB962C8B-B14F-4D97-AF65-F5344CB8AC3E}">
        <p14:creationId xmlns:p14="http://schemas.microsoft.com/office/powerpoint/2010/main" val="129608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68A37-808F-4886-B4E9-F0942BCF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Current gaps and release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70C0F-13E9-4573-A6F0-1AC7A029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Observed behavior and proposed improvements are kept distinct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BAA31-4B21-453E-89D3-2378C73E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A4167-46FC-46B0-834F-798296B7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A6B5D-DC0E-4FC6-B94A-68285359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Schema compatibility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DA480-8C7E-4BAE-8E57-D9396C5C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833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JEP30 v9 and v10 fail on the remote XML Signature dependency. XSD 1.1 support also needs a compatible validator.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5BF7F-D1DA-48E5-8FD3-D2746AC8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Workflow clarity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85735-1535-4594-8BA1-AADD7C5F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81275"/>
            <a:ext cx="833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Expose named pipelines and ordered jobs. Distinguish source retention, validation, approval and publication.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22768-F0B9-4C1B-8EF7-4EA1FE8E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Analytics consumption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DEBDC-8FDE-4B6D-A832-0B1E213E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48050"/>
            <a:ext cx="833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Explicit dimension and aggregate fact views exist. Automatic mart design, KPI semantics and history models remain gaps.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F1724-8E67-4874-8DB9-8FB16924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Governance and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027C6-1A89-40E5-8DA4-978C1FB6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14825"/>
            <a:ext cx="833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Complete cross-page change coordination and verify reviewed lesson recall within user and ontology scope.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F60C6-1D9F-4CEB-B49A-67604795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Acceptance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3A9C1-2D1E-46B3-9524-4DA9037C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81600"/>
            <a:ext cx="833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Real PostgreSQL load/retry/rollback passed. Live worker interruption, expiry and large-data performance remain open.</a:t>
            </a:r>
          </a:p>
        </p:txBody>
      </p:sp>
    </p:spTree>
    <p:extLst>
      <p:ext uri="{BB962C8B-B14F-4D97-AF65-F5344CB8AC3E}">
        <p14:creationId xmlns:p14="http://schemas.microsoft.com/office/powerpoint/2010/main" val="19537176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FF521-AD73-464B-B27E-22CC1A6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Implementation traceability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6D23B-0EB3-4D3D-BF53-D20C5C32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Repository evidence for the capabilities described in this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1A60D-7409-4060-B308-0A0CA3ED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88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889"/>
                </a:solidFill>
                <a:latin typeface="Arial"/>
                <a:ea typeface="Arial"/>
                <a:cs typeface="Arial"/>
              </a:rPr>
              <a:t>DEPO  /  Product lifecycle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8052F-2B1B-4B2D-9B97-17C53216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7B5F2-D2E9-440B-9408-CDC388FC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Intake and publication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D172D-915B-4652-BBD3-B54C910E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backend/ingestion_service/engineering_workflow.py; ontology_service/publication_jobs.py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2C714-9385-4E3B-80FC-5E971112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Governor and Steward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7EFC3-01A5-46B7-B7BF-65445DD4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backend/agentic_service/catalog.json; ontology_service/governance.py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6A3F5-BCA4-45AB-BA6F-E98AFBD8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Reasoning and semantic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327DD-2234-4EE0-AC68-CDB4A7AE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backend/ontology_service/domain/reasoning.py; semantica_adapter.py; graph_service/bridge_publication.py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E3426-4F78-45C5-BD15-9D74A30C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Governance visibility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2F54C-65FE-4503-BC37-C190FFA6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backend/oslc_service/change_control.py; agentic_service/workflow_receipts.py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985E9-BFD1-425D-8B89-45FA249F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Conversation and lessons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C0634-7E15-42DF-BD27-DE8A081A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backend/agentic_service/companion_memory.py; learning_review.py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2B90C-AB11-4D1D-85FF-BE95F3A2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6A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AA6"/>
                </a:solidFill>
                <a:latin typeface="Arial"/>
                <a:ea typeface="Arial"/>
                <a:cs typeface="Arial"/>
              </a:rPr>
              <a:t>Analytics and consumption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A8D3B-9881-4CFE-8A02-EB69A3E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247"/>
                </a:solidFill>
                <a:latin typeface="Arial"/>
                <a:ea typeface="Arial"/>
                <a:cs typeface="Arial"/>
              </a:rPr>
              <a:t>backend/data_pipeline_service/xml_analytics.py; analytics_evidence.py; graph_service/graphql_schema.py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99638-1B00-4C66-885F-AD4946BD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632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7"/>
                </a:solidFill>
                <a:latin typeface="Arial"/>
                <a:ea typeface="Arial"/>
                <a:cs typeface="Arial"/>
              </a:rPr>
              <a:t>Code presence does not establish customer acceptance. Open gaps remain listed on the previous slide.</a:t>
            </a:r>
          </a:p>
        </p:txBody>
      </p:sp>
    </p:spTree>
    <p:extLst>
      <p:ext uri="{BB962C8B-B14F-4D97-AF65-F5344CB8AC3E}">
        <p14:creationId xmlns:p14="http://schemas.microsoft.com/office/powerpoint/2010/main" val="1066976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2026-10-30T14:09:01.2800000Z</dcterms:created>
  <dcterms:modified xsi:type="dcterms:W3CDTF">2026-10-30T14:09:01.2800000Z</dcterms:modified>
</coreProperties>
</file>