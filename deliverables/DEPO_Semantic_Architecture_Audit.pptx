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9b8571add4e2a" /><Relationship Type="http://schemas.openxmlformats.org/officeDocument/2006/relationships/extended-properties" Target="/docProps/app.xml" Id="R808af0a1e29742b1" /><Relationship Type="http://schemas.openxmlformats.org/officeDocument/2006/relationships/officeDocument" Target="/ppt/presentation.xml" Id="R411a1713b3ee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487c22733e4af5"/>
  </p:sldMasterIdLst>
  <p:notesMasterIdLst>
    <p:notesMasterId xmlns:r="http://schemas.openxmlformats.org/officeDocument/2006/relationships" r:id="Rb59973dd6b324a0e"/>
  </p:notesMasterIdLst>
  <p:sldIdLst>
    <p:sldId xmlns:r="http://schemas.openxmlformats.org/officeDocument/2006/relationships" id="256" r:id="Re57caa6082a548e6"/>
    <p:sldId xmlns:r="http://schemas.openxmlformats.org/officeDocument/2006/relationships" id="257" r:id="R4390baf0cdbb4e9b"/>
    <p:sldId xmlns:r="http://schemas.openxmlformats.org/officeDocument/2006/relationships" id="258" r:id="R77761c58b1244b51"/>
    <p:sldId xmlns:r="http://schemas.openxmlformats.org/officeDocument/2006/relationships" id="259" r:id="R83ab96cc300d4251"/>
    <p:sldId xmlns:r="http://schemas.openxmlformats.org/officeDocument/2006/relationships" id="260" r:id="R5c71305067784688"/>
    <p:sldId xmlns:r="http://schemas.openxmlformats.org/officeDocument/2006/relationships" id="261" r:id="Reaed19da9af34f42"/>
    <p:sldId xmlns:r="http://schemas.openxmlformats.org/officeDocument/2006/relationships" id="262" r:id="R8a1a0983d7d24ed6"/>
    <p:sldId xmlns:r="http://schemas.openxmlformats.org/officeDocument/2006/relationships" id="263" r:id="Ra6768133f3c7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4429bae15422c" /><Relationship Type="http://schemas.openxmlformats.org/officeDocument/2006/relationships/slideMaster" Target="/ppt/slideMasters/slideMaster1.xml" Id="R15487c22733e4af5" /><Relationship Type="http://schemas.openxmlformats.org/officeDocument/2006/relationships/notesMaster" Target="/ppt/notesMasters/notesMaster1.xml" Id="Rb59973dd6b324a0e" /><Relationship Type="http://schemas.openxmlformats.org/officeDocument/2006/relationships/presProps" Target="/ppt/presProps.xml" Id="Rfc4cb45f50a9498b" /><Relationship Type="http://schemas.openxmlformats.org/officeDocument/2006/relationships/tableStyles" Target="/ppt/tableStyles.xml" Id="Rd6c5dd137f544e9b" /><Relationship Type="http://schemas.openxmlformats.org/officeDocument/2006/relationships/slide" Target="/ppt/slides/slide1.xml" Id="Re57caa6082a548e6" /><Relationship Type="http://schemas.openxmlformats.org/officeDocument/2006/relationships/slide" Target="/ppt/slides/slide2.xml" Id="R4390baf0cdbb4e9b" /><Relationship Type="http://schemas.openxmlformats.org/officeDocument/2006/relationships/slide" Target="/ppt/slides/slide3.xml" Id="R77761c58b1244b51" /><Relationship Type="http://schemas.openxmlformats.org/officeDocument/2006/relationships/slide" Target="/ppt/slides/slide4.xml" Id="R83ab96cc300d4251" /><Relationship Type="http://schemas.openxmlformats.org/officeDocument/2006/relationships/slide" Target="/ppt/slides/slide5.xml" Id="R5c71305067784688" /><Relationship Type="http://schemas.openxmlformats.org/officeDocument/2006/relationships/slide" Target="/ppt/slides/slide6.xml" Id="Reaed19da9af34f42" /><Relationship Type="http://schemas.openxmlformats.org/officeDocument/2006/relationships/slide" Target="/ppt/slides/slide7.xml" Id="R8a1a0983d7d24ed6" /><Relationship Type="http://schemas.openxmlformats.org/officeDocument/2006/relationships/slide" Target="/ppt/slides/slide8.xml" Id="Ra6768133f3c7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18bbffebe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ac8416e3f8437f" /><Relationship Type="http://schemas.openxmlformats.org/officeDocument/2006/relationships/notesMaster" Target="/ppt/notesMasters/notesMaster1.xml" Id="R4e75c644139a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c1d6b021f24ff4" /><Relationship Type="http://schemas.openxmlformats.org/officeDocument/2006/relationships/notesMaster" Target="/ppt/notesMasters/notesMaster1.xml" Id="Rf373d0996a7a45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8cbdc29ab04fa1" /><Relationship Type="http://schemas.openxmlformats.org/officeDocument/2006/relationships/notesMaster" Target="/ppt/notesMasters/notesMaster1.xml" Id="R08f368ec92d84e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f806f7d9b24624" /><Relationship Type="http://schemas.openxmlformats.org/officeDocument/2006/relationships/notesMaster" Target="/ppt/notesMasters/notesMaster1.xml" Id="Rae40662e512b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487e6478d045ed" /><Relationship Type="http://schemas.openxmlformats.org/officeDocument/2006/relationships/notesMaster" Target="/ppt/notesMasters/notesMaster1.xml" Id="R5a5652b46f40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8ab8c635b446a1" /><Relationship Type="http://schemas.openxmlformats.org/officeDocument/2006/relationships/notesMaster" Target="/ppt/notesMasters/notesMaster1.xml" Id="R1802eea5e51649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69a4c900144184" /><Relationship Type="http://schemas.openxmlformats.org/officeDocument/2006/relationships/notesMaster" Target="/ppt/notesMasters/notesMaster1.xml" Id="R0ff6a276947643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5e95d8e7ee455f" /><Relationship Type="http://schemas.openxmlformats.org/officeDocument/2006/relationships/notesMaster" Target="/ppt/notesMasters/notesMaster1.xml" Id="R6d9bb992bb0b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1c761491b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1076f830024f02" /><Relationship Type="http://schemas.openxmlformats.org/officeDocument/2006/relationships/slideLayout" Target="/ppt/slideLayouts/slideLayout1.xml" Id="R01652ef7351445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52ef7351445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4cb3154324250" /><Relationship Type="http://schemas.openxmlformats.org/officeDocument/2006/relationships/notesSlide" Target="/ppt/notesSlides/notesSlide1.xml" Id="R1fddab34eed444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91795ed11447c" /><Relationship Type="http://schemas.openxmlformats.org/officeDocument/2006/relationships/notesSlide" Target="/ppt/notesSlides/notesSlide2.xml" Id="Rb4fabd360ad54f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557c56d6a4543" /><Relationship Type="http://schemas.openxmlformats.org/officeDocument/2006/relationships/notesSlide" Target="/ppt/notesSlides/notesSlide3.xml" Id="R377e2e44c747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a74d91a94fd0" /><Relationship Type="http://schemas.openxmlformats.org/officeDocument/2006/relationships/notesSlide" Target="/ppt/notesSlides/notesSlide4.xml" Id="Ra557d6697ae247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478992d574420" /><Relationship Type="http://schemas.openxmlformats.org/officeDocument/2006/relationships/notesSlide" Target="/ppt/notesSlides/notesSlide5.xml" Id="Rb10ad6620a5649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9bf938c7e4748" /><Relationship Type="http://schemas.openxmlformats.org/officeDocument/2006/relationships/notesSlide" Target="/ppt/notesSlides/notesSlide6.xml" Id="Rce1ca7ee23194c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63e9accef475e" /><Relationship Type="http://schemas.openxmlformats.org/officeDocument/2006/relationships/notesSlide" Target="/ppt/notesSlides/notesSlide7.xml" Id="Rd6a409804f4a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6a3004b5d4a90" /><Relationship Type="http://schemas.openxmlformats.org/officeDocument/2006/relationships/notesSlide" Target="/ppt/notesSlides/notesSlide8.xml" Id="Rb5381e902ddd4d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672B1-72AF-452D-B736-15742F3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F6219-2153-4AAE-AAEB-9BEE33E0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752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 Integration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Data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4653E-8342-4134-8F62-D03F21AF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Architecture, pipelines, data jobs and data products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FFC57-DD27-405F-9401-A1E76CD7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CA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AD5"/>
                </a:solidFill>
                <a:latin typeface="Arial"/>
                <a:ea typeface="Arial"/>
                <a:cs typeface="Arial"/>
              </a:rPr>
              <a:t>Code-backed audit  | 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10298-E436-4D68-9365-59B8E6B2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2571750" cy="4191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E6E8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A5DC7-523E-4DFA-A33B-9AEE038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885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Governed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D8907-0491-4D9C-AD7C-95C07F38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6230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Immutable evidence</a:t>
            </a:r>
          </a:p>
          <a:p xmlns:a="http://schemas.openxmlformats.org/drawingml/2006/main">
            <a:pPr>
              <a:defRPr sz="1275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Quality gates</a:t>
            </a:r>
          </a:p>
          <a:p xmlns:a="http://schemas.openxmlformats.org/drawingml/2006/main">
            <a:pPr>
              <a:defRPr sz="1275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Canonical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AA97A-BE54-41AF-AEA6-56962E5D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600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C3D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C3D0"/>
                </a:solidFill>
                <a:latin typeface="Arial"/>
                <a:ea typeface="Arial"/>
                <a:cs typeface="Arial"/>
              </a:rPr>
              <a:t>Source: current DEPO codebase and delivery tracker</a:t>
            </a:r>
          </a:p>
        </p:txBody>
      </p:sp>
    </p:spTree>
    <p:extLst>
      <p:ext uri="{BB962C8B-B14F-4D97-AF65-F5344CB8AC3E}">
        <p14:creationId xmlns:p14="http://schemas.microsoft.com/office/powerpoint/2010/main" val="602586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A8AF2-B1F5-4B45-A41C-61D7A721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97C15-B6D3-4EE8-A44F-D2FF4E8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DB8B6-2B56-49BA-BC6B-FA83EB25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Audit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E0C3-4137-43F2-BA00-69F8C152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Current implementation against the target 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0C294-1EEA-4F38-AA5A-F738F1A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0DA41-930E-4CD5-95A0-773DC66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7150" cy="2381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224B0-C8CB-477A-A4DD-214ADF3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669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Strong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92B69-1A48-4EF0-9F35-04D867D8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62200"/>
            <a:ext cx="3067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Control plane, immutable artifacts, CEIM normalization, SHACL, provenance, governed publication, Spark job control, speed-path reconciliation, GraphQL and bounded SPARQL.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579B0-B9AF-46AA-8BFF-68B29641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5BC09-F594-40CC-85F1-089F43D2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57150" cy="2381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E058-7E67-42D3-A560-A67944DC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669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Partial capability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865E6-D90B-4C62-B10E-32BAA79D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62200"/>
            <a:ext cx="3067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Unstructured evidence validation and structural document enrichment now produce traceable document graph proposals. Current analytics cover RDF profiling and deduplication.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507DD-C7EC-4D62-930C-2816BA0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234D5-655F-4B2D-BDF8-82DCE323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57150" cy="2381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C887E-7966-4BF6-B64C-1C502961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669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Product decisions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F75F6-88E7-4C1C-8277-FC86B447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62200"/>
            <a:ext cx="3067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Distributed rule materialization, graph analytics, embeddings, model-based NER/OCR, semantic ML, and digital-twin closed loop need an approved data-product contract and operating policy.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50A8B-3164-484B-8CFB-0751DB2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8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Release focus: production identity, TLS, least-privilege database roles, backups and monitoring remain customer-environment activities.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EEE22-F9FE-4A81-B8F8-E3132F1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2</a:t>
            </a:r>
          </a:p>
        </p:txBody>
      </p:sp>
    </p:spTree>
    <p:extLst>
      <p:ext uri="{BB962C8B-B14F-4D97-AF65-F5344CB8AC3E}">
        <p14:creationId xmlns:p14="http://schemas.microsoft.com/office/powerpoint/2010/main" val="59098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D4488B-7AF7-4D0C-82BF-0385E8F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C6053-0460-423C-95F6-85C4A28D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C4ACF-7BFB-473D-8908-B9E23142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Target architecture and implemented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90DBB-B93D-4F48-BC65-E991B33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Layered presentation mirrors the supplied reference while showing the actual write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AA99E-B6F1-414E-8620-6D01A95E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095500" cy="3619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E3C3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3742-FE9A-484A-87D3-814E49DB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Engineering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0BBBE-B8CE-4DD3-8D9B-10E3A34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2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CAD / PLM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ALM / QMS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Documents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Standards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52B49-8F1B-4AC7-9BF0-4C6ABF14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5619750" cy="3619500"/>
          </a:xfrm>
          <a:prstGeom xmlns:a="http://schemas.openxmlformats.org/drawingml/2006/main" prst="roundRect">
            <a:avLst>
              <a:gd name="adj" fmla="val 2105"/>
            </a:avLst>
          </a:prstGeom>
          <a:ln xmlns:a="http://schemas.openxmlformats.org/drawingml/2006/main" w="9525">
            <a:solidFill>
              <a:srgbClr val="8BC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86858-FF3D-4531-A432-8E47EF78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62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Semantic data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AFDE5-F018-4708-A282-1FB8C96B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89B2E-2604-40C8-B52A-92083A99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57150" cy="9525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C29C2-EE75-4794-9CED-C32A645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908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Ingestion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4E989-CDCC-45B8-83CC-D1FE233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8607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Artifacts and source manifests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1D666-F235-450C-9930-90AF7919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D64BD-FE75-4A62-BC85-A0A5F44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7150" cy="9525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ED7C7-C086-4204-8E30-3AD2C528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Pipeline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D27B9-6E0D-4CF1-8FE4-D1EE79B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8607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Spark jobs and quality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E0FC1-6D94-48D7-84DD-B6D1975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BBE0A-7EFB-4ECB-96B1-5D7DAF9A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57150" cy="109537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A66BC-8875-433E-94AC-7EDFC01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719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Canonical transformation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4B6B6-2F1E-4E16-9D9F-88B5F780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672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CEIM mapping, SHACL, PROV-O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5B0E5-6049-4367-AB50-79297F69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EBCA5-659E-4097-B08B-58B98201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57150" cy="109537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A28EB-D800-4D64-BC40-268422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719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 catalog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1524A-56FF-4FD9-8564-49DDD3C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Versioned product manifest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51C8F-13DD-4F25-A4EF-C298719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571750" cy="3619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8AC6A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FC4F5-4D4C-46B9-BADF-888A580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288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Semantic serving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CC4FD-663D-45A9-80CF-A5801B49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952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Graph publication</a:t>
            </a:r>
          </a:p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Neo4j graph</a:t>
            </a:r>
          </a:p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GraphQL / SPARQL</a:t>
            </a:r>
          </a:p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Agents read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9D809F-1162-4569-89D8-7FA43A8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195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4D654-57B4-410A-B41E-E0F586B2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527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0416D-B760-42A3-9CF2-ED84B8B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68429-4106-4CBF-AE7C-CAB5EDA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DD2F1-C2BC-4BA5-BD0B-FD63DD41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C1630-261E-460A-A780-69339E7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0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Only approved canonical publication writes the 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DFB2E-4A6E-4602-A87E-C41C171B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3</a:t>
            </a:r>
          </a:p>
        </p:txBody>
      </p:sp>
    </p:spTree>
    <p:extLst>
      <p:ext uri="{BB962C8B-B14F-4D97-AF65-F5344CB8AC3E}">
        <p14:creationId xmlns:p14="http://schemas.microsoft.com/office/powerpoint/2010/main" val="1823851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8AC38B-9ED3-40E8-B46A-74D8C708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CB113-C0DC-40C0-B181-4B19085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8706A-535C-4037-B813-7BBC289F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 pipeline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90009-E852-4057-88A3-81E53E83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Batch, speed and document evidence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8D4E8-7009-477D-901E-E331679B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09403-64DA-47C2-A3E3-0CF145F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7150" cy="1219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14DFB-6685-4E2A-81B2-A0FB6DA7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A14FC-1367-4F66-80BA-DCCD60B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 +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7C7B5-BCD8-44F7-A749-A5EB2A99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0E262-44FC-41A2-BCE1-DB8E0C0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06BB7-C411-4DC9-A6E3-59324EB7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57150" cy="1219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C84C6-87A8-448D-8429-18B05D71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17C1-33CD-4326-B5BB-884449A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Structured records or chunks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91118-422C-425F-B2DC-CCF1920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62819-AC5E-4DC6-ACE9-9BB16EB9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496DA-5CD6-4289-BAFE-83103AA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57150" cy="1219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C920F-6C94-40EA-BD6E-829B3576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A8DF1-C163-40BA-B8C8-4E11C975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CEIM and mapping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27A96-936D-4AD9-B164-B101F449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877A1-F3D0-4C93-B29A-17F0ACD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C05EF-B12B-414F-82C7-30BE955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7150" cy="1219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76D0F-7599-4005-934E-B5F899C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57CE2-46BD-49F2-A6C4-16D4118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SHACL and policy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BD7EF-69B7-473A-AED8-9F3CFB0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D1190-3510-4955-B7C5-D1AFC0FF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BA4E7-7284-41CC-B70A-6CF863A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57150" cy="1219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A267C4-8015-4F1F-8705-4D4E427E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FC8C9-7623-43DB-8006-E2562ED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Quality status + checkpoint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A0C39-C4E5-454D-BB32-73634CB0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BEAFE9-E06F-481E-806A-6E65B0C4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672D1-B5EB-4147-9978-682AAFCF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57150" cy="1219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5B0D1-FD93-4D09-B55F-5C39110F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E1CB1E-0E17-4930-BF7A-C7992D3B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Approved graph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B97D58-B945-42C7-85BB-30C82B95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9525">
            <a:solidFill>
              <a:srgbClr val="D99AB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53F538-D7A8-4E6D-928A-4F30088B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9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Speed path: approved source profile, idempotent event capture, lateness/retraction policy, provisional CEIM reconciliation, then the same approved publication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6F8AB-394D-48D6-AC09-BCEC9CD7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84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Document path: retained file → extracted chunks → validate-unstructured-evidence → enrich-document-evidence → Document/DocumentChunk proposal → approved CEIM mapping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88319B-5F4E-489B-8A2B-3F7C4E69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4</a:t>
            </a:r>
          </a:p>
        </p:txBody>
      </p:sp>
    </p:spTree>
    <p:extLst>
      <p:ext uri="{BB962C8B-B14F-4D97-AF65-F5344CB8AC3E}">
        <p14:creationId xmlns:p14="http://schemas.microsoft.com/office/powerpoint/2010/main" val="1729397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C5AD6C-39F3-47E1-98B3-DE3FABA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D6D55-0A80-46CC-A721-80C46A9D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3EE43-52F9-47E7-88CC-F559D108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Governed data-job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5AFC-2DEF-4F91-9A17-9B5F337F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Versioned contracts, approval, replay and durable 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2AC19-25E7-49BD-AB9E-A53432E8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667000" cy="4000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3A7F1-959B-4EC6-8E63-FC22EA3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Job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13C38-C46E-4D94-8F18-5A896BC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571750" cy="4000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B53D5-3787-4346-8356-3FBDA0F0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A9CA4-1F50-4AA7-AD03-58F256B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571750" cy="4000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A7EE2-F2B6-4162-90F3-A603A3C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A56B0-2DA9-49E1-9C43-8464305B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3095625" cy="4000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6D988-3976-4776-9CB8-E3E797F2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E6B04-E72E-4A9D-93FB-97F76B0C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85850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03581-FDD5-4BD4-AC20-0165BF9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normalize-ceim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BA15B-B942-4048-8DF4-91CEE35A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Source 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325A8-655F-4066-8A2D-EAFC83C4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Normalized CEIM 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F4C83-3D4F-40A8-9643-EB3D05DD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52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Mapping and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A8547-E71A-444D-ACFA-566FDB1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AAA62-57C2-4040-860C-4E12A61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validate-semantic-batch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32D06-FE62-4198-AF5F-43C0589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Source batch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7CF66-3DE5-458E-BA4A-FA2206DE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Validation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206E4-58BA-4386-9B6F-09F67A60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05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SHACL quality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47C56-15B3-423C-B0FD-0AE13C7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85850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71417-3728-4DF4-B482-D4DCB0F2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validate-unstructured-evidence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72F73-06D6-41E9-80EE-3A758207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47249-D248-4328-A80B-316C0D9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Validated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18DDE-8874-47BC-B8B6-EB3A996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57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 and chunk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04E28-96C1-4F26-9ACD-76D39DB0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085850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9BB3B5-CEF9-4CC7-8DA9-FC9A43FF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enrich-document-evidence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15256-8CD1-4448-AB41-9E758041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7CE24-7AD6-47CF-ADF2-8623922E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 graph proposal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7C2B9-35BA-41B9-B1E3-CDD78D7B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10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Chunks, digests, provenance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3ACE1C-7D04-48A0-B911-52473065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D77699-552C-40A8-9A45-484ECE3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rdf-quality-statistics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0B731E-DE6C-448E-B319-EC9DF92B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N-Triples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6EAF82-94E8-4663-B19E-F494A1B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RDF quality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1B913-6328-47B5-9492-4287C238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62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Lexical integrity and predicates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209475-CDB3-43D1-8410-C3BCF7B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5B9E08-5E1A-4963-B5B7-727FFF79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rdf-deduplicate-serialize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3D6F79-8460-475E-ACAE-467D1BA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14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N-Triples artifact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64CBBF-E28A-45B3-8BE5-4B7B1A05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Canonical N-Triples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322068-3B21-417E-B8E2-8EBF17D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314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Distributed deduplication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DBBBE-BE0E-47B8-BF34-DC1B2EB0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2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Every configured job requires a versioned definition, steward approval, immutable input retention, deterministic replay, retained output partitions and durable run telemetry.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F7BD27-64BB-460D-99E0-50BFE64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5</a:t>
            </a:r>
          </a:p>
        </p:txBody>
      </p:sp>
    </p:spTree>
    <p:extLst>
      <p:ext uri="{BB962C8B-B14F-4D97-AF65-F5344CB8AC3E}">
        <p14:creationId xmlns:p14="http://schemas.microsoft.com/office/powerpoint/2010/main" val="160119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EA43C-9934-45C7-9DA8-80C6F5DB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8D63C-A7C3-459E-8B14-09D051C6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74C33-DC7F-4CAB-AAAD-28DA77A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Data-product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37B1D-2F9E-413F-B576-63FA9DEB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Cataloged, versioned and packaged data products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ECF93-3526-44C9-A1A8-AFBA4C59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905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72156-B4F1-4A4A-A2F0-9FDACE8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71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992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37D68-2D05-4F30-AB16-29953CB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Artifact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070D2-5A5E-461F-BA0C-905D9CAE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6383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Content digest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Source, timestamp, provenance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Retention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C9FE2-295A-4B77-8133-AE4121E9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0955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2A659-C8D7-48AF-B505-B60D928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571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FB98F-F7FE-4C7E-99AD-B5AA9ACB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Validated semantic 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D85BF-DA7A-46A6-86AA-B4852A4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8288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CEIM version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Mapping digest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SHACL result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BAB43-EAAF-44B5-A20F-492C952C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5BDA5-89CA-4ADE-A074-60D5EC8F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571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A8C6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84BDA-9316-4EAA-A038-75B0B65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342BF-7B43-4A16-B9F3-AF5AE3FE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17335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Owner and steward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Classification and SLA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Lifecycle state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Catalog registration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35B97-4FFD-41AC-B529-6B2A7D67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0955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678B7-A730-4C2D-999A-1A4F6E4A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571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02B34-EF49-4736-8DA4-E01B2B1A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479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Data-product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B19EB-45C0-418F-84A2-F463227D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18288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Versioned manifest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 references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Semantic releases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Downloadable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F0365-32EB-442C-9746-A08D1A1D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5DF3D-9670-4776-ADA5-EE751A3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0E426-2801-46B6-B549-493999C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FE461-0D00-4D8D-8503-D82F65ED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The graph service exposes product and run manifests read-only through GraphQL. It cannot submit jobs or mutate the graph.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0445F-E54E-4310-9F1E-73BA1285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6</a:t>
            </a:r>
          </a:p>
        </p:txBody>
      </p:sp>
    </p:spTree>
    <p:extLst>
      <p:ext uri="{BB962C8B-B14F-4D97-AF65-F5344CB8AC3E}">
        <p14:creationId xmlns:p14="http://schemas.microsoft.com/office/powerpoint/2010/main" val="1838193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1FAB47-08C4-4EFC-A7F9-EE609EDB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BA5E5-6E8B-47B1-B0DC-0E21A59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5442E-34A1-498B-9E79-33601349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Architecture audit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6DA5-8076-4062-BE22-01A2EA06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Priority view based on the current tracker and code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FA2D1-2A9F-407A-9DAC-18816F93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6E10F-3C0A-4099-8176-A5B30B57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80D54-554B-4534-912D-C5394D0C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76425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C71D9-58DC-412B-93AD-DFFD127B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76425"/>
            <a:ext cx="5715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99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323D5-49E0-41ED-9A37-B79F14B5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9072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Customer production hardening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A7A91-1F56-4F5F-8887-27B205A5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86000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Target identity, TLS, least-privilege roles, backups and monitoring need deployment-specific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4C1FF-DA5A-4C05-9589-0EC4043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91590-E5FC-4501-9B60-474B17B1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D698F-789D-4523-B3AC-1C7ADA2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0D53A-A69E-427B-AE5E-85CA391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5715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96CB2-771E-44E4-A7AC-4DBC52DB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81300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Distributed semantic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604A3-DFAB-4E2A-89A5-ADEF045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76575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Spark RDF profiling, deduplication and document structural enrichment exist. Rule materialization, graph analytics and semantic ML need governed product contracts.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D7533-1544-40E1-98EC-FD1D2C66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F0187-66C4-4955-8281-5EA5307F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E27C9-CB12-4324-AA27-AFD90ADC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0B436-9D42-4E8E-B521-EA09178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5715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FCB7C-B9EC-4A19-AD36-FC873A6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7187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Document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930AD-8701-40C3-B134-7C30F3A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67150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Structural document graph proposals are available. OCR, model-based NER, embeddings and vector retrieval need quality, privacy, model and corpus policies.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9461E-4A93-414F-8FFF-2A981977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AD11B-BBBD-4DC5-BA66-549A7066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0B362-FC19-4588-9ABE-6FB3CAE3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866AE-C842-4D20-9523-F2E391C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5715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61B27-CB52-4E54-8ED1-1101D392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Speed connector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5CE64-36D8-4A1D-B879-C84FA9C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57725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Generic source profiles exist. Select a named CDC/message-bus source and agree throughput and latency SLOs before implementation.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A3FB9-4936-4262-A4AC-A32D49E9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ADBE2-A397-4390-9243-2D94848B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F5A3B-70F7-4568-89A2-E9B9F83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38725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2C6E07-2ABB-4E78-B258-2C4C109D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38725"/>
            <a:ext cx="5715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89BB9-C484-4283-840A-6175690C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5302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Digital twin closed 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E874F-62CA-47F4-8815-FDBC47D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48300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Requires command authority, safety case and verified feedback workflow. The current platform deliberately stops at governed event handling.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70DD3-E942-42F8-A0A3-BEF7DA2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7</a:t>
            </a:r>
          </a:p>
        </p:txBody>
      </p:sp>
    </p:spTree>
    <p:extLst>
      <p:ext uri="{BB962C8B-B14F-4D97-AF65-F5344CB8AC3E}">
        <p14:creationId xmlns:p14="http://schemas.microsoft.com/office/powerpoint/2010/main" val="267258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590DB-9506-4E9E-9987-243D48D7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61267-B00A-4B1C-9322-8D7531A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9BD20-22DE-4479-BA85-D1D67386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Recommended governed increments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3C9BF-9CE8-4B28-B701-A5B502E8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Sequence work by product decision and verification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D1002-CBBA-448A-9513-7377329B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2CFB8-12BF-4D41-9DB3-F9EF04AC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47875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9634C-1482-40E6-A24C-FB82C24D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47875"/>
            <a:ext cx="57150" cy="762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7EA37-9409-4649-A307-BBB9D631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6217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Production preflight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EFCE2-B385-4B5C-B4E5-CC82C992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5745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7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Validate API gateway, authentication mode, TLS, PostgreSQL/Neo4j roles, backup restoration and monitoring in the customer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96F22-435E-46B2-878A-5D54634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01C92-0555-47A1-B9ED-D318AA94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8663F-CEEB-4C49-A69C-20769A05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57150" cy="762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D845F-D005-46E2-B96F-CE7B00A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6230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Select one analytics data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B451F-E1C2-4251-AC05-C666492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5757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Name the ontology/rule profile, source artifacts, expected inferred output, quality thresholds, owner and publication approval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8B26E-7C4A-42F1-8B5C-94C8C295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30887-F991-42AB-AD01-B93B4413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33217-EFF8-4DFB-A3D0-2D88A83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57150" cy="762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79072-947B-49AE-9C64-E8C6AAC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6242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Build the bounded job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15BC9-4B26-4C2F-8AF3-F3AF904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5770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Add rule materialization or document enrichment capability with immutable artifacts, quality report, versioned manifest, replay test and canonical publication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50DF3-4816-432A-9B80-43DDB14E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2AE9D-7B7E-4F54-B4B8-849211CC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4236F-33E7-4B0F-A526-B3D0E61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57150" cy="762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6498A-9B6D-4033-A2E5-96B6173D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6255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Operate and observe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72D91-CE9A-49E7-9934-696DB88D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5782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Expose job telemetry, lineage evidence and quality status in the Siemens IX monitoring page before scaling source volume.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5195E-BB4E-400C-9869-55231AEF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8</a:t>
            </a:r>
          </a:p>
        </p:txBody>
      </p:sp>
    </p:spTree>
    <p:extLst>
      <p:ext uri="{BB962C8B-B14F-4D97-AF65-F5344CB8AC3E}">
        <p14:creationId xmlns:p14="http://schemas.microsoft.com/office/powerpoint/2010/main" val="1288417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2026-09-04T01:57:35.2710000Z</dcterms:created>
  <dcterms:modified xsi:type="dcterms:W3CDTF">2026-09-04T01:57:35.2710000Z</dcterms:modified>
</coreProperties>
</file>