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56fdbce71040a4" /><Relationship Type="http://schemas.openxmlformats.org/officeDocument/2006/relationships/extended-properties" Target="/docProps/app.xml" Id="R01e45026a09a4d12" /><Relationship Type="http://schemas.openxmlformats.org/officeDocument/2006/relationships/officeDocument" Target="/ppt/presentation.xml" Id="R118c5547fdd84c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a9f9c56f940c2"/>
  </p:sldMasterIdLst>
  <p:notesMasterIdLst>
    <p:notesMasterId xmlns:r="http://schemas.openxmlformats.org/officeDocument/2006/relationships" r:id="Rca82cf73b7d94033"/>
  </p:notesMasterIdLst>
  <p:sldIdLst>
    <p:sldId xmlns:r="http://schemas.openxmlformats.org/officeDocument/2006/relationships" id="256" r:id="Rb2887e8c145f4859"/>
    <p:sldId xmlns:r="http://schemas.openxmlformats.org/officeDocument/2006/relationships" id="257" r:id="R9f768ee7cc194c6a"/>
    <p:sldId xmlns:r="http://schemas.openxmlformats.org/officeDocument/2006/relationships" id="258" r:id="Ree4e8e55ad7943a0"/>
    <p:sldId xmlns:r="http://schemas.openxmlformats.org/officeDocument/2006/relationships" id="259" r:id="R3c6db6c8be364b34"/>
    <p:sldId xmlns:r="http://schemas.openxmlformats.org/officeDocument/2006/relationships" id="260" r:id="R486cf049d02b4082"/>
    <p:sldId xmlns:r="http://schemas.openxmlformats.org/officeDocument/2006/relationships" id="261" r:id="Re1e889dd31f34b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554193f8a44a14" /><Relationship Type="http://schemas.openxmlformats.org/officeDocument/2006/relationships/slideMaster" Target="/ppt/slideMasters/slideMaster1.xml" Id="R366a9f9c56f940c2" /><Relationship Type="http://schemas.openxmlformats.org/officeDocument/2006/relationships/notesMaster" Target="/ppt/notesMasters/notesMaster1.xml" Id="Rca82cf73b7d94033" /><Relationship Type="http://schemas.openxmlformats.org/officeDocument/2006/relationships/presProps" Target="/ppt/presProps.xml" Id="R0eaba63bc30c4793" /><Relationship Type="http://schemas.openxmlformats.org/officeDocument/2006/relationships/tableStyles" Target="/ppt/tableStyles.xml" Id="R127cf8cc47944f09" /><Relationship Type="http://schemas.openxmlformats.org/officeDocument/2006/relationships/slide" Target="/ppt/slides/slide1.xml" Id="Rb2887e8c145f4859" /><Relationship Type="http://schemas.openxmlformats.org/officeDocument/2006/relationships/slide" Target="/ppt/slides/slide2.xml" Id="R9f768ee7cc194c6a" /><Relationship Type="http://schemas.openxmlformats.org/officeDocument/2006/relationships/slide" Target="/ppt/slides/slide3.xml" Id="Ree4e8e55ad7943a0" /><Relationship Type="http://schemas.openxmlformats.org/officeDocument/2006/relationships/slide" Target="/ppt/slides/slide4.xml" Id="R3c6db6c8be364b34" /><Relationship Type="http://schemas.openxmlformats.org/officeDocument/2006/relationships/slide" Target="/ppt/slides/slide5.xml" Id="R486cf049d02b4082" /><Relationship Type="http://schemas.openxmlformats.org/officeDocument/2006/relationships/slide" Target="/ppt/slides/slide6.xml" Id="Re1e889dd31f34b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5a3bac150d46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599eeb571047a9" /><Relationship Type="http://schemas.openxmlformats.org/officeDocument/2006/relationships/notesMaster" Target="/ppt/notesMasters/notesMaster1.xml" Id="R6a1fb4fde30a4f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1e2985fe1140fe" /><Relationship Type="http://schemas.openxmlformats.org/officeDocument/2006/relationships/notesMaster" Target="/ppt/notesMasters/notesMaster1.xml" Id="R13aa0261e4d04d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68a60001594a3c" /><Relationship Type="http://schemas.openxmlformats.org/officeDocument/2006/relationships/notesMaster" Target="/ppt/notesMasters/notesMaster1.xml" Id="Rcf678505dcce48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c5e80ad24d48fc" /><Relationship Type="http://schemas.openxmlformats.org/officeDocument/2006/relationships/notesMaster" Target="/ppt/notesMasters/notesMaster1.xml" Id="R43b48bd3848e4b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7f9a3a14c74370" /><Relationship Type="http://schemas.openxmlformats.org/officeDocument/2006/relationships/notesMaster" Target="/ppt/notesMasters/notesMaster1.xml" Id="R70f4e1758b8043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35e90303674bac" /><Relationship Type="http://schemas.openxmlformats.org/officeDocument/2006/relationships/notesMaster" Target="/ppt/notesMasters/notesMaster1.xml" Id="Rffe340447e8543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vendor-agnostic Semantic Integration and Data Pipeline Architecture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vendor-agnostic Semantic Integration and Data Pipeline Architecture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vendor-agnostic Semantic Integration and Data Pipeline Architecture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vendor-agnostic Semantic Integration and Data Pipeline Architecture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vendor-agnostic Semantic Integration and Data Pipeline Architecture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vendor-agnostic Semantic Integration and Data Pipeline Architecture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575bd967c41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7578c1d2bb48f8" /><Relationship Type="http://schemas.openxmlformats.org/officeDocument/2006/relationships/slideLayout" Target="/ppt/slideLayouts/slideLayout1.xml" Id="R89c3339e7c6944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c3339e7c6944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e378b09c044fa" /><Relationship Type="http://schemas.openxmlformats.org/officeDocument/2006/relationships/notesSlide" Target="/ppt/notesSlides/notesSlide1.xml" Id="R9e314d5c583a45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3b1731cbe4023" /><Relationship Type="http://schemas.openxmlformats.org/officeDocument/2006/relationships/notesSlide" Target="/ppt/notesSlides/notesSlide2.xml" Id="R2e6e3bfafe9b4f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3846913ce4408" /><Relationship Type="http://schemas.openxmlformats.org/officeDocument/2006/relationships/notesSlide" Target="/ppt/notesSlides/notesSlide3.xml" Id="Rea80bcd78d5f4e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4700d88d94288" /><Relationship Type="http://schemas.openxmlformats.org/officeDocument/2006/relationships/notesSlide" Target="/ppt/notesSlides/notesSlide4.xml" Id="Rce82b8d574c442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5586853d5490b" /><Relationship Type="http://schemas.openxmlformats.org/officeDocument/2006/relationships/notesSlide" Target="/ppt/notesSlides/notesSlide5.xml" Id="Rec6f6afed4d848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46bdc0f5940b3" /><Relationship Type="http://schemas.openxmlformats.org/officeDocument/2006/relationships/notesSlide" Target="/ppt/notesSlides/notesSlide6.xml" Id="R957ecf0e9d424a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322E9-3010-4878-A0A7-97F5A8A4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CB23C-0D63-49C1-BCAD-DC7849E9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0">
            <a:solidFill>
              <a:srgbClr val="007F8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B9922-69D0-4B34-B022-C9F35D3C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3350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Semantic Integration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and Data Pipeline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DCFCF-25E2-4EB8-8AE7-16F6582B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8E2"/>
                </a:solidFill>
              </a:defRPr>
            </a:pPr>
            <a:r>
              <a:rPr sz="1800" b="0">
                <a:solidFill>
                  <a:srgbClr val="C9D8E2"/>
                </a:solidFill>
              </a:rPr>
              <a:t>Vendor-neutral component deployment and governed canonical job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09BC6-3C4D-4A87-B133-1F6C6CE2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266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7F86"/>
          </a:solidFill>
          <a:ln xmlns:a="http://schemas.openxmlformats.org/drawingml/2006/main" w="11906">
            <a:solidFill>
              <a:srgbClr val="007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ONE CANONICAL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1B872-632A-4F4A-9D42-6B22F10F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149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8E2"/>
                </a:solidFill>
              </a:defRPr>
            </a:pPr>
            <a:r>
              <a:rPr sz="1425" b="0">
                <a:solidFill>
                  <a:srgbClr val="C9D8E2"/>
                </a:solidFill>
              </a:rPr>
              <a:t>Only approved publication services may mutate the enterprise graph.</a:t>
            </a:r>
          </a:p>
        </p:txBody>
      </p:sp>
    </p:spTree>
    <p:extLst>
      <p:ext uri="{BB962C8B-B14F-4D97-AF65-F5344CB8AC3E}">
        <p14:creationId xmlns:p14="http://schemas.microsoft.com/office/powerpoint/2010/main" val="782927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2EFC7-07C2-4BC0-8D2D-1C4E5305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A governed canonical boundary protects the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36141-C2E2-4D0F-8791-11C69EA5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Component &amp; deployment view — batch and speed paths converge before semantic publication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9D5A0-B058-49F8-A097-678DB4F7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0">
            <a:solidFill>
              <a:srgbClr val="007F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509BC-1FBA-430B-AD9D-08E8B537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619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Source systems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Engineering, operations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and standards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4D94F-73CB-4D40-B5BB-78568B8D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19240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906">
            <a:solidFill>
              <a:srgbClr val="0B5F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Data Pipeline Service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Capture • parse • stage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provenance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20C76-CE6E-4686-904B-7DFA77DF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14500"/>
            <a:ext cx="22383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11906">
            <a:solidFill>
              <a:srgbClr val="007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Batch Path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Distributed batch execution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High-volume 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069F0-F34B-4A20-9D5E-2DD4FA4C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1485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1906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Canonical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Transformation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23E0B-2BDF-466F-8DD7-78C3AE70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0500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11906">
            <a:solidFill>
              <a:srgbClr val="1B7F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Enterprise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Graph Database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E67E1-1FE1-442D-AE5E-0DDDE57A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14750"/>
            <a:ext cx="22383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1906">
            <a:solidFill>
              <a:srgbClr val="F3A71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Future Speed Path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Low-latency event adapters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7A498-4FE0-4F4B-955C-3DB036BC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Relational control plane</a:t>
            </a:r>
          </a:p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Metadata • catalog • policies • job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838EE-78C3-4894-93FB-68C63D77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53000"/>
            <a:ext cx="33147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906">
            <a:solidFill>
              <a:srgbClr val="0B5F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Semantic serving layer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Agentic services • semantic search • linked-data APIs</a:t>
            </a:r>
          </a:p>
        </p:txBody>
      </p: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86000" y="2476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43450" y="2447925"/>
            <a:ext cx="5334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15225" y="2447925"/>
            <a:ext cx="5238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525000" y="2476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7515225" y="3143250"/>
            <a:ext cx="1266825" cy="10668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F3A712"/>
            </a:solidFill>
            <a:prstDash val="dash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0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5162550" y="3181350"/>
            <a:ext cx="1233488" cy="2057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07F86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9925050" y="3048000"/>
            <a:ext cx="89535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7F5A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96555-EAEB-4FEE-9058-86319B89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4747"/>
                </a:solidFill>
              </a:defRPr>
            </a:pPr>
            <a:r>
              <a:rPr sz="1050" b="1">
                <a:solidFill>
                  <a:srgbClr val="B54747"/>
                </a:solidFill>
              </a:rPr>
              <a:t>ONLY WRITE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60AE7-D8B5-4787-A4F5-E4C697E8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02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Agents read graph context; all mutations return through canonical approval.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86830-1DD0-4B04-BF49-36C7BD27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Solid path: implemented batch pattern   •   Amber: future speed path</a:t>
            </a:r>
          </a:p>
        </p:txBody>
      </p:sp>
    </p:spTree>
    <p:extLst>
      <p:ext uri="{BB962C8B-B14F-4D97-AF65-F5344CB8AC3E}">
        <p14:creationId xmlns:p14="http://schemas.microsoft.com/office/powerpoint/2010/main" val="651552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7E2FAC-192E-486C-B34A-93178761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Jobs prepare evidence; the publication API alone writes the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839FE-67DE-4B8A-A121-8531232A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Canonical data-job flow and agentic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2F5B5-0978-4360-B515-7465A541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0">
            <a:solidFill>
              <a:srgbClr val="007F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6DED4-BD05-41B5-B764-E5136597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123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Capture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Job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23747-CD7A-4F85-A71C-98568E68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885950"/>
            <a:ext cx="1123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Parse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Job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E1AAE-04F2-4088-8E04-8A840115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85950"/>
            <a:ext cx="1123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Normalize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Job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8A9F6-C03A-433D-AA64-B4CA00BA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85950"/>
            <a:ext cx="1123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Validate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Job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DF5CF-F1B9-4878-B67E-8B351716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1123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Reason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Job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62885-5D37-4D54-91E6-9046C6D7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85950"/>
            <a:ext cx="1123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Reconcile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Job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24B30-78CC-41C1-894C-363CFD74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85950"/>
            <a:ext cx="1123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1906">
            <a:solidFill>
              <a:srgbClr val="F3A71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Publish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Job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92FC0-95AE-4AB3-9A1C-8F01DCDA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781175"/>
            <a:ext cx="1428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1906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Canonical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Publication API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Policy +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1F228-7ED4-44E4-BD23-69CA7D0B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476625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11906">
            <a:solidFill>
              <a:srgbClr val="1B7F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Graph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3345E-13A2-470F-9046-7F1EB004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906">
            <a:solidFill>
              <a:srgbClr val="0B5F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Agentic Service</a:t>
            </a:r>
          </a:p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Retrieve context</a:t>
            </a:r>
          </a:p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Read-only graph access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752600" y="241935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71825" y="241935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591050" y="241935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10275" y="241935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241935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48725" y="241935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10267950" y="2409825"/>
            <a:ext cx="571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6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1039475" y="3038475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6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3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8001000" y="3971925"/>
            <a:ext cx="232410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3" idx="3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8001000" y="3038475"/>
            <a:ext cx="3038475" cy="11239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F3A712"/>
            </a:solidFill>
            <a:prstDash val="dash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C62D1-F786-473C-9145-2C4354CC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4747"/>
                </a:solidFill>
              </a:defRPr>
            </a:pPr>
            <a:r>
              <a:rPr sz="1125" b="1">
                <a:solidFill>
                  <a:srgbClr val="B54747"/>
                </a:solidFill>
              </a:rPr>
              <a:t>No direct database write from batch jobs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25BA5-C20F-46D2-B89B-D7A8C350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339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If an agent proposes a mutation, it submits a plan to the Canonical Publication API for policy approval.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794874-52FC-4264-839F-F22EF732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839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Control-plane evidence accompanies every job: source/version • mapping • validation • policy decision • checkpoint • correlation ID</a:t>
            </a:r>
          </a:p>
        </p:txBody>
      </p:sp>
    </p:spTree>
    <p:extLst>
      <p:ext uri="{BB962C8B-B14F-4D97-AF65-F5344CB8AC3E}">
        <p14:creationId xmlns:p14="http://schemas.microsoft.com/office/powerpoint/2010/main" val="1772224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9FE0F-87C6-4422-8FC7-1AFE7D38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A versioned data product is the only hand-off to graph publication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F90C5-7220-42B4-9331-249198F5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Granular microservices and data-product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DBDE1-FB66-4A11-8E66-6758122D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0">
            <a:solidFill>
              <a:srgbClr val="007F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1545A-8BEB-4A71-843A-6D04EB9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81125"/>
            <a:ext cx="3028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1906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API Gateway + Identity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E47ED-86D4-4204-A14E-4F5D92F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Ingestion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A4AD7-2483-4152-8A2A-EAF29381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906">
            <a:solidFill>
              <a:srgbClr val="0B5F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Canonical Transformation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BD0AA-EC47-4030-B378-69F98BFA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11906">
            <a:solidFill>
              <a:srgbClr val="007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Ontology &amp; Policy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5D15A-6F9A-4083-B73A-92B25635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3837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Data Catalog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734A0-6CB9-47C7-934D-B7DC876E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1906">
            <a:solidFill>
              <a:srgbClr val="F3A71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Graph Publication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13263-4243-4AB5-98BE-DC77F532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1906">
            <a:solidFill>
              <a:srgbClr val="F3A71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Raw data</a:t>
            </a:r>
          </a:p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source payload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F8AB9-D568-4E47-81B3-E950B1A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2190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Immutable Artifact Manifest</a:t>
            </a:r>
          </a:p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source • checksum • provenance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7BD12-742C-4E47-82BB-25E3928C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2190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Validated Semantic Batch</a:t>
            </a:r>
          </a:p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CEIM entities + SHACL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23201-310C-440B-B4A2-00590864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906">
            <a:solidFill>
              <a:srgbClr val="0B5F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Versioned Data Product Manifest</a:t>
            </a:r>
          </a:p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event_id • ceim_version • mapping_digest • validation_status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EB677-E930-45E0-898B-4359FEB1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10125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11906">
            <a:solidFill>
              <a:srgbClr val="1B7F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Enterprise Graph</a:t>
            </a:r>
          </a:p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Database</a:t>
            </a:r>
          </a:p>
        </p:txBody>
      </p:sp>
      <p:cxnSp>
        <p:nvCxnSpPr>
          <p:cNvPr id="47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1666875" y="1933575"/>
            <a:ext cx="443865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857625" y="1933575"/>
            <a:ext cx="22479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6048375" y="1933575"/>
            <a:ext cx="5715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105525" y="1933575"/>
            <a:ext cx="21336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4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105525" y="1933575"/>
            <a:ext cx="432435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62250" y="424815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A712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42481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810500" y="4248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6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0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1666875" y="3190875"/>
            <a:ext cx="47625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A712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71750" y="27146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4762500" y="27146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6"/>
            </a:solidFill>
            <a:prstDash val="dash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124075"/>
            <a:ext cx="2571750" cy="5905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44000" y="27146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6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666875" y="3190875"/>
            <a:ext cx="22860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dash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857625" y="3190875"/>
            <a:ext cx="28575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dash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8239125" y="3190875"/>
            <a:ext cx="1285875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6"/>
            </a:solidFill>
            <a:prstDash val="dash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0429875" y="3190875"/>
            <a:ext cx="428625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7F5A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80B0FF-2F0B-46EB-8B1C-E277A845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4747"/>
                </a:solidFill>
              </a:defRPr>
            </a:pPr>
            <a:r>
              <a:rPr sz="1275" b="1">
                <a:solidFill>
                  <a:srgbClr val="B54747"/>
                </a:solidFill>
              </a:rPr>
              <a:t>No direct database connection from Ingestion or Canonical Transformation. Ontology &amp; Policy provides mapping rules and validation policy.</a:t>
            </a:r>
          </a:p>
        </p:txBody>
      </p:sp>
    </p:spTree>
    <p:extLst>
      <p:ext uri="{BB962C8B-B14F-4D97-AF65-F5344CB8AC3E}">
        <p14:creationId xmlns:p14="http://schemas.microsoft.com/office/powerpoint/2010/main" val="1744450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534045-262D-474A-B5FB-51351B23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The orchestrator retrieves evidence, then routes any mutation for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305E6-D8B3-4540-90FB-D16D00F8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Granular agentic orchestration and semantic retrieval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04466-4898-4F6F-B2F4-E75D79E9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0">
            <a:solidFill>
              <a:srgbClr val="007F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BCCD4-F04B-4CE3-89EF-60E315BE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1906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User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43718-EE4E-4FED-A3F9-EDA1E3A9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288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D6"/>
          </a:solidFill>
          <a:ln xmlns:a="http://schemas.openxmlformats.org/drawingml/2006/main" w="0">
            <a:solidFill>
              <a:srgbClr val="B8CB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79022-3325-4E74-ACD6-E16E4810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76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1906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Agent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21335-31B9-4064-A42D-93753E9E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288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D6"/>
          </a:solidFill>
          <a:ln xmlns:a="http://schemas.openxmlformats.org/drawingml/2006/main" w="0">
            <a:solidFill>
              <a:srgbClr val="B8CB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4D07E-29DE-4F2F-87B4-7362849E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76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1906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Tool/API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Registry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BC1FE-5C70-4EB1-9F88-EC1A7FAE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288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D6"/>
          </a:solidFill>
          <a:ln xmlns:a="http://schemas.openxmlformats.org/drawingml/2006/main" w="0">
            <a:solidFill>
              <a:srgbClr val="B8CB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A4686-7122-41B4-9AA8-18661A94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76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1906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Semantic Retrieval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E1025-6E75-4CF2-974B-6CA46A82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288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D6"/>
          </a:solidFill>
          <a:ln xmlns:a="http://schemas.openxmlformats.org/drawingml/2006/main" w="0">
            <a:solidFill>
              <a:srgbClr val="B8CB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C57FE-50B4-4B34-8F70-41A9008A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1906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External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D716E-1E74-4F73-8283-5565942A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288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D6"/>
          </a:solidFill>
          <a:ln xmlns:a="http://schemas.openxmlformats.org/drawingml/2006/main" w="0">
            <a:solidFill>
              <a:srgbClr val="B8CB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EFB79-811E-4BFE-BB10-D7EF10E4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476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1906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Canonical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Publication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9971D-4C64-435F-81E7-96C6A6CE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0288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BD6"/>
          </a:solidFill>
          <a:ln xmlns:a="http://schemas.openxmlformats.org/drawingml/2006/main" w="0">
            <a:solidFill>
              <a:srgbClr val="B8CB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2BC43-30B9-41FE-9D76-F89B3088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1143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A5"/>
          </a:solidFill>
          <a:ln xmlns:a="http://schemas.openxmlformats.org/drawingml/2006/main" w="0">
            <a:solidFill>
              <a:srgbClr val="0B5F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CF121-3856-4424-8E3A-CD35F258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478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Complex analytical query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BA962A-E09D-47A9-828A-D1A643CF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33625"/>
            <a:ext cx="15716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A5"/>
          </a:solidFill>
          <a:ln xmlns:a="http://schemas.openxmlformats.org/drawingml/2006/main" w="0">
            <a:solidFill>
              <a:srgbClr val="0B5FA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CA5D6-854B-4DC5-AD87-CA751DDD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859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Discover enterprise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EDC2A-CE55-410F-9BE2-546A1A8D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05125"/>
            <a:ext cx="3286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A5"/>
          </a:solidFill>
          <a:ln xmlns:a="http://schemas.openxmlformats.org/drawingml/2006/main" w="0">
            <a:solidFill>
              <a:srgbClr val="0B5F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8F6B8-7FE2-4FF4-B29C-2A300E8E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57475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Traverse graph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A6DD2-97A5-49E0-93E0-A2F703A1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15716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A5"/>
          </a:solidFill>
          <a:ln xmlns:a="http://schemas.openxmlformats.org/drawingml/2006/main" w="0">
            <a:solidFill>
              <a:srgbClr val="0B5F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AABAC-D9D4-4F94-A9AE-973163C0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289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Bounded nodes / edges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33546-B4F1-4411-8107-564CEA6B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48125"/>
            <a:ext cx="4857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A5"/>
          </a:solidFill>
          <a:ln xmlns:a="http://schemas.openxmlformats.org/drawingml/2006/main" w="0">
            <a:solidFill>
              <a:srgbClr val="0B5F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9DE90-A74D-480A-9C4B-30429272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0047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Prompt + evidence for synthesis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8D41DE-C733-4AF1-9F63-CD99B676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9625"/>
            <a:ext cx="15716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A5"/>
          </a:solidFill>
          <a:ln xmlns:a="http://schemas.openxmlformats.org/drawingml/2006/main" w="0">
            <a:solidFill>
              <a:srgbClr val="0B5F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A88B6E-7426-49CA-A914-D4E7999F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719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Structured explainable response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243D0B-D6FE-407D-B633-A107E636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91125"/>
            <a:ext cx="6000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solidFill>
              <a:srgbClr val="F3A71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9B2DE9-7D29-4AA5-AE10-67CB1BDD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943475"/>
            <a:ext cx="600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Mutation plan — only if needed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B80024-605F-42FB-B5C2-A2075C29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Read path: User → Orchestrator → Tool Registry / Retrieval → LLM → explainable response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D4617-8229-4295-9B2D-D33082D9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115050"/>
            <a:ext cx="752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1906">
            <a:solidFill>
              <a:srgbClr val="F3A71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Mutation boundary: the Agent Orchestrator has zero direct graph write access; every change proposal is a policy-reviewed mutation plan.</a:t>
            </a:r>
          </a:p>
        </p:txBody>
      </p:sp>
    </p:spTree>
    <p:extLst>
      <p:ext uri="{BB962C8B-B14F-4D97-AF65-F5344CB8AC3E}">
        <p14:creationId xmlns:p14="http://schemas.microsoft.com/office/powerpoint/2010/main" val="2035831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3451B1-96FD-4962-B5E7-8705D64C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Quality gates decide every record before a checkpoint advances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7D84C-356B-42B8-8FEF-C7AAE4D9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Embedded data quality contract inside the canonical normalization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89F04-BF41-45A5-8CD7-EE1745D1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0">
            <a:solidFill>
              <a:srgbClr val="007F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89627-2706-4190-962B-DBECA5AD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38100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1906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Start: read Input Manifest + Quality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1192F-5B01-4760-9D98-3AADF7B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47875"/>
            <a:ext cx="3810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Process data partition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908CF-0A31-4608-AC7E-51219544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3810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Completeness: identifiers and provenance present?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67FED-502F-47FA-B930-5523D8D0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3810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Validity: schema, datatype and canonical rules pass?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E3BF5-642C-438B-8B70-3A812A91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3810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CB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Consistency: revision, namespace and mapping version match?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0D9E6-B76D-49FD-AA01-846017E7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28950"/>
            <a:ext cx="2428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11906">
            <a:solidFill>
              <a:srgbClr val="B547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Quarantined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C743A-00E4-4F14-972F-F85F1EA7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24325"/>
            <a:ext cx="2428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11906">
            <a:solidFill>
              <a:srgbClr val="B547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Rejected Partition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99867-2C98-4762-99CA-15E8547A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2428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1906">
            <a:solidFill>
              <a:srgbClr val="F3A71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Conflict / Review 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5803A-FB47-4129-BE3A-EB966803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48375"/>
            <a:ext cx="3810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11906">
            <a:solidFill>
              <a:srgbClr val="1B7F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Accepted Partition → Output Manifest + Quality Evidence Report → advance deterministic checkpoint</a:t>
            </a:r>
          </a:p>
        </p:txBody>
      </p:sp>
      <p:cxnSp>
        <p:nvCxnSpPr>
          <p:cNvPr id="33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00750" y="180975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00750" y="25717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00750" y="3667125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00750" y="47625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5FA5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00750" y="58578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6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905750" y="3324225"/>
            <a:ext cx="619125" cy="80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54747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905750" y="4419600"/>
            <a:ext cx="619125" cy="80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54747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905750" y="5514975"/>
            <a:ext cx="619125" cy="80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3A712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856275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2026-09-03T10:44:51.3440000Z</dcterms:created>
  <dcterms:modified xsi:type="dcterms:W3CDTF">2026-09-03T10:44:51.3440000Z</dcterms:modified>
</coreProperties>
</file>