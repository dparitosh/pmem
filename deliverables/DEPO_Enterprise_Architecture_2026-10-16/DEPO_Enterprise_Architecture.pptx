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D:\paritosh\PMem-codex-apach_agent\infra\deployment\services.json
D:\paritosh\PMem-codex-apach_agent\docs\DATA_PRODUCT_INGESTION.md
D:\paritosh\PMem-codex-apach_agent\INSTALLATION.md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D:\paritosh\PMem-codex-apach_agent\infra\deployment\services.json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D:\paritosh\PMem-codex-apach_agent\infra\deployment\services.json
C4 System Context. External source coverage depends on supported parsers and configured adapters.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D:\paritosh\PMem-codex-apach_agent\infra\deployment\services.json
D:\paritosh\PMem-codex-apach_agent\frontend\src\config.js
D:\paritosh\PMem-codex-apach_agent\infra\windows\runtime-config.ps1
C4 Container. Gateway is optional. Storage arrows summarize ownership rather than enumerate every read connection.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D:\paritosh\PMem-codex-apach_agent\backend\agentic_service\catalog.json
D:\paritosh\PMem-codex-apach_agent\backend\agentic_service\durable_workflows.py
D:\paritosh\PMem-codex-apach_agent\backend\agentic_service\worker.py
D:\paritosh\PMem-codex-apach_agent\backend\agentic_service\transport_auth.py
C4 Component. LLM assistance is optional; agents do not self-authorize protected operations.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D:\paritosh\PMem-codex-apach_agent\backend\ontology_service\publication_jobs.py
D:\paritosh\PMem-codex-apach_agent\backend\agentic_service\bridge_jobs.py
D:\paritosh\PMem-codex-apach_agent\backend\graph_service\router.py
UML Component view. Product packaging and ODS commits are independent persistence outcomes.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D:\paritosh\PMem-codex-apach_agent\infra\deployment\services.json
D:\paritosh\PMem-codex-apach_agent\frontend\src\config.js
D:\paritosh\PMem-codex-apach_agent\infra\windows\runtime-config.ps1
D:\paritosh\PMem-codex-apach_agent\INSTALLATION.md
D:\paritosh\PMem-codex-apach_agent\infra\windows\install-depo-windows.ps1
D:\paritosh\PMem-codex-apach_agent\infra\windows\update-depo-windows.ps1
D:\paritosh\PMem-codex-apach_agent\backend\postgres_migrations.py
UML Deployment. Diagram is a deployment pattern; VM placement, firewall rules and TLS require customer acceptance.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D:\paritosh\PMem-codex-apach_agent\frontend\src\services\serviceAuth.js
D:\paritosh\PMem-codex-apach_agent\backend\depo_platform\browser_credentials.py
D:\paritosh\PMem-codex-apach_agent\frontend\src\app\RunRecoveryNotice.js
UML Sequence. Renewal remains bounded by absolute expiry. Revoked or fully expired access requires reconnection.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D:\paritosh\PMem-codex-apach_agent\backend\ontology_service\publication_jobs.py
D:\paritosh\PMem-codex-apach_agent\backend\agentic_service\bridge_jobs.py
D:\paritosh\PMem-codex-apach_agent\backend\graph_service\router.py
D:\paritosh\PMem-codex-apach_agent\backend\ingestion_service\router.py
UML Sequence. Logical handoffs omit internal validation calls; clients must inspect retained outcomes after response loss.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D:\paritosh\PMem-codex-apach_agent\backend\agentic_service\catalog.json
D:\paritosh\PMem-codex-apach_agent\backend\agentic_service\durable_workflows.py
D:\paritosh\PMem-codex-apach_agent\backend\agentic_service\worker.py
D:\paritosh\PMem-codex-apach_agent\backend\agentic_service\transport_auth.py
D:\paritosh\PMem-codex-apach_agent\backend\ontology_service\publication_jobs.py
D:\paritosh\PMem-codex-apach_agent\backend\agentic_service\bridge_jobs.py
D:\paritosh\PMem-codex-apach_agent\backend\graph_service\router.py
UML Activity. Automatic publication remains subject to server policy and supplied authorization.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D:\paritosh\PMem-codex-apach_agent\backend\agentic_service\catalog.json
D:\paritosh\PMem-codex-apach_agent\backend\agentic_service\durable_workflows.py
D:\paritosh\PMem-codex-apach_agent\backend\agentic_service\worker.py
D:\paritosh\PMem-codex-apach_agent\backend\agentic_service\transport_auth.py
UML Sequence. Tool names and workflow steps follow backend/agentic_service/catalog.json.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D:\paritosh\PMem-codex-apach_agent\backend\data_pipeline_service\router.py
D:\paritosh\PMem-codex-apach_agent\backend\depo_platform\database_setup.py
D:\paritosh\PMem-codex-apach_agent\backend\agentic_service\catalog.json
D:\paritosh\PMem-codex-apach_agent\backend\agentic_service\durable_workflows.py
D:\paritosh\PMem-codex-apach_agent\backend\agentic_service\worker.py
D:\paritosh\PMem-codex-apach_agent\backend\agentic_service\transport_auth.py
UML Class diagram is conceptual. Field names summarize domain contracts and do not claim one SQL table or Python class per box.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D:\paritosh\PMem-codex-apach_agent\backend\data_pipeline_service\router.py
D:\paritosh\PMem-codex-apach_agent\backend\depo_platform\database_setup.py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D:\paritosh\PMem-codex-apach_agent\backend\data_pipeline_service\router.py
D:\paritosh\PMem-codex-apach_agent\backend\depo_platform\database_setup.py
UML Activity. Current ODS path is XSD/XML. CSV/XLSX-to-ODS and SCD/conformed dimensions need separate contracts.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D:\paritosh\PMem-codex-apach_agent\backend\data_pipeline_service\router.py
D:\paritosh\PMem-codex-apach_agent\backend\depo_platform\database_setup.py
D:\paritosh\PMem-codex-apach_agent\backend\data_product_service\router.py
UML Sequence. Package publication, graph publication and catalog registration have distinct completion evidence.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D:\paritosh\PMem-codex-apach_agent\backend\agentic_service\companion.py
D:\paritosh\PMem-codex-apach_agent\backend\agentic_service\oslc_graph_rag.py
D:\paritosh\PMem-codex-apach_agent\frontend\src\Components\Chatbot.js
Component/data-flow view. Vector ranking and retrieval quality require configured models, data and evaluation; no universal accuracy claim.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D:\paritosh\PMem-codex-apach_agent\backend\core\ollama_auth.py
D:\paritosh\PMem-codex-apach_agent\backend\agentic_service\local_llm.py
D:\paritosh\PMem-codex-apach_agent\infra\windows\test-depo-ollama.ps1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D:\paritosh\PMem-codex-apach_agent\backend\ontology_service\publication_jobs.py
D:\paritosh\PMem-codex-apach_agent\backend\agentic_service\bridge_jobs.py
D:\paritosh\PMem-codex-apach_agent\backend\graph_service\router.py
D:\paritosh\PMem-codex-apach_agent\frontend\src\services\serviceAuth.js
D:\paritosh\PMem-codex-apach_agent\backend\depo_platform\browser_credentials.py
D:\paritosh\PMem-codex-apach_agent\frontend\src\app\RunRecoveryNotice.js
D:\paritosh\PMem-codex-apach_agent\docs\DATA_PRODUCT_INGESTION.md
D:\paritosh\PMem-codex-apach_agent\backend\data_pipeline_service\router.py
D:\paritosh\PMem-codex-apach_agent\backend\depo_platform\database_setup.py
UML Activity. Pause and cancel remain cooperative at tool boundaries; completed writes remain retained.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D:\paritosh\PMem-codex-apach_agent\frontend\src\services\serviceAuth.js
D:\paritosh\PMem-codex-apach_agent\backend\depo_platform\browser_credentials.py
D:\paritosh\PMem-codex-apach_agent\frontend\src\app\RunRecoveryNotice.js
D:\paritosh\PMem-codex-apach_agent\backend\depo_platform\authorization.py
D:\paritosh\PMem-codex-apach_agent\backend\routes\admin_routes.py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D:\paritosh\PMem-codex-apach_agent\INSTALLATION.md
D:\paritosh\PMem-codex-apach_agent\infra\windows\install-depo-windows.ps1
D:\paritosh\PMem-codex-apach_agent\infra\windows\update-depo-windows.ps1
D:\paritosh\PMem-codex-apach_agent\backend\postgres_migrations.py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D:\paritosh\PMem-codex-apach_agent\INSTALLATION.md
D:\paritosh\PMem-codex-apach_agent\infra\windows\install-depo-windows.ps1
D:\paritosh\PMem-codex-apach_agent\infra\windows\update-depo-windows.ps1
D:\paritosh\PMem-codex-apach_agent\backend\postgres_migrations.py
UML Activity. Migration failure rolls back its transaction. Failure after a successful migration requires an operator recovery plan; no automatic downgrade is implied.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D:\paritosh\PMem-codex-apach_agent\infra\deployment\services.json
D:\paritosh\PMem-codex-apach_agent\frontend\src\config.js
D:\paritosh\PMem-codex-apach_agent\infra\windows\runtime-config.ps1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D:\paritosh\PMem-codex-apach_agent\INSTALLATION.md
D:\paritosh\PMem-codex-apach_agent\infra\windows\install-depo-windows.ps1
D:\paritosh\PMem-codex-apach_agent\infra\windows\update-depo-windows.ps1
D:\paritosh\PMem-codex-apach_agent\backend\postgres_migrations.py
D:\paritosh\PMem-codex-apach_agent\docs\DATA_PRODUCT_INGESTION.md
D:\paritosh\PMem-codex-apach_agent\backend\data_pipeline_service\router.py
D:\paritosh\PMem-codex-apach_agent\backend\depo_platform\database_setup.py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baseline: repository commit 0d728b9, reviewed 16 October 2026.
Sources:
D:\paritosh\PMem-codex-apach_agent\docs\DATA_PRODUCT_INGESTION.md
D:\paritosh\PMem-codex-apach_agent\infra\deployment\services.json
D:\paritosh\PMem-codex-apach_agent\backend\agentic_service\catalog.json
D:\paritosh\PMem-codex-apach_agent\backend\agentic_service\durable_workflows.py
D:\paritosh\PMem-codex-apach_agent\backend\agentic_service\worker.py
D:\paritosh\PMem-codex-apach_agent\backend\agentic_service\transport_auth.py
Implementation statements describe the repository. Live customer deployment acceptance remains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3F"/>
        </a:solidFill>
      </p:bgPr>
    </p:bg>
    <p:spTree>
      <p:nvGrpSpPr>
        <p:cNvPr id="1" name=""/>
        <p:cNvGrpSpPr/>
        <p:nvPr/>
      </p:nvGrpSpPr>
      <p:grpSpPr>
        <a:xfrm>
          <a:off x="0" y="0"/>
          <a:ext cx="0" cy="0"/>
          <a:chOff x="0" y="0"/>
          <a:chExt cx="0" cy="0"/>
        </a:xfrm>
      </p:grpSpPr>
      <p:sp>
        <p:nvSpPr>
          <p:cNvPr id="2" name="Text 0"/>
          <p:cNvSpPr/>
          <p:nvPr/>
        </p:nvSpPr>
        <p:spPr>
          <a:xfrm>
            <a:off x="731520" y="621792"/>
            <a:ext cx="10698480" cy="274320"/>
          </a:xfrm>
          <a:prstGeom prst="rect">
            <a:avLst/>
          </a:prstGeom>
          <a:noFill/>
          <a:ln/>
        </p:spPr>
        <p:txBody>
          <a:bodyPr wrap="square" lIns="0" tIns="0" rIns="0" bIns="0" rtlCol="0" anchor="ctr"/>
          <a:lstStyle/>
          <a:p>
            <a:pPr indent="0" marL="0">
              <a:buNone/>
            </a:pPr>
            <a:r>
              <a:rPr lang="en-US" sz="1300" b="1" spc="180" kern="0" dirty="0">
                <a:solidFill>
                  <a:srgbClr val="64D5C7"/>
                </a:solidFill>
                <a:latin typeface="Arial" pitchFamily="34" charset="0"/>
                <a:ea typeface="Arial" pitchFamily="34" charset="-122"/>
                <a:cs typeface="Arial" pitchFamily="34" charset="-120"/>
              </a:rPr>
              <a:t>DEPO  /  INDUSTRIAL DATA PLATFORM</a:t>
            </a:r>
            <a:endParaRPr lang="en-US" sz="1300" dirty="0"/>
          </a:p>
        </p:txBody>
      </p:sp>
      <p:sp>
        <p:nvSpPr>
          <p:cNvPr id="3" name="Text 1"/>
          <p:cNvSpPr/>
          <p:nvPr/>
        </p:nvSpPr>
        <p:spPr>
          <a:xfrm>
            <a:off x="731520" y="1444752"/>
            <a:ext cx="10424160" cy="16002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Enterprise</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software architecture</a:t>
            </a:r>
            <a:endParaRPr lang="en-US" sz="4200" dirty="0"/>
          </a:p>
        </p:txBody>
      </p:sp>
      <p:sp>
        <p:nvSpPr>
          <p:cNvPr id="4" name="Text 2"/>
          <p:cNvSpPr/>
          <p:nvPr/>
        </p:nvSpPr>
        <p:spPr>
          <a:xfrm>
            <a:off x="768096" y="3429000"/>
            <a:ext cx="9875520" cy="841248"/>
          </a:xfrm>
          <a:prstGeom prst="rect">
            <a:avLst/>
          </a:prstGeom>
          <a:noFill/>
          <a:ln/>
        </p:spPr>
        <p:txBody>
          <a:bodyPr wrap="square" lIns="0" tIns="0" rIns="0" bIns="0" rtlCol="0" anchor="ctr"/>
          <a:lstStyle/>
          <a:p>
            <a:pPr indent="0" marL="0">
              <a:buNone/>
            </a:pPr>
            <a:r>
              <a:rPr lang="en-US" sz="2400" dirty="0">
                <a:solidFill>
                  <a:srgbClr val="D6E5F2"/>
                </a:solidFill>
                <a:latin typeface="Arial" pitchFamily="34" charset="0"/>
                <a:ea typeface="Arial" pitchFamily="34" charset="-122"/>
                <a:cs typeface="Arial" pitchFamily="34" charset="-120"/>
              </a:rPr>
              <a:t>Ontology alignment, governed agents and reusable data products</a:t>
            </a:r>
            <a:endParaRPr lang="en-US" sz="2400" dirty="0"/>
          </a:p>
        </p:txBody>
      </p:sp>
      <p:sp>
        <p:nvSpPr>
          <p:cNvPr id="5" name="Text 3"/>
          <p:cNvSpPr/>
          <p:nvPr/>
        </p:nvSpPr>
        <p:spPr>
          <a:xfrm>
            <a:off x="768096" y="4791456"/>
            <a:ext cx="10332720" cy="365760"/>
          </a:xfrm>
          <a:prstGeom prst="rect">
            <a:avLst/>
          </a:prstGeom>
          <a:noFill/>
          <a:ln/>
        </p:spPr>
        <p:txBody>
          <a:bodyPr wrap="square" lIns="0" tIns="0" rIns="0" bIns="0" rtlCol="0" anchor="ctr"/>
          <a:lstStyle/>
          <a:p>
            <a:pPr indent="0" marL="0">
              <a:buNone/>
            </a:pPr>
            <a:r>
              <a:rPr lang="en-US" sz="1700" dirty="0">
                <a:solidFill>
                  <a:srgbClr val="93B4D1"/>
                </a:solidFill>
                <a:latin typeface="Arial" pitchFamily="34" charset="0"/>
                <a:ea typeface="Arial" pitchFamily="34" charset="-122"/>
                <a:cs typeface="Arial" pitchFamily="34" charset="-120"/>
              </a:rPr>
              <a:t>C4 • UML • TOGAF-aligned architecture views</a:t>
            </a:r>
            <a:endParaRPr lang="en-US" sz="1700" dirty="0"/>
          </a:p>
        </p:txBody>
      </p:sp>
      <p:sp>
        <p:nvSpPr>
          <p:cNvPr id="6" name="Text 4"/>
          <p:cNvSpPr/>
          <p:nvPr/>
        </p:nvSpPr>
        <p:spPr>
          <a:xfrm>
            <a:off x="768096" y="5925312"/>
            <a:ext cx="10332720" cy="274320"/>
          </a:xfrm>
          <a:prstGeom prst="rect">
            <a:avLst/>
          </a:prstGeom>
          <a:noFill/>
          <a:ln/>
        </p:spPr>
        <p:txBody>
          <a:bodyPr wrap="square" lIns="0" tIns="0" rIns="0" bIns="0" rtlCol="0" anchor="ctr"/>
          <a:lstStyle/>
          <a:p>
            <a:pPr indent="0" marL="0">
              <a:buNone/>
            </a:pPr>
            <a:r>
              <a:rPr lang="en-US" sz="1300" dirty="0">
                <a:solidFill>
                  <a:srgbClr val="93B4D1"/>
                </a:solidFill>
                <a:latin typeface="Arial" pitchFamily="34" charset="0"/>
                <a:ea typeface="Arial" pitchFamily="34" charset="-122"/>
                <a:cs typeface="Arial" pitchFamily="34" charset="-120"/>
              </a:rPr>
              <a:t>16 October 2026   |   Repository baseline 0d728b9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DECISIONS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Architecture scope and TOGAF-aligned layers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Four architecture domains organize the views; this is an implementation architecture, not a certification claim.</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11064240" cy="914400"/>
        </p:xfrm>
        <a:graphic>
          <a:graphicData uri="http://schemas.openxmlformats.org/drawingml/2006/table">
            <a:tbl>
              <a:tblPr/>
              <a:tblGrid>
                <a:gridCol w="1463040"/>
                <a:gridCol w="4389120"/>
                <a:gridCol w="5212080"/>
              </a:tblGrid>
              <a:tr h="530352">
                <a:tc>
                  <a:txBody>
                    <a:bodyPr/>
                    <a:lstStyle/>
                    <a:p>
                      <a:pPr indent="0" marL="0">
                        <a:buNone/>
                      </a:pPr>
                      <a:r>
                        <a:rPr lang="en-US" sz="1450" b="1" dirty="0">
                          <a:solidFill>
                            <a:srgbClr val="FFFFFF"/>
                          </a:solidFill>
                          <a:latin typeface="Arial" pitchFamily="34" charset="0"/>
                          <a:ea typeface="Arial" pitchFamily="34" charset="-122"/>
                          <a:cs typeface="Arial" pitchFamily="34" charset="-120"/>
                        </a:rPr>
                        <a:t>Layer</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Architecture responsibility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DEPO implementation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Business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Engineering meaning, stewardship and reusable evidence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Ontology review, instance linking, governed products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Application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Service responsibilities and permitted interactions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10 APIs, 3 workers, React / Siemens IX frontend</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Data</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Identity, lineage, persistence and publication outcomes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PostgreSQL, Neo4j and immutable artifact references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Technology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Runtime, network, security and operational readiness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Windows deployment, optional gateway, Spark and Ollama</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5897880"/>
            <a:ext cx="10972800" cy="338328"/>
          </a:xfrm>
          <a:prstGeom prst="rect">
            <a:avLst/>
          </a:prstGeom>
          <a:noFill/>
          <a:ln/>
        </p:spPr>
        <p:txBody>
          <a:bodyPr wrap="square" lIns="0" tIns="0" rIns="0" bIns="0" rtlCol="0" anchor="ctr"/>
          <a:lstStyle/>
          <a:p>
            <a:pPr indent="0" marL="0">
              <a:buNone/>
            </a:pPr>
            <a:r>
              <a:rPr lang="en-US" sz="1250" dirty="0">
                <a:solidFill>
                  <a:srgbClr val="53687C"/>
                </a:solidFill>
                <a:latin typeface="Arial" pitchFamily="34" charset="0"/>
                <a:ea typeface="Arial" pitchFamily="34" charset="-122"/>
                <a:cs typeface="Arial" pitchFamily="34" charset="-120"/>
              </a:rPr>
              <a:t>Scope: repository capabilities and customer deployment controls; untested external connectors remain deployment work.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C4 context — users, platform and external systems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Level 1 · DEPO is the system of interest; external systems remain outside its authority.</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03</a:t>
            </a:r>
            <a:endParaRPr lang="en-US" sz="1000" dirty="0"/>
          </a:p>
        </p:txBody>
      </p:sp>
      <p:pic>
        <p:nvPicPr>
          <p:cNvPr id="8" name="Image 0" descr="C4 context — users, platform and external system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7293" y="1554480"/>
            <a:ext cx="10186934"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Industrial semantic integration and reuse.</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Preserve meaning and evidence across systems.</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Engineers, stewards, analysts and operators.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Import, align, query and publish tasks.</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Customer application and private data services.</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Scoped APIs, supported files and model REST.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C4 containers — ten APIs and three workers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Level 2 · Container names and ports follow the deployment manifest.</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04</a:t>
            </a:r>
            <a:endParaRPr lang="en-US" sz="1000" dirty="0"/>
          </a:p>
        </p:txBody>
      </p:sp>
      <p:pic>
        <p:nvPicPr>
          <p:cNvPr id="8" name="Image 0" descr="C4 containers — ten APIs and three worker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3292" y="1554480"/>
            <a:ext cx="9794935"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Deployable APIs, workers and persistent stores.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Separate request handling from durable execution.</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Frontend, domain services and worker processes.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Interactive requests and queued background work.</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Internal ports 8010–8019; public routing is configurable.</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REST, PostgreSQL leases, artifacts and Bolt.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C4 components — agentic execution boundary</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Level 3 · Recommendations and durable workflows share the validated tool catalog.</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05</a:t>
            </a:r>
            <a:endParaRPr lang="en-US" sz="1000" dirty="0"/>
          </a:p>
        </p:txBody>
      </p:sp>
      <p:pic>
        <p:nvPicPr>
          <p:cNvPr id="8" name="Image 0" descr="C4 components — agentic execution boundary">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12" y="1554480"/>
            <a:ext cx="10876695"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Agent discovery, planning and permitted tool execution.</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Keep model suggestions behind service authorization.</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Agentic router, workflow worker and domain APIs.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Recommendation and approved multi-step workflows.</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Agentic :8012 with PostgreSQL run state.</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Validated catalog, grants, leases and bounded tools.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components — governed graph publication</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Ontology projection, CEIM batches and Bridge links have separate contracts.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06</a:t>
            </a:r>
            <a:endParaRPr lang="en-US" sz="1000" dirty="0"/>
          </a:p>
        </p:txBody>
      </p:sp>
      <p:pic>
        <p:nvPicPr>
          <p:cNvPr id="8" name="Image 0" descr="UML components — governed graph public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2390833"/>
            <a:ext cx="11137392" cy="1911741"/>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Distinct publication contracts converge on graph writes.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Prevent hidden writes and ambiguous completion.</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Ontology, CEIM, Agentic and Graph services.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After source and policy evidence satisfy a contract.</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Private Graph API and named Neo4j database.</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Scoped credentials, batched writes and receipts.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deployment — customer runtime and network zones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The deployment can use direct service URLs or a configured gateway.</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07</a:t>
            </a:r>
            <a:endParaRPr lang="en-US" sz="1000" dirty="0"/>
          </a:p>
        </p:txBody>
      </p:sp>
      <p:pic>
        <p:nvPicPr>
          <p:cNvPr id="8" name="Image 0" descr="UML deployment — customer runtime and network zone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1674966"/>
            <a:ext cx="11137392" cy="3343477"/>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Browser, ingress, APIs, workers and data services.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Expose the UI while containing privileged data access.</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Customer operations and service identities.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Installation, normal operation and recovery.</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Application VM and private database network.</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Reviewed routing, TLS policy and durable storage.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sequence — delegated browser access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Reconnection restores access; expiry does not undo completed writes.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08</a:t>
            </a:r>
            <a:endParaRPr lang="en-US" sz="1000" dirty="0"/>
          </a:p>
        </p:txBody>
      </p:sp>
      <p:pic>
        <p:nvPicPr>
          <p:cNvPr id="8" name="Image 0" descr="UML sequence — delegated browser acces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11377" y="1554480"/>
            <a:ext cx="5938765"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 bounded browser session with selected scopes.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Avoid repeated raw-key entry during active use.</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User, ontology session API and protected APIs.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Connect, authorized requests and active renewal.</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Browser token; PostgreSQL credential validation.</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Admin verification, delegation and absolute expiry.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sequence — source registration and RDF publication</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A registered ontology and a published RDF projection are separate states.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09</a:t>
            </a:r>
            <a:endParaRPr lang="en-US" sz="1000" dirty="0"/>
          </a:p>
        </p:txBody>
      </p:sp>
      <p:pic>
        <p:nvPicPr>
          <p:cNvPr id="8" name="Image 0" descr="UML sequence — source registration and RDF public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05113" y="1554480"/>
            <a:ext cx="7751294"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Create an ontology from retained engineering inputs.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Separate registration evidence from graph availability.</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User, ingestion, ontology and graph services.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Schema conversion, then authorized publication.</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Artifacts and PostgreSQL; RDF projection in Neo4j.</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Retained identity, publication job and receipt.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activity — Semantic Bridge decision flow</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Automatic policy routes hold unsupported, stale or conflicting candidates.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10</a:t>
            </a:r>
            <a:endParaRPr lang="en-US" sz="1000" dirty="0"/>
          </a:p>
        </p:txBody>
      </p:sp>
      <p:pic>
        <p:nvPicPr>
          <p:cNvPr id="8" name="Image 0" descr="UML activity — Semantic Bridge decision flow">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2199034"/>
            <a:ext cx="11137392" cy="2295341"/>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Instance linking or ontology-to-ontology union.</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Keep task types and conflict decisions explicit.</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Governor, steward, authorized user and services.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After exact source and target selection.</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Ontology Junction / Semantic Bridge and workers.</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Preview, policy evaluation and retained outcomes.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sequence — automated ontology union draft</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The workflow creates an eligible union draft; graph publication is a separate outcome.</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11</a:t>
            </a:r>
            <a:endParaRPr lang="en-US" sz="1000" dirty="0"/>
          </a:p>
        </p:txBody>
      </p:sp>
      <p:pic>
        <p:nvPicPr>
          <p:cNvPr id="8" name="Image 0" descr="UML sequence — automated ontology union draf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63994" y="1554480"/>
            <a:ext cx="7033532"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 retained union draft with evaluation evidence.</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Reduce repetitive review without bypassing policy.</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Governor previews; steward evaluates; governor applies.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Authorized ontology-union-automation run.</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Agentic worker, ontology tools and retained stores.</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Checkpointed preview, evaluate and eligible apply.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class view — retained domain identities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Logical domain model · records may be JSON documents rather than ORM classes.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12</a:t>
            </a:r>
            <a:endParaRPr lang="en-US" sz="1000" dirty="0"/>
          </a:p>
        </p:txBody>
      </p:sp>
      <p:pic>
        <p:nvPicPr>
          <p:cNvPr id="8" name="Image 0" descr="UML class view — retained domain identitie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4704" y="1554480"/>
            <a:ext cx="8452111"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Logical records and their evidence relationships.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Keep source, run, publication and product identities distinct.</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Domain services own records; clients use references.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Across review, execution and publication.</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PostgreSQL records plus referenced artifacts.</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Stable keys, digests and explicit cardinalities.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DECISIONS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Data ownership — application state, ODS, RDF and artifacts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Storage responsibilities follow independent commit and publication boundaries.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11064240" cy="914400"/>
        </p:xfrm>
        <a:graphic>
          <a:graphicData uri="http://schemas.openxmlformats.org/drawingml/2006/table">
            <a:tbl>
              <a:tblPr/>
              <a:tblGrid>
                <a:gridCol w="2194560"/>
                <a:gridCol w="4663440"/>
                <a:gridCol w="4206240"/>
              </a:tblGrid>
              <a:tr h="530352">
                <a:tc>
                  <a:txBody>
                    <a:bodyPr/>
                    <a:lstStyle/>
                    <a:p>
                      <a:pPr indent="0" marL="0">
                        <a:buNone/>
                      </a:pPr>
                      <a:r>
                        <a:rPr lang="en-US" sz="1450" b="1" dirty="0">
                          <a:solidFill>
                            <a:srgbClr val="FFFFFF"/>
                          </a:solidFill>
                          <a:latin typeface="Arial" pitchFamily="34" charset="0"/>
                          <a:ea typeface="Arial" pitchFamily="34" charset="-122"/>
                          <a:cs typeface="Arial" pitchFamily="34" charset="-120"/>
                        </a:rPr>
                        <a:t>Store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Owned data</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Important boundary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PostgreSQL application schema</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10 tables and 1 analytics view; registry namespaces, credentials and runs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Migrations 001–011; namespaces share relations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PostgreSQL analytics schemas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One versioned schema per retained XSD closure / prefix; XML entities and links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Fact / dimension views require explicit grain and keys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Neo4j</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Published RDF resources, semantic relationships and publication evidence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Registration alone does not establish publication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Durable artifact storage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Original bytes, RDF, reports, load receipts and product packages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Retention and access policies apply to each artifact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5897880"/>
            <a:ext cx="10972800" cy="338328"/>
          </a:xfrm>
          <a:prstGeom prst="rect">
            <a:avLst/>
          </a:prstGeom>
          <a:noFill/>
          <a:ln/>
        </p:spPr>
        <p:txBody>
          <a:bodyPr wrap="square" lIns="0" tIns="0" rIns="0" bIns="0" rtlCol="0" anchor="ctr"/>
          <a:lstStyle/>
          <a:p>
            <a:pPr indent="0" marL="0">
              <a:buNone/>
            </a:pPr>
            <a:r>
              <a:rPr lang="en-US" sz="1250" dirty="0">
                <a:solidFill>
                  <a:srgbClr val="53687C"/>
                </a:solidFill>
                <a:latin typeface="Arial" pitchFamily="34" charset="0"/>
                <a:ea typeface="Arial" pitchFamily="34" charset="-122"/>
                <a:cs typeface="Arial" pitchFamily="34" charset="-120"/>
              </a:rPr>
              <a:t>A product package references selected evidence; it does not automatically export every ODS row or the entire graph.</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activity — XML ODS and data-mart preparation</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Business grain and history policy remain explicit; arbitrary files do not define a data mart.</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14</a:t>
            </a:r>
            <a:endParaRPr lang="en-US" sz="1000" dirty="0"/>
          </a:p>
        </p:txBody>
      </p:sp>
      <p:pic>
        <p:nvPicPr>
          <p:cNvPr id="8" name="Image 0" descr="UML activity — XML ODS and data-mart prepar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2211243"/>
            <a:ext cx="11137392" cy="2270922"/>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Validated XML becomes structural PostgreSQL data.</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Keep a committed load recoverable after evidence failure.</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Pipeline worker and explicit analytics profile.</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Supported XSD projection and XML instance load.</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Versioned analytics schema in PostgreSQL.</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Bounded batches, commit receipt and reconciliation.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Sequence — product packaging and catalog delivery</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Catalog retries reconcile registration; they do not rerun ingestion.</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15</a:t>
            </a:r>
            <a:endParaRPr lang="en-US" sz="1000" dirty="0"/>
          </a:p>
        </p:txBody>
      </p:sp>
      <p:pic>
        <p:nvPicPr>
          <p:cNvPr id="8" name="Image 0" descr="Sequence — product packaging and catalog delivery">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32132" y="1554480"/>
            <a:ext cx="7697257" cy="3584448"/>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 versioned package and discoverable catalog record.</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Separate durable packaging from delivery retries.</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Product API, outbox worker and catalog service.</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After evidence and authorization validate.</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Artifact packages and PostgreSQL product state.</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Preview, immutable package and outbox reconciliation.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Scoped graph retrieval and Knowledge Companion</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Model availability and graph evidence availability are independent checks.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16</a:t>
            </a:r>
            <a:endParaRPr lang="en-US" sz="1000" dirty="0"/>
          </a:p>
        </p:txBody>
      </p:sp>
      <p:pic>
        <p:nvPicPr>
          <p:cNvPr id="8" name="Image 0" descr="Scoped graph retrieval and Knowledge Compan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1592872"/>
            <a:ext cx="11137392" cy="3507664"/>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Bounded graph evidence and optional model summary.</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Explain answers using the selected ontology context.</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Knowledge Companion, Graph API and optional model.</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 user submits an authorized scoped question.</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Graph resources, provenance and response evidence.</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Search, bounded expansion and evidence references.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DECISIONS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Ollama REST integration — verify capabilities separately</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REST operation paths follow the deployed gateway contract.</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11064240" cy="914400"/>
        </p:xfrm>
        <a:graphic>
          <a:graphicData uri="http://schemas.openxmlformats.org/drawingml/2006/table">
            <a:tbl>
              <a:tblPr/>
              <a:tblGrid>
                <a:gridCol w="1828800"/>
                <a:gridCol w="5029200"/>
                <a:gridCol w="4206240"/>
              </a:tblGrid>
              <a:tr h="530352">
                <a:tc>
                  <a:txBody>
                    <a:bodyPr/>
                    <a:lstStyle/>
                    <a:p>
                      <a:pPr indent="0" marL="0">
                        <a:buNone/>
                      </a:pPr>
                      <a:r>
                        <a:rPr lang="en-US" sz="1450" b="1" dirty="0">
                          <a:solidFill>
                            <a:srgbClr val="FFFFFF"/>
                          </a:solidFill>
                          <a:latin typeface="Arial" pitchFamily="34" charset="0"/>
                          <a:ea typeface="Arial" pitchFamily="34" charset="-122"/>
                          <a:cs typeface="Arial" pitchFamily="34" charset="-120"/>
                        </a:rPr>
                        <a:t>Capability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Contract and control</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Verification meaning</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Generation / chat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Use the configured API root or explicit operation URL</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A completed response verifies that operation only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Model discovery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GET /api/tags only when the gateway exposes it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A missing optional discovery route does not prove chat failure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Streaming</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Validate native response frames and terminal completion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HTTP 200 alone does not establish a complete stream</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Tool calling</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Model / route capability check; tools retain their own authorization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Chat completion alone does not prove tool support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Credentials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Server-side API key header and explicit gateway scope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Never compile LLM or gateway keys into browser settings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5897880"/>
            <a:ext cx="10972800" cy="338328"/>
          </a:xfrm>
          <a:prstGeom prst="rect">
            <a:avLst/>
          </a:prstGeom>
          <a:noFill/>
          <a:ln/>
        </p:spPr>
        <p:txBody>
          <a:bodyPr wrap="square" lIns="0" tIns="0" rIns="0" bIns="0" rtlCol="0" anchor="ctr"/>
          <a:lstStyle/>
          <a:p>
            <a:pPr indent="0" marL="0">
              <a:buNone/>
            </a:pPr>
            <a:r>
              <a:rPr lang="en-US" sz="1250" dirty="0">
                <a:solidFill>
                  <a:srgbClr val="53687C"/>
                </a:solidFill>
                <a:latin typeface="Arial" pitchFamily="34" charset="0"/>
                <a:ea typeface="Arial" pitchFamily="34" charset="-122"/>
                <a:cs typeface="Arial" pitchFamily="34" charset="-120"/>
              </a:rPr>
              <a:t>Examples in configuration are guidance; test the actual customer route, model and response contract.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Failure lifecycle — uncertain response, retained outcome</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Browser session expiry does not cancel an authorized background workflow.</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18</a:t>
            </a:r>
            <a:endParaRPr lang="en-US" sz="1000" dirty="0"/>
          </a:p>
        </p:txBody>
      </p:sp>
      <p:pic>
        <p:nvPicPr>
          <p:cNvPr id="8" name="Image 0" descr="Failure lifecycle — uncertain response, retained outcom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1900017"/>
            <a:ext cx="11137392" cy="2893374"/>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Recovery across side effects and response loss.</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Prevent duplicate writes after a client timeout.</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UI, workers, domain APIs and operators.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Timeout, interruption or downstream failure.</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Persisted run state and service-owned receipts.</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Inspect, reconcile and reuse stable identities.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DECISIONS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Security and governance boundaries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Session lifecycle, operation authority and workflow execution are separate controls.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11064240" cy="914400"/>
        </p:xfrm>
        <a:graphic>
          <a:graphicData uri="http://schemas.openxmlformats.org/drawingml/2006/table">
            <a:tbl>
              <a:tblPr/>
              <a:tblGrid>
                <a:gridCol w="2011680"/>
                <a:gridCol w="4572000"/>
                <a:gridCol w="4480560"/>
              </a:tblGrid>
              <a:tr h="530352">
                <a:tc>
                  <a:txBody>
                    <a:bodyPr/>
                    <a:lstStyle/>
                    <a:p>
                      <a:pPr indent="0" marL="0">
                        <a:buNone/>
                      </a:pPr>
                      <a:r>
                        <a:rPr lang="en-US" sz="1450" b="1" dirty="0">
                          <a:solidFill>
                            <a:srgbClr val="FFFFFF"/>
                          </a:solidFill>
                          <a:latin typeface="Arial" pitchFamily="34" charset="0"/>
                          <a:ea typeface="Arial" pitchFamily="34" charset="-122"/>
                          <a:cs typeface="Arial" pitchFamily="34" charset="-120"/>
                        </a:rPr>
                        <a:t>Boundary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Implemented control</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Operating rule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Browser access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Delegated session, selected scopes, active renewal and expiry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Reconnect after full expiry / revocation; raw admin key stays out of builds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Protected service operations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Credential profiles and authenticated actor resolution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Model recommendations never grant approval authority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Durable workflow execution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Persisted grant, credential fingerprints, lease and checkpoints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No caller secrets in retained workflow inputs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Network and data services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Configured gateway roots, exact origins and database identities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Customer validates TLS, firewall access and least privilege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Operational maintenance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Separate admin authorization, scoped cleanup and audit evidence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Cleanup actions retain their own permissions and confirmations</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DECISIONS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Installation entry points and database upgrade responsibilities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Python 3.12.x · Node.js 24+ · npm 10.2+ · Spark/JDK only for enabled compute paths.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11064240" cy="914400"/>
        </p:xfrm>
        <a:graphic>
          <a:graphicData uri="http://schemas.openxmlformats.org/drawingml/2006/table">
            <a:tbl>
              <a:tblPr/>
              <a:tblGrid>
                <a:gridCol w="3749040"/>
                <a:gridCol w="3657600"/>
                <a:gridCol w="3657600"/>
              </a:tblGrid>
              <a:tr h="530352">
                <a:tc>
                  <a:txBody>
                    <a:bodyPr/>
                    <a:lstStyle/>
                    <a:p>
                      <a:pPr indent="0" marL="0">
                        <a:buNone/>
                      </a:pPr>
                      <a:r>
                        <a:rPr lang="en-US" sz="1450" b="1" dirty="0">
                          <a:solidFill>
                            <a:srgbClr val="FFFFFF"/>
                          </a:solidFill>
                          <a:latin typeface="Arial" pitchFamily="34" charset="0"/>
                          <a:ea typeface="Arial" pitchFamily="34" charset="-122"/>
                          <a:cs typeface="Arial" pitchFamily="34" charset="-120"/>
                        </a:rPr>
                        <a:t>Command / script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Owned responsibility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450" b="1" dirty="0">
                          <a:solidFill>
                            <a:srgbClr val="FFFFFF"/>
                          </a:solidFill>
                          <a:latin typeface="Arial" pitchFamily="34" charset="0"/>
                          <a:ea typeface="Arial" pitchFamily="34" charset="-122"/>
                          <a:cs typeface="Arial" pitchFamily="34" charset="-120"/>
                        </a:rPr>
                        <a:t>Existing customer installation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Root install-depo.ps1</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Delegates to complete Windows installer</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Use one entry point; do not run both installers separately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infra/windows/install-depo-windows.ps1</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Dependencies, migrations, graph schema, startup and validation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Preserve environment files and durable data</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infra/windows/install-depo.ps1</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Runtime prerequisites and dependency installation helper</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Complete installer calls this helper automatically</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infra/postgres/</a:t>
                      </a:r>
                      <a:endParaRPr lang="en-US" sz="1450" dirty="0">
                        <a:latin typeface="Arial" charset="0"/>
                        <a:ea typeface="Arial" charset="0"/>
                        <a:cs typeface="Arial" charset="0"/>
                      </a:endParaRPr>
                    </a:p>
                    <a:p>
                      <a:pPr indent="0" marL="0">
                        <a:buNone/>
                      </a:pPr>
                      <a:r>
                        <a:rPr lang="en-US" sz="1450" dirty="0">
                          <a:solidFill>
                            <a:srgbClr val="172B42"/>
                          </a:solidFill>
                          <a:latin typeface="Arial" pitchFamily="34" charset="0"/>
                          <a:ea typeface="Arial" pitchFamily="34" charset="-122"/>
                          <a:cs typeface="Arial" pitchFamily="34" charset="-120"/>
                        </a:rPr>
                        <a:t>update-postgres-schema.ps1</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Pending PostgreSQL migrations and schema verification</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Schema-only operation; no application restart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530352">
                <a:tc>
                  <a:txBody>
                    <a:bodyPr/>
                    <a:lstStyle/>
                    <a:p>
                      <a:pPr indent="0" marL="0">
                        <a:buNone/>
                      </a:pPr>
                      <a:r>
                        <a:rPr lang="en-US" sz="1450" dirty="0">
                          <a:solidFill>
                            <a:srgbClr val="172B42"/>
                          </a:solidFill>
                          <a:latin typeface="Arial" pitchFamily="34" charset="0"/>
                          <a:ea typeface="Arial" pitchFamily="34" charset="-122"/>
                          <a:cs typeface="Arial" pitchFamily="34" charset="-120"/>
                        </a:rPr>
                        <a:t>infra/windows/update-depo-windows.ps1</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Validated update sequence using the selected environment</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450" dirty="0">
                          <a:solidFill>
                            <a:srgbClr val="172B42"/>
                          </a:solidFill>
                          <a:latin typeface="Arial" pitchFamily="34" charset="0"/>
                          <a:ea typeface="Arial" pitchFamily="34" charset="-122"/>
                          <a:cs typeface="Arial" pitchFamily="34" charset="-120"/>
                        </a:rPr>
                        <a:t>Use -InstallDependencies when release locks change</a:t>
                      </a:r>
                      <a:endParaRPr lang="en-US" sz="1450" dirty="0">
                        <a:latin typeface="Arial" charset="0"/>
                        <a:ea typeface="Arial" charset="0"/>
                        <a:cs typeface="Arial" charset="0"/>
                      </a:endParaRPr>
                    </a:p>
                  </a:txBody>
                  <a:tcPr marL="118872" marR="118872" marT="118872" marB="118872"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VIEWS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UML activity — customer update and restart sequence</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Service timeout limit: 300 seconds. Longer workflow and publication budgets have separate controls.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21</a:t>
            </a:r>
            <a:endParaRPr lang="en-US" sz="1000" dirty="0"/>
          </a:p>
        </p:txBody>
      </p:sp>
      <p:pic>
        <p:nvPicPr>
          <p:cNvPr id="8" name="Image 0" descr="UML activity — customer update and restart sequenc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2064" y="2025663"/>
            <a:ext cx="11137392" cy="2642082"/>
          </a:xfrm>
          <a:prstGeom prst="rect">
            <a:avLst/>
          </a:prstGeom>
        </p:spPr>
      </p:pic>
      <p:sp>
        <p:nvSpPr>
          <p:cNvPr id="9" name="Text 6"/>
          <p:cNvSpPr/>
          <p:nvPr/>
        </p:nvSpPr>
        <p:spPr>
          <a:xfrm>
            <a:off x="54864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WHAT</a:t>
            </a:r>
            <a:endParaRPr lang="en-US" sz="900" dirty="0"/>
          </a:p>
        </p:txBody>
      </p:sp>
      <p:sp>
        <p:nvSpPr>
          <p:cNvPr id="10" name="Text 7"/>
          <p:cNvSpPr/>
          <p:nvPr/>
        </p:nvSpPr>
        <p:spPr>
          <a:xfrm>
            <a:off x="115214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An in-place update using the selected environment.</a:t>
            </a:r>
            <a:endParaRPr lang="en-US" sz="1150" dirty="0"/>
          </a:p>
        </p:txBody>
      </p:sp>
      <p:sp>
        <p:nvSpPr>
          <p:cNvPr id="11" name="Text 8"/>
          <p:cNvSpPr/>
          <p:nvPr/>
        </p:nvSpPr>
        <p:spPr>
          <a:xfrm>
            <a:off x="429768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WHY</a:t>
            </a:r>
            <a:endParaRPr lang="en-US" sz="900" dirty="0"/>
          </a:p>
        </p:txBody>
      </p:sp>
      <p:sp>
        <p:nvSpPr>
          <p:cNvPr id="12" name="Text 9"/>
          <p:cNvSpPr/>
          <p:nvPr/>
        </p:nvSpPr>
        <p:spPr>
          <a:xfrm>
            <a:off x="490118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Fail early and preserve existing data and credentials.</a:t>
            </a:r>
            <a:endParaRPr lang="en-US" sz="1150" dirty="0"/>
          </a:p>
        </p:txBody>
      </p:sp>
      <p:sp>
        <p:nvSpPr>
          <p:cNvPr id="13" name="Text 10"/>
          <p:cNvSpPr/>
          <p:nvPr/>
        </p:nvSpPr>
        <p:spPr>
          <a:xfrm>
            <a:off x="8046720" y="532180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WHO</a:t>
            </a:r>
            <a:endParaRPr lang="en-US" sz="900" dirty="0"/>
          </a:p>
        </p:txBody>
      </p:sp>
      <p:sp>
        <p:nvSpPr>
          <p:cNvPr id="14" name="Text 11"/>
          <p:cNvSpPr/>
          <p:nvPr/>
        </p:nvSpPr>
        <p:spPr>
          <a:xfrm>
            <a:off x="8650224" y="532180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Deployment operator and service-owned scripts.</a:t>
            </a:r>
            <a:endParaRPr lang="en-US" sz="1150" dirty="0"/>
          </a:p>
        </p:txBody>
      </p:sp>
      <p:sp>
        <p:nvSpPr>
          <p:cNvPr id="15" name="Text 12"/>
          <p:cNvSpPr/>
          <p:nvPr/>
        </p:nvSpPr>
        <p:spPr>
          <a:xfrm>
            <a:off x="54864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WHEN</a:t>
            </a:r>
            <a:endParaRPr lang="en-US" sz="900" dirty="0"/>
          </a:p>
        </p:txBody>
      </p:sp>
      <p:sp>
        <p:nvSpPr>
          <p:cNvPr id="16" name="Text 13"/>
          <p:cNvSpPr/>
          <p:nvPr/>
        </p:nvSpPr>
        <p:spPr>
          <a:xfrm>
            <a:off x="115214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After placing the complete matching release.</a:t>
            </a:r>
            <a:endParaRPr lang="en-US" sz="1150" dirty="0"/>
          </a:p>
        </p:txBody>
      </p:sp>
      <p:sp>
        <p:nvSpPr>
          <p:cNvPr id="17" name="Text 14"/>
          <p:cNvSpPr/>
          <p:nvPr/>
        </p:nvSpPr>
        <p:spPr>
          <a:xfrm>
            <a:off x="429768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WHERE</a:t>
            </a:r>
            <a:endParaRPr lang="en-US" sz="900" dirty="0"/>
          </a:p>
        </p:txBody>
      </p:sp>
      <p:sp>
        <p:nvSpPr>
          <p:cNvPr id="18" name="Text 15"/>
          <p:cNvSpPr/>
          <p:nvPr/>
        </p:nvSpPr>
        <p:spPr>
          <a:xfrm>
            <a:off x="490118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Customer application VM; existing databases.</a:t>
            </a:r>
            <a:endParaRPr lang="en-US" sz="1150" dirty="0"/>
          </a:p>
        </p:txBody>
      </p:sp>
      <p:sp>
        <p:nvSpPr>
          <p:cNvPr id="19" name="Text 16"/>
          <p:cNvSpPr/>
          <p:nvPr/>
        </p:nvSpPr>
        <p:spPr>
          <a:xfrm>
            <a:off x="8046720" y="5824728"/>
            <a:ext cx="530352" cy="164592"/>
          </a:xfrm>
          <a:prstGeom prst="rect">
            <a:avLst/>
          </a:prstGeom>
          <a:noFill/>
          <a:ln/>
        </p:spPr>
        <p:txBody>
          <a:bodyPr wrap="square" lIns="0" tIns="0" rIns="0" bIns="0" rtlCol="0" anchor="ctr"/>
          <a:lstStyle/>
          <a:p>
            <a:pPr indent="0" marL="0">
              <a:buNone/>
            </a:pPr>
            <a:r>
              <a:rPr lang="en-US" sz="900" b="1" dirty="0">
                <a:solidFill>
                  <a:srgbClr val="007F78"/>
                </a:solidFill>
                <a:latin typeface="Arial" pitchFamily="34" charset="0"/>
                <a:ea typeface="Arial" pitchFamily="34" charset="-122"/>
                <a:cs typeface="Arial" pitchFamily="34" charset="-120"/>
              </a:rPr>
              <a:t>HOW</a:t>
            </a:r>
            <a:endParaRPr lang="en-US" sz="900" dirty="0"/>
          </a:p>
        </p:txBody>
      </p:sp>
      <p:sp>
        <p:nvSpPr>
          <p:cNvPr id="20" name="Text 17"/>
          <p:cNvSpPr/>
          <p:nvPr/>
        </p:nvSpPr>
        <p:spPr>
          <a:xfrm>
            <a:off x="8650224" y="5824728"/>
            <a:ext cx="3008376" cy="420624"/>
          </a:xfrm>
          <a:prstGeom prst="rect">
            <a:avLst/>
          </a:prstGeom>
          <a:noFill/>
          <a:ln/>
        </p:spPr>
        <p:txBody>
          <a:bodyPr wrap="square" lIns="0" tIns="0" rIns="0" bIns="0" rtlCol="0" anchor="ctr"/>
          <a:lstStyle/>
          <a:p>
            <a:pPr indent="0" marL="0">
              <a:buNone/>
            </a:pPr>
            <a:r>
              <a:rPr lang="en-US" sz="1150" dirty="0">
                <a:solidFill>
                  <a:srgbClr val="53687C"/>
                </a:solidFill>
                <a:latin typeface="Arial" pitchFamily="34" charset="0"/>
                <a:ea typeface="Arial" pitchFamily="34" charset="-122"/>
                <a:cs typeface="Arial" pitchFamily="34" charset="-120"/>
              </a:rPr>
              <a:t>Preflight, pending migrations, readiness and acceptance.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ARCHITECTURE DECISIONS</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Service contracts and primary frontend consumers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OpenAPI 3.0.3 and service discovery describe operation ownership and authorization.</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82496"/>
          <a:ext cx="11064240" cy="914400"/>
        </p:xfrm>
        <a:graphic>
          <a:graphicData uri="http://schemas.openxmlformats.org/drawingml/2006/table">
            <a:tbl>
              <a:tblPr/>
              <a:tblGrid>
                <a:gridCol w="2560320"/>
                <a:gridCol w="4572000"/>
                <a:gridCol w="3931920"/>
              </a:tblGrid>
              <a:tr h="438912">
                <a:tc>
                  <a:txBody>
                    <a:bodyPr/>
                    <a:lstStyle/>
                    <a:p>
                      <a:pPr indent="0" marL="0">
                        <a:buNone/>
                      </a:pPr>
                      <a:r>
                        <a:rPr lang="en-US" sz="1250" b="1" dirty="0">
                          <a:solidFill>
                            <a:srgbClr val="FFFFFF"/>
                          </a:solidFill>
                          <a:latin typeface="Arial" pitchFamily="34" charset="0"/>
                          <a:ea typeface="Arial" pitchFamily="34" charset="-122"/>
                          <a:cs typeface="Arial" pitchFamily="34" charset="-120"/>
                        </a:rPr>
                        <a:t>Service / internal port</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API responsibility</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Primary UI / caller</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10253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Schema sets :8010</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Engineering schema inspection and conversion</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Import / QIF</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Ontology :8011</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Registration, lifecycle, modeling and publication jobs</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Ontology Junction / Admin</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Agentic :8012</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Agent catalog, tools, workflows and Companion</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Semantic Bridge / Companion</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Graph :8013</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Publication receipts, scoped queries and traversal</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Graph Explorer / domain APIs</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Ingestion :8014</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Sources, supported parsers and retained evidence</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Import / engineering workflow</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OSLC :8015 · CEIM :8018</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Linked resources / canonical mapping and validation</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Configured integrations / semantic jobs</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Products :8017 · Catalog :8016</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Immutable packages / governed product discovery</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Data Products / Data Catalog</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r h="438912">
                <a:tc>
                  <a:txBody>
                    <a:bodyPr/>
                    <a:lstStyle/>
                    <a:p>
                      <a:pPr indent="0" marL="0">
                        <a:buNone/>
                      </a:pPr>
                      <a:r>
                        <a:rPr lang="en-US" sz="1250" dirty="0">
                          <a:solidFill>
                            <a:srgbClr val="172B42"/>
                          </a:solidFill>
                          <a:latin typeface="Arial" pitchFamily="34" charset="0"/>
                          <a:ea typeface="Arial" pitchFamily="34" charset="-122"/>
                          <a:cs typeface="Arial" pitchFamily="34" charset="-120"/>
                        </a:rPr>
                        <a:t>Pipeline :8019</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Job definitions, worker runs and analytics recovery</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c>
                  <a:txBody>
                    <a:bodyPr/>
                    <a:lstStyle/>
                    <a:p>
                      <a:pPr indent="0" marL="0">
                        <a:buNone/>
                      </a:pPr>
                      <a:r>
                        <a:rPr lang="en-US" sz="1250" dirty="0">
                          <a:solidFill>
                            <a:srgbClr val="172B42"/>
                          </a:solidFill>
                          <a:latin typeface="Arial" pitchFamily="34" charset="0"/>
                          <a:ea typeface="Arial" pitchFamily="34" charset="-122"/>
                          <a:cs typeface="Arial" pitchFamily="34" charset="-120"/>
                        </a:rPr>
                        <a:t>Data Flow / XML analytics loader</a:t>
                      </a:r>
                      <a:endParaRPr lang="en-US" sz="1250" dirty="0">
                        <a:latin typeface="Arial" charset="0"/>
                        <a:ea typeface="Arial" charset="0"/>
                        <a:cs typeface="Arial" charset="0"/>
                      </a:endParaRPr>
                    </a:p>
                  </a:txBody>
                  <a:tcPr marL="82296" marR="82296" marT="82296" marB="82296" anchor="ctr">
                    <a:lnL w="6350" cap="flat" cmpd="sng" algn="ctr">
                      <a:solidFill>
                        <a:srgbClr val="D6E0E9"/>
                      </a:solidFill>
                      <a:prstDash val="solid"/>
                      <a:round/>
                      <a:headEnd type="none" w="med" len="med"/>
                      <a:tailEnd type="none" w="med" len="med"/>
                    </a:lnL>
                    <a:lnR w="6350" cap="flat" cmpd="sng" algn="ctr">
                      <a:solidFill>
                        <a:srgbClr val="D6E0E9"/>
                      </a:solidFill>
                      <a:prstDash val="solid"/>
                      <a:round/>
                      <a:headEnd type="none" w="med" len="med"/>
                      <a:tailEnd type="none" w="med" len="med"/>
                    </a:lnR>
                    <a:lnT w="6350" cap="flat" cmpd="sng" algn="ctr">
                      <a:solidFill>
                        <a:srgbClr val="D6E0E9"/>
                      </a:solidFill>
                      <a:prstDash val="solid"/>
                      <a:round/>
                      <a:headEnd type="none" w="med" len="med"/>
                      <a:tailEnd type="none" w="med" len="med"/>
                    </a:lnT>
                    <a:lnB w="6350" cap="flat" cmpd="sng" algn="ctr">
                      <a:solidFill>
                        <a:srgbClr val="D6E0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OPERATING MODEL</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Operational readiness and customer acceptance</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Repository verification supports release preparation. Customer acceptance establishes deployment readiness.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23</a:t>
            </a:r>
            <a:endParaRPr lang="en-US" sz="1000" dirty="0"/>
          </a:p>
        </p:txBody>
      </p:sp>
      <p:sp>
        <p:nvSpPr>
          <p:cNvPr id="8" name="Text 6"/>
          <p:cNvSpPr/>
          <p:nvPr/>
        </p:nvSpPr>
        <p:spPr>
          <a:xfrm>
            <a:off x="594360" y="1847088"/>
            <a:ext cx="3383280" cy="475488"/>
          </a:xfrm>
          <a:prstGeom prst="rect">
            <a:avLst/>
          </a:prstGeom>
          <a:noFill/>
          <a:ln/>
        </p:spPr>
        <p:txBody>
          <a:bodyPr wrap="square" lIns="0" tIns="0" rIns="0" bIns="0" rtlCol="0" anchor="ctr"/>
          <a:lstStyle/>
          <a:p>
            <a:pPr indent="0" marL="0">
              <a:buNone/>
            </a:pPr>
            <a:r>
              <a:rPr lang="en-US" sz="2100" b="1" dirty="0">
                <a:solidFill>
                  <a:srgbClr val="10253F"/>
                </a:solidFill>
                <a:latin typeface="Arial" pitchFamily="34" charset="0"/>
                <a:ea typeface="Arial" pitchFamily="34" charset="-122"/>
                <a:cs typeface="Arial" pitchFamily="34" charset="-120"/>
              </a:rPr>
              <a:t>Implemented controls</a:t>
            </a:r>
            <a:endParaRPr lang="en-US" sz="2100" dirty="0"/>
          </a:p>
        </p:txBody>
      </p:sp>
      <p:sp>
        <p:nvSpPr>
          <p:cNvPr id="9" name="Text 7"/>
          <p:cNvSpPr/>
          <p:nvPr/>
        </p:nvSpPr>
        <p:spPr>
          <a:xfrm>
            <a:off x="594360" y="2606040"/>
            <a:ext cx="3401568" cy="3017520"/>
          </a:xfrm>
          <a:prstGeom prst="rect">
            <a:avLst/>
          </a:prstGeom>
          <a:noFill/>
          <a:ln/>
        </p:spPr>
        <p:txBody>
          <a:bodyPr wrap="square" lIns="0" tIns="0" rIns="0" bIns="0" rtlCol="0" anchor="ctr"/>
          <a:lstStyle/>
          <a:p>
            <a:pPr indent="0" marL="0">
              <a:buNone/>
            </a:pPr>
            <a:r>
              <a:rPr lang="en-US" sz="1700" dirty="0">
                <a:solidFill>
                  <a:srgbClr val="172B42"/>
                </a:solidFill>
                <a:latin typeface="Arial" pitchFamily="34" charset="0"/>
                <a:ea typeface="Arial" pitchFamily="34" charset="-122"/>
                <a:cs typeface="Arial" pitchFamily="34" charset="-120"/>
              </a:rPr>
              <a:t>Durable run identities and receipts</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Scoped access and request IDs</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Bounded writes and recovery paths</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Configuration and migration checks</a:t>
            </a:r>
            <a:endParaRPr lang="en-US" sz="1700" dirty="0"/>
          </a:p>
        </p:txBody>
      </p:sp>
      <p:sp>
        <p:nvSpPr>
          <p:cNvPr id="10" name="Text 8"/>
          <p:cNvSpPr/>
          <p:nvPr/>
        </p:nvSpPr>
        <p:spPr>
          <a:xfrm>
            <a:off x="4361688" y="1847088"/>
            <a:ext cx="3383280" cy="475488"/>
          </a:xfrm>
          <a:prstGeom prst="rect">
            <a:avLst/>
          </a:prstGeom>
          <a:noFill/>
          <a:ln/>
        </p:spPr>
        <p:txBody>
          <a:bodyPr wrap="square" lIns="0" tIns="0" rIns="0" bIns="0" rtlCol="0" anchor="ctr"/>
          <a:lstStyle/>
          <a:p>
            <a:pPr indent="0" marL="0">
              <a:buNone/>
            </a:pPr>
            <a:r>
              <a:rPr lang="en-US" sz="2100" b="1" dirty="0">
                <a:solidFill>
                  <a:srgbClr val="10253F"/>
                </a:solidFill>
                <a:latin typeface="Arial" pitchFamily="34" charset="0"/>
                <a:ea typeface="Arial" pitchFamily="34" charset="-122"/>
                <a:cs typeface="Arial" pitchFamily="34" charset="-120"/>
              </a:rPr>
              <a:t>Customer evidence</a:t>
            </a:r>
            <a:endParaRPr lang="en-US" sz="2100" dirty="0"/>
          </a:p>
        </p:txBody>
      </p:sp>
      <p:sp>
        <p:nvSpPr>
          <p:cNvPr id="11" name="Text 9"/>
          <p:cNvSpPr/>
          <p:nvPr/>
        </p:nvSpPr>
        <p:spPr>
          <a:xfrm>
            <a:off x="4361688" y="2606040"/>
            <a:ext cx="3401568" cy="3017520"/>
          </a:xfrm>
          <a:prstGeom prst="rect">
            <a:avLst/>
          </a:prstGeom>
          <a:noFill/>
          <a:ln/>
        </p:spPr>
        <p:txBody>
          <a:bodyPr wrap="square" lIns="0" tIns="0" rIns="0" bIns="0" rtlCol="0" anchor="ctr"/>
          <a:lstStyle/>
          <a:p>
            <a:pPr indent="0" marL="0">
              <a:buNone/>
            </a:pPr>
            <a:r>
              <a:rPr lang="en-US" sz="1700" dirty="0">
                <a:solidFill>
                  <a:srgbClr val="172B42"/>
                </a:solidFill>
                <a:latin typeface="Arial" pitchFamily="34" charset="0"/>
                <a:ea typeface="Arial" pitchFamily="34" charset="-122"/>
                <a:cs typeface="Arial" pitchFamily="34" charset="-120"/>
              </a:rPr>
              <a:t>Database ownership and history</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Gateway, TLS and browser access</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Large-ontology load and recovery</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Worker restart and backup restore</a:t>
            </a:r>
            <a:endParaRPr lang="en-US" sz="1700" dirty="0"/>
          </a:p>
        </p:txBody>
      </p:sp>
      <p:sp>
        <p:nvSpPr>
          <p:cNvPr id="12" name="Text 10"/>
          <p:cNvSpPr/>
          <p:nvPr/>
        </p:nvSpPr>
        <p:spPr>
          <a:xfrm>
            <a:off x="8129016" y="1847088"/>
            <a:ext cx="3383280" cy="475488"/>
          </a:xfrm>
          <a:prstGeom prst="rect">
            <a:avLst/>
          </a:prstGeom>
          <a:noFill/>
          <a:ln/>
        </p:spPr>
        <p:txBody>
          <a:bodyPr wrap="square" lIns="0" tIns="0" rIns="0" bIns="0" rtlCol="0" anchor="ctr"/>
          <a:lstStyle/>
          <a:p>
            <a:pPr indent="0" marL="0">
              <a:buNone/>
            </a:pPr>
            <a:r>
              <a:rPr lang="en-US" sz="2100" b="1" dirty="0">
                <a:solidFill>
                  <a:srgbClr val="007F78"/>
                </a:solidFill>
                <a:latin typeface="Arial" pitchFamily="34" charset="0"/>
                <a:ea typeface="Arial" pitchFamily="34" charset="-122"/>
                <a:cs typeface="Arial" pitchFamily="34" charset="-120"/>
              </a:rPr>
              <a:t>Explicit product choices</a:t>
            </a:r>
            <a:endParaRPr lang="en-US" sz="2100" dirty="0"/>
          </a:p>
        </p:txBody>
      </p:sp>
      <p:sp>
        <p:nvSpPr>
          <p:cNvPr id="13" name="Text 11"/>
          <p:cNvSpPr/>
          <p:nvPr/>
        </p:nvSpPr>
        <p:spPr>
          <a:xfrm>
            <a:off x="8129016" y="2606040"/>
            <a:ext cx="3401568" cy="3017520"/>
          </a:xfrm>
          <a:prstGeom prst="rect">
            <a:avLst/>
          </a:prstGeom>
          <a:noFill/>
          <a:ln/>
        </p:spPr>
        <p:txBody>
          <a:bodyPr wrap="square" lIns="0" tIns="0" rIns="0" bIns="0" rtlCol="0" anchor="ctr"/>
          <a:lstStyle/>
          <a:p>
            <a:pPr indent="0" marL="0">
              <a:buNone/>
            </a:pPr>
            <a:r>
              <a:rPr lang="en-US" sz="1700" dirty="0">
                <a:solidFill>
                  <a:srgbClr val="172B42"/>
                </a:solidFill>
                <a:latin typeface="Arial" pitchFamily="34" charset="0"/>
                <a:ea typeface="Arial" pitchFamily="34" charset="-122"/>
                <a:cs typeface="Arial" pitchFamily="34" charset="-120"/>
              </a:rPr>
              <a:t>Fact grain and dimension policy</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Named external source adapters</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Mapping / retrieval evaluation</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Model capability and deployment sizing</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10881360" cy="228600"/>
          </a:xfrm>
          <a:prstGeom prst="rect">
            <a:avLst/>
          </a:prstGeom>
          <a:noFill/>
          <a:ln/>
        </p:spPr>
        <p:txBody>
          <a:bodyPr wrap="square" lIns="0" tIns="0" rIns="0" bIns="0" rtlCol="0" anchor="ctr"/>
          <a:lstStyle/>
          <a:p>
            <a:pPr indent="0" marL="0">
              <a:buNone/>
            </a:pPr>
            <a:r>
              <a:rPr lang="en-US" sz="1000" b="1" spc="160" kern="0" dirty="0">
                <a:solidFill>
                  <a:srgbClr val="007F78"/>
                </a:solidFill>
                <a:latin typeface="Arial" pitchFamily="34" charset="0"/>
                <a:ea typeface="Arial" pitchFamily="34" charset="-122"/>
                <a:cs typeface="Arial" pitchFamily="34" charset="-120"/>
              </a:rPr>
              <a:t>OPERATING MODEL</a:t>
            </a:r>
            <a:endParaRPr lang="en-US" sz="1000" dirty="0"/>
          </a:p>
        </p:txBody>
      </p:sp>
      <p:sp>
        <p:nvSpPr>
          <p:cNvPr id="3" name="Text 1"/>
          <p:cNvSpPr/>
          <p:nvPr/>
        </p:nvSpPr>
        <p:spPr>
          <a:xfrm>
            <a:off x="548640" y="576072"/>
            <a:ext cx="11064240" cy="493776"/>
          </a:xfrm>
          <a:prstGeom prst="rect">
            <a:avLst/>
          </a:prstGeom>
          <a:noFill/>
          <a:ln/>
        </p:spPr>
        <p:txBody>
          <a:bodyPr wrap="square" lIns="0" tIns="0" rIns="0" bIns="0" rtlCol="0" anchor="ctr"/>
          <a:lstStyle/>
          <a:p>
            <a:pPr indent="0" marL="0">
              <a:buNone/>
            </a:pPr>
            <a:r>
              <a:rPr lang="en-US" sz="2700" b="1" dirty="0">
                <a:solidFill>
                  <a:srgbClr val="10253F"/>
                </a:solidFill>
                <a:latin typeface="Arial" pitchFamily="34" charset="0"/>
                <a:ea typeface="Arial" pitchFamily="34" charset="-122"/>
                <a:cs typeface="Arial" pitchFamily="34" charset="-120"/>
              </a:rPr>
              <a:t>Architecture decisions and extension points</a:t>
            </a:r>
            <a:endParaRPr lang="en-US" sz="2700" dirty="0"/>
          </a:p>
        </p:txBody>
      </p:sp>
      <p:sp>
        <p:nvSpPr>
          <p:cNvPr id="4" name="Text 2"/>
          <p:cNvSpPr/>
          <p:nvPr/>
        </p:nvSpPr>
        <p:spPr>
          <a:xfrm>
            <a:off x="548640" y="1115568"/>
            <a:ext cx="10972800" cy="393192"/>
          </a:xfrm>
          <a:prstGeom prst="rect">
            <a:avLst/>
          </a:prstGeom>
          <a:noFill/>
          <a:ln/>
        </p:spPr>
        <p:txBody>
          <a:bodyPr wrap="square" lIns="0" tIns="0" rIns="0" bIns="0" rtlCol="0" anchor="ctr"/>
          <a:lstStyle/>
          <a:p>
            <a:pPr indent="0" marL="0">
              <a:buNone/>
            </a:pPr>
            <a:r>
              <a:rPr lang="en-US" sz="1400" dirty="0">
                <a:solidFill>
                  <a:srgbClr val="53687C"/>
                </a:solidFill>
                <a:latin typeface="Arial" pitchFamily="34" charset="0"/>
                <a:ea typeface="Arial" pitchFamily="34" charset="-122"/>
                <a:cs typeface="Arial" pitchFamily="34" charset="-120"/>
              </a:rPr>
              <a:t>A framework replacement alone does not establish correctness, interoperability or customer readiness.</a:t>
            </a:r>
            <a:endParaRPr lang="en-US" sz="1400" dirty="0"/>
          </a:p>
        </p:txBody>
      </p:sp>
      <p:sp>
        <p:nvSpPr>
          <p:cNvPr id="5" name="Shape 3"/>
          <p:cNvSpPr/>
          <p:nvPr/>
        </p:nvSpPr>
        <p:spPr>
          <a:xfrm>
            <a:off x="548640" y="6428232"/>
            <a:ext cx="11064240" cy="0"/>
          </a:xfrm>
          <a:prstGeom prst="line">
            <a:avLst/>
          </a:prstGeom>
          <a:noFill/>
          <a:ln w="7620">
            <a:solidFill>
              <a:srgbClr val="D6E0E9"/>
            </a:solidFill>
            <a:prstDash val="solid"/>
          </a:ln>
        </p:spPr>
      </p:sp>
      <p:sp>
        <p:nvSpPr>
          <p:cNvPr id="6" name="Text 4"/>
          <p:cNvSpPr/>
          <p:nvPr/>
        </p:nvSpPr>
        <p:spPr>
          <a:xfrm>
            <a:off x="548640" y="6510528"/>
            <a:ext cx="9144000" cy="164592"/>
          </a:xfrm>
          <a:prstGeom prst="rect">
            <a:avLst/>
          </a:prstGeom>
          <a:noFill/>
          <a:ln/>
        </p:spPr>
        <p:txBody>
          <a:bodyPr wrap="square" lIns="0" tIns="0" rIns="0" bIns="0" rtlCol="0" anchor="ctr"/>
          <a:lstStyle/>
          <a:p>
            <a:pPr indent="0" marL="0">
              <a:buNone/>
            </a:pPr>
            <a:r>
              <a:rPr lang="en-US" sz="900" dirty="0">
                <a:solidFill>
                  <a:srgbClr val="53687C"/>
                </a:solidFill>
                <a:latin typeface="Arial" pitchFamily="34" charset="0"/>
                <a:ea typeface="Arial" pitchFamily="34" charset="-122"/>
                <a:cs typeface="Arial" pitchFamily="34" charset="-120"/>
              </a:rPr>
              <a:t>DEPO  /  Industrial data architecture  /  16 October 2026</a:t>
            </a:r>
            <a:endParaRPr lang="en-US" sz="900" dirty="0"/>
          </a:p>
        </p:txBody>
      </p:sp>
      <p:sp>
        <p:nvSpPr>
          <p:cNvPr id="7" name="Text 5"/>
          <p:cNvSpPr/>
          <p:nvPr/>
        </p:nvSpPr>
        <p:spPr>
          <a:xfrm>
            <a:off x="11064240" y="6492240"/>
            <a:ext cx="502920" cy="201168"/>
          </a:xfrm>
          <a:prstGeom prst="rect">
            <a:avLst/>
          </a:prstGeom>
          <a:noFill/>
          <a:ln/>
        </p:spPr>
        <p:txBody>
          <a:bodyPr wrap="square" lIns="0" tIns="0" rIns="0" bIns="0" rtlCol="0" anchor="ctr"/>
          <a:lstStyle/>
          <a:p>
            <a:pPr algn="r" indent="0" marL="0">
              <a:buNone/>
            </a:pPr>
            <a:r>
              <a:rPr lang="en-US" sz="1000" dirty="0">
                <a:solidFill>
                  <a:srgbClr val="53687C"/>
                </a:solidFill>
                <a:latin typeface="Arial" pitchFamily="34" charset="0"/>
                <a:ea typeface="Arial" pitchFamily="34" charset="-122"/>
                <a:cs typeface="Arial" pitchFamily="34" charset="-120"/>
              </a:rPr>
              <a:t>24</a:t>
            </a:r>
            <a:endParaRPr lang="en-US" sz="1000" dirty="0"/>
          </a:p>
        </p:txBody>
      </p:sp>
      <p:sp>
        <p:nvSpPr>
          <p:cNvPr id="8" name="Text 6"/>
          <p:cNvSpPr/>
          <p:nvPr/>
        </p:nvSpPr>
        <p:spPr>
          <a:xfrm>
            <a:off x="594360" y="1847088"/>
            <a:ext cx="3383280" cy="475488"/>
          </a:xfrm>
          <a:prstGeom prst="rect">
            <a:avLst/>
          </a:prstGeom>
          <a:noFill/>
          <a:ln/>
        </p:spPr>
        <p:txBody>
          <a:bodyPr wrap="square" lIns="0" tIns="0" rIns="0" bIns="0" rtlCol="0" anchor="ctr"/>
          <a:lstStyle/>
          <a:p>
            <a:pPr indent="0" marL="0">
              <a:buNone/>
            </a:pPr>
            <a:r>
              <a:rPr lang="en-US" sz="2100" b="1" dirty="0">
                <a:solidFill>
                  <a:srgbClr val="10253F"/>
                </a:solidFill>
                <a:latin typeface="Arial" pitchFamily="34" charset="0"/>
                <a:ea typeface="Arial" pitchFamily="34" charset="-122"/>
                <a:cs typeface="Arial" pitchFamily="34" charset="-120"/>
              </a:rPr>
              <a:t>Stable service boundaries</a:t>
            </a:r>
            <a:endParaRPr lang="en-US" sz="2100" dirty="0"/>
          </a:p>
        </p:txBody>
      </p:sp>
      <p:sp>
        <p:nvSpPr>
          <p:cNvPr id="9" name="Text 7"/>
          <p:cNvSpPr/>
          <p:nvPr/>
        </p:nvSpPr>
        <p:spPr>
          <a:xfrm>
            <a:off x="594360" y="2606040"/>
            <a:ext cx="3401568" cy="3017520"/>
          </a:xfrm>
          <a:prstGeom prst="rect">
            <a:avLst/>
          </a:prstGeom>
          <a:noFill/>
          <a:ln/>
        </p:spPr>
        <p:txBody>
          <a:bodyPr wrap="square" lIns="0" tIns="0" rIns="0" bIns="0" rtlCol="0" anchor="ctr"/>
          <a:lstStyle/>
          <a:p>
            <a:pPr indent="0" marL="0">
              <a:buNone/>
            </a:pPr>
            <a:r>
              <a:rPr lang="en-US" sz="1700" dirty="0">
                <a:solidFill>
                  <a:srgbClr val="172B42"/>
                </a:solidFill>
                <a:latin typeface="Arial" pitchFamily="34" charset="0"/>
                <a:ea typeface="Arial" pitchFamily="34" charset="-122"/>
                <a:cs typeface="Arial" pitchFamily="34" charset="-120"/>
              </a:rPr>
              <a:t>Keep domain APIs as the source of operation contracts.</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Expose governed tools through the existing catalog and MCP adapter.</a:t>
            </a:r>
            <a:endParaRPr lang="en-US" sz="1700" dirty="0"/>
          </a:p>
        </p:txBody>
      </p:sp>
      <p:sp>
        <p:nvSpPr>
          <p:cNvPr id="10" name="Text 8"/>
          <p:cNvSpPr/>
          <p:nvPr/>
        </p:nvSpPr>
        <p:spPr>
          <a:xfrm>
            <a:off x="4361688" y="1847088"/>
            <a:ext cx="3383280" cy="475488"/>
          </a:xfrm>
          <a:prstGeom prst="rect">
            <a:avLst/>
          </a:prstGeom>
          <a:noFill/>
          <a:ln/>
        </p:spPr>
        <p:txBody>
          <a:bodyPr wrap="square" lIns="0" tIns="0" rIns="0" bIns="0" rtlCol="0" anchor="ctr"/>
          <a:lstStyle/>
          <a:p>
            <a:pPr indent="0" marL="0">
              <a:buNone/>
            </a:pPr>
            <a:r>
              <a:rPr lang="en-US" sz="2100" b="1" dirty="0">
                <a:solidFill>
                  <a:srgbClr val="10253F"/>
                </a:solidFill>
                <a:latin typeface="Arial" pitchFamily="34" charset="0"/>
                <a:ea typeface="Arial" pitchFamily="34" charset="-122"/>
                <a:cs typeface="Arial" pitchFamily="34" charset="-120"/>
              </a:rPr>
              <a:t>Evidence before scale</a:t>
            </a:r>
            <a:endParaRPr lang="en-US" sz="2100" dirty="0"/>
          </a:p>
        </p:txBody>
      </p:sp>
      <p:sp>
        <p:nvSpPr>
          <p:cNvPr id="11" name="Text 9"/>
          <p:cNvSpPr/>
          <p:nvPr/>
        </p:nvSpPr>
        <p:spPr>
          <a:xfrm>
            <a:off x="4361688" y="2606040"/>
            <a:ext cx="3401568" cy="3017520"/>
          </a:xfrm>
          <a:prstGeom prst="rect">
            <a:avLst/>
          </a:prstGeom>
          <a:noFill/>
          <a:ln/>
        </p:spPr>
        <p:txBody>
          <a:bodyPr wrap="square" lIns="0" tIns="0" rIns="0" bIns="0" rtlCol="0" anchor="ctr"/>
          <a:lstStyle/>
          <a:p>
            <a:pPr indent="0" marL="0">
              <a:buNone/>
            </a:pPr>
            <a:r>
              <a:rPr lang="en-US" sz="1700" dirty="0">
                <a:solidFill>
                  <a:srgbClr val="172B42"/>
                </a:solidFill>
                <a:latin typeface="Arial" pitchFamily="34" charset="0"/>
                <a:ea typeface="Arial" pitchFamily="34" charset="-122"/>
                <a:cs typeface="Arial" pitchFamily="34" charset="-120"/>
              </a:rPr>
              <a:t>Measure import, mapping and retrieval outcomes on agreed engineering data.</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Preserve lineage and recovery identities when adding connectors.</a:t>
            </a:r>
            <a:endParaRPr lang="en-US" sz="1700" dirty="0"/>
          </a:p>
        </p:txBody>
      </p:sp>
      <p:sp>
        <p:nvSpPr>
          <p:cNvPr id="12" name="Text 10"/>
          <p:cNvSpPr/>
          <p:nvPr/>
        </p:nvSpPr>
        <p:spPr>
          <a:xfrm>
            <a:off x="8129016" y="1847088"/>
            <a:ext cx="3383280" cy="475488"/>
          </a:xfrm>
          <a:prstGeom prst="rect">
            <a:avLst/>
          </a:prstGeom>
          <a:noFill/>
          <a:ln/>
        </p:spPr>
        <p:txBody>
          <a:bodyPr wrap="square" lIns="0" tIns="0" rIns="0" bIns="0" rtlCol="0" anchor="ctr"/>
          <a:lstStyle/>
          <a:p>
            <a:pPr indent="0" marL="0">
              <a:buNone/>
            </a:pPr>
            <a:r>
              <a:rPr lang="en-US" sz="2100" b="1" dirty="0">
                <a:solidFill>
                  <a:srgbClr val="007F78"/>
                </a:solidFill>
                <a:latin typeface="Arial" pitchFamily="34" charset="0"/>
                <a:ea typeface="Arial" pitchFamily="34" charset="-122"/>
                <a:cs typeface="Arial" pitchFamily="34" charset="-120"/>
              </a:rPr>
              <a:t>Independent outcomes</a:t>
            </a:r>
            <a:endParaRPr lang="en-US" sz="2100" dirty="0"/>
          </a:p>
        </p:txBody>
      </p:sp>
      <p:sp>
        <p:nvSpPr>
          <p:cNvPr id="13" name="Text 11"/>
          <p:cNvSpPr/>
          <p:nvPr/>
        </p:nvSpPr>
        <p:spPr>
          <a:xfrm>
            <a:off x="8129016" y="2606040"/>
            <a:ext cx="3401568" cy="3017520"/>
          </a:xfrm>
          <a:prstGeom prst="rect">
            <a:avLst/>
          </a:prstGeom>
          <a:noFill/>
          <a:ln/>
        </p:spPr>
        <p:txBody>
          <a:bodyPr wrap="square" lIns="0" tIns="0" rIns="0" bIns="0" rtlCol="0" anchor="ctr"/>
          <a:lstStyle/>
          <a:p>
            <a:pPr indent="0" marL="0">
              <a:buNone/>
            </a:pPr>
            <a:r>
              <a:rPr lang="en-US" sz="1700" dirty="0">
                <a:solidFill>
                  <a:srgbClr val="172B42"/>
                </a:solidFill>
                <a:latin typeface="Arial" pitchFamily="34" charset="0"/>
                <a:ea typeface="Arial" pitchFamily="34" charset="-122"/>
                <a:cs typeface="Arial" pitchFamily="34" charset="-120"/>
              </a:rPr>
              <a:t>Track ontology registration, RDF publication, ODS commit, product packaging and catalog delivery separately.</a:t>
            </a:r>
            <a:endParaRPr lang="en-US" sz="1700" dirty="0"/>
          </a:p>
          <a:p>
            <a:pPr indent="0" marL="0">
              <a:buNone/>
            </a:pPr>
            <a:endParaRPr lang="en-US" sz="1700" dirty="0"/>
          </a:p>
          <a:p>
            <a:pPr indent="0" marL="0">
              <a:buNone/>
            </a:pPr>
            <a:r>
              <a:rPr lang="en-US" sz="1700" dirty="0">
                <a:solidFill>
                  <a:srgbClr val="172B42"/>
                </a:solidFill>
                <a:latin typeface="Arial" pitchFamily="34" charset="0"/>
                <a:ea typeface="Arial" pitchFamily="34" charset="-122"/>
                <a:cs typeface="Arial" pitchFamily="34" charset="-120"/>
              </a:rPr>
              <a:t>Use explicit business contracts for new analytics.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DEPO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DEPO Industrial Data Platform — Enterprise Architecture</dc:title>
  <dc:subject>Industrial ontology, agent orchestration, data products and customer deployment</dc:subject>
  <dc:creator>DEPO Architecture</dc:creator>
  <cp:lastModifiedBy>DEPO Architecture</cp:lastModifiedBy>
  <cp:revision>1</cp:revision>
  <dcterms:created xsi:type="dcterms:W3CDTF">2026-10-16T03:49:41Z</dcterms:created>
  <dcterms:modified xsi:type="dcterms:W3CDTF">2026-10-16T03:49:41Z</dcterms:modified>
</cp:coreProperties>
</file>