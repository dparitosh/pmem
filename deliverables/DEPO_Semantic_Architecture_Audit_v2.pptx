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0e1f65cbf484d89" /><Relationship Type="http://schemas.openxmlformats.org/officeDocument/2006/relationships/extended-properties" Target="/docProps/app.xml" Id="R6a7972077b2e47aa" /><Relationship Type="http://schemas.openxmlformats.org/officeDocument/2006/relationships/officeDocument" Target="/ppt/presentation.xml" Id="Re802a7c1091a4e0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7379ddb69774612"/>
  </p:sldMasterIdLst>
  <p:notesMasterIdLst>
    <p:notesMasterId xmlns:r="http://schemas.openxmlformats.org/officeDocument/2006/relationships" r:id="R59b45c8e39054bec"/>
  </p:notesMasterIdLst>
  <p:sldIdLst>
    <p:sldId xmlns:r="http://schemas.openxmlformats.org/officeDocument/2006/relationships" id="256" r:id="R3dd1eaef4d7c4a9f"/>
    <p:sldId xmlns:r="http://schemas.openxmlformats.org/officeDocument/2006/relationships" id="257" r:id="Rd4ce60763dc44056"/>
    <p:sldId xmlns:r="http://schemas.openxmlformats.org/officeDocument/2006/relationships" id="258" r:id="Rede990c7e43240d8"/>
    <p:sldId xmlns:r="http://schemas.openxmlformats.org/officeDocument/2006/relationships" id="259" r:id="R4814fa3720e94a6d"/>
    <p:sldId xmlns:r="http://schemas.openxmlformats.org/officeDocument/2006/relationships" id="260" r:id="R929b7ec01e5a4db5"/>
    <p:sldId xmlns:r="http://schemas.openxmlformats.org/officeDocument/2006/relationships" id="261" r:id="R81ab8934ae9043a4"/>
    <p:sldId xmlns:r="http://schemas.openxmlformats.org/officeDocument/2006/relationships" id="262" r:id="R3218b5323aaf40ee"/>
    <p:sldId xmlns:r="http://schemas.openxmlformats.org/officeDocument/2006/relationships" id="263" r:id="R2638396bba9d40f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adfecc76a90413a" /><Relationship Type="http://schemas.openxmlformats.org/officeDocument/2006/relationships/slideMaster" Target="/ppt/slideMasters/slideMaster1.xml" Id="Rb7379ddb69774612" /><Relationship Type="http://schemas.openxmlformats.org/officeDocument/2006/relationships/notesMaster" Target="/ppt/notesMasters/notesMaster1.xml" Id="R59b45c8e39054bec" /><Relationship Type="http://schemas.openxmlformats.org/officeDocument/2006/relationships/presProps" Target="/ppt/presProps.xml" Id="Rc912c4d88eed4954" /><Relationship Type="http://schemas.openxmlformats.org/officeDocument/2006/relationships/tableStyles" Target="/ppt/tableStyles.xml" Id="R45ff9730cc8c49d5" /><Relationship Type="http://schemas.openxmlformats.org/officeDocument/2006/relationships/slide" Target="/ppt/slides/slide1.xml" Id="R3dd1eaef4d7c4a9f" /><Relationship Type="http://schemas.openxmlformats.org/officeDocument/2006/relationships/slide" Target="/ppt/slides/slide2.xml" Id="Rd4ce60763dc44056" /><Relationship Type="http://schemas.openxmlformats.org/officeDocument/2006/relationships/slide" Target="/ppt/slides/slide3.xml" Id="Rede990c7e43240d8" /><Relationship Type="http://schemas.openxmlformats.org/officeDocument/2006/relationships/slide" Target="/ppt/slides/slide4.xml" Id="R4814fa3720e94a6d" /><Relationship Type="http://schemas.openxmlformats.org/officeDocument/2006/relationships/slide" Target="/ppt/slides/slide5.xml" Id="R929b7ec01e5a4db5" /><Relationship Type="http://schemas.openxmlformats.org/officeDocument/2006/relationships/slide" Target="/ppt/slides/slide6.xml" Id="R81ab8934ae9043a4" /><Relationship Type="http://schemas.openxmlformats.org/officeDocument/2006/relationships/slide" Target="/ppt/slides/slide7.xml" Id="R3218b5323aaf40ee" /><Relationship Type="http://schemas.openxmlformats.org/officeDocument/2006/relationships/slide" Target="/ppt/slides/slide8.xml" Id="R2638396bba9d40f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dedeb3eb74342b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b2732c843db46c3" /><Relationship Type="http://schemas.openxmlformats.org/officeDocument/2006/relationships/notesMaster" Target="/ppt/notesMasters/notesMaster1.xml" Id="Re212f2a3a4864d7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13d3311ac784d4a" /><Relationship Type="http://schemas.openxmlformats.org/officeDocument/2006/relationships/notesMaster" Target="/ppt/notesMasters/notesMaster1.xml" Id="R3d6048c883d443b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90fcc2283db43e7" /><Relationship Type="http://schemas.openxmlformats.org/officeDocument/2006/relationships/notesMaster" Target="/ppt/notesMasters/notesMaster1.xml" Id="Rf5c13654398e4fa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c106450bfd148e6" /><Relationship Type="http://schemas.openxmlformats.org/officeDocument/2006/relationships/notesMaster" Target="/ppt/notesMasters/notesMaster1.xml" Id="R0536ad23bab641a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52e2df574ef4871" /><Relationship Type="http://schemas.openxmlformats.org/officeDocument/2006/relationships/notesMaster" Target="/ppt/notesMasters/notesMaster1.xml" Id="R6f46e902c1ad408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7a9b85db50d4e01" /><Relationship Type="http://schemas.openxmlformats.org/officeDocument/2006/relationships/notesMaster" Target="/ppt/notesMasters/notesMaster1.xml" Id="R1451bc3b7c4742d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27c556c10394ab3" /><Relationship Type="http://schemas.openxmlformats.org/officeDocument/2006/relationships/notesMaster" Target="/ppt/notesMasters/notesMaster1.xml" Id="R780b4a0606b1457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3b00aa2f61b4b25" /><Relationship Type="http://schemas.openxmlformats.org/officeDocument/2006/relationships/notesMaster" Target="/ppt/notesMasters/notesMaster1.xml" Id="R9bfae514bb27436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DEPO repository audit, data pipeline job definitions, run records, graph/data-product services, and docs/ACCELERATED_DELIVERY_TRACKER.md. Status reflects the local codebase as of 2026-09-04.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DEPO repository audit, data pipeline job definitions, run records, graph/data-product services, and docs/ACCELERATED_DELIVERY_TRACKER.md. Status reflects the local codebase as of 2026-09-04.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DEPO repository audit, data pipeline job definitions, run records, graph/data-product services, and docs/ACCELERATED_DELIVERY_TRACKER.md. Status reflects the local codebase as of 2026-09-04.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DEPO repository audit, data pipeline job definitions, run records, graph/data-product services, and docs/ACCELERATED_DELIVERY_TRACKER.md. Status reflects the local codebase as of 2026-09-04.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DEPO repository audit, data pipeline job definitions, run records, graph/data-product services, and docs/ACCELERATED_DELIVERY_TRACKER.md. Status reflects the local codebase as of 2026-09-04.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DEPO repository audit, data pipeline job definitions, run records, graph/data-product services, and docs/ACCELERATED_DELIVERY_TRACKER.md. Status reflects the local codebase as of 2026-09-04.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DEPO repository audit, data pipeline job definitions, run records, graph/data-product services, and docs/ACCELERATED_DELIVERY_TRACKER.md. Status reflects the local codebase as of 2026-09-04.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DEPO repository audit, data pipeline job definitions, run records, graph/data-product services, and docs/ACCELERATED_DELIVERY_TRACKER.md. Status reflects the local codebase as of 2026-09-04.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625b841b23423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1e090dafddc472c" /><Relationship Type="http://schemas.openxmlformats.org/officeDocument/2006/relationships/slideLayout" Target="/ppt/slideLayouts/slideLayout1.xml" Id="R814f4a5c05f94ee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14f4a5c05f94ee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732518473a46b2" /><Relationship Type="http://schemas.openxmlformats.org/officeDocument/2006/relationships/notesSlide" Target="/ppt/notesSlides/notesSlide1.xml" Id="R97d48bcf8b2d406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92dbd21b9242da" /><Relationship Type="http://schemas.openxmlformats.org/officeDocument/2006/relationships/notesSlide" Target="/ppt/notesSlides/notesSlide2.xml" Id="R3de465c94e06419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80e75362374725" /><Relationship Type="http://schemas.openxmlformats.org/officeDocument/2006/relationships/notesSlide" Target="/ppt/notesSlides/notesSlide3.xml" Id="R3f63bb0ea82f426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57e56a2e9b4ba2" /><Relationship Type="http://schemas.openxmlformats.org/officeDocument/2006/relationships/notesSlide" Target="/ppt/notesSlides/notesSlide4.xml" Id="R7056cbb96ebe4e3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179cbfb4d14a56" /><Relationship Type="http://schemas.openxmlformats.org/officeDocument/2006/relationships/notesSlide" Target="/ppt/notesSlides/notesSlide5.xml" Id="Rf7ce5a9fef6f4b0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b590d8f5ef47c3" /><Relationship Type="http://schemas.openxmlformats.org/officeDocument/2006/relationships/notesSlide" Target="/ppt/notesSlides/notesSlide6.xml" Id="Rc185a2d590d6400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45e59dead44d16" /><Relationship Type="http://schemas.openxmlformats.org/officeDocument/2006/relationships/notesSlide" Target="/ppt/notesSlides/notesSlide7.xml" Id="R1ad56e122dc7417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374ec2123b4631" /><Relationship Type="http://schemas.openxmlformats.org/officeDocument/2006/relationships/notesSlide" Target="/ppt/notesSlides/notesSlide8.xml" Id="R69bf3309f71746e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DAFB5B-C197-4D2D-BE82-BFB31D8FD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1D55"/>
          </a:solidFill>
          <a:ln xmlns:a="http://schemas.openxmlformats.org/drawingml/2006/main" w="9525">
            <a:solidFill>
              <a:srgbClr val="A51D55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8ADD36-0BA4-4BEF-A582-41CE364E8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28750"/>
            <a:ext cx="7524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Semantic Integration</a:t>
            </a:r>
          </a:p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and Data Pipeline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A067DE-4772-4FAA-89A8-01714437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695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C9DFE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C9DFE7"/>
                </a:solidFill>
                <a:latin typeface="Arial"/>
                <a:ea typeface="Arial"/>
                <a:cs typeface="Arial"/>
              </a:rPr>
              <a:t>Architecture, pipelines, data jobs and data products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B855D0-E1E0-4A8D-B935-1EDA4BC51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71875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5CAD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5CAD5"/>
                </a:solidFill>
                <a:latin typeface="Arial"/>
                <a:ea typeface="Arial"/>
                <a:cs typeface="Arial"/>
              </a:rPr>
              <a:t>Code-backed audit  |  September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C30D1D-144F-469C-8392-0E34A8A57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047750"/>
            <a:ext cx="2571750" cy="41910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103957"/>
          </a:solidFill>
          <a:ln xmlns:a="http://schemas.openxmlformats.org/drawingml/2006/main" w="9525">
            <a:solidFill>
              <a:srgbClr val="2E6E8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E9838C-55F0-493D-B410-D7CC436DA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619250"/>
            <a:ext cx="18859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Governed</a:t>
            </a:r>
          </a:p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semantic</a:t>
            </a:r>
          </a:p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publication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3A04D1-28E2-4021-A3A1-902B76423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162300"/>
            <a:ext cx="1905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C9DFE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9DFE7"/>
                </a:solidFill>
                <a:latin typeface="Arial"/>
                <a:ea typeface="Arial"/>
                <a:cs typeface="Arial"/>
              </a:rPr>
              <a:t>Immutable evidence</a:t>
            </a:r>
          </a:p>
          <a:p xmlns:a="http://schemas.openxmlformats.org/drawingml/2006/main">
            <a:pPr>
              <a:defRPr sz="1275" b="0">
                <a:solidFill>
                  <a:srgbClr val="C9DFE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9DFE7"/>
                </a:solidFill>
                <a:latin typeface="Arial"/>
                <a:ea typeface="Arial"/>
                <a:cs typeface="Arial"/>
              </a:rPr>
              <a:t>Quality gates</a:t>
            </a:r>
          </a:p>
          <a:p xmlns:a="http://schemas.openxmlformats.org/drawingml/2006/main">
            <a:pPr>
              <a:defRPr sz="1275" b="0">
                <a:solidFill>
                  <a:srgbClr val="C9DFE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9DFE7"/>
                </a:solidFill>
                <a:latin typeface="Arial"/>
                <a:ea typeface="Arial"/>
                <a:cs typeface="Arial"/>
              </a:rPr>
              <a:t>Canonical approval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49F604-6619-4B64-AE55-101FCE01F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96000"/>
            <a:ext cx="600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9C3D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9C3D0"/>
                </a:solidFill>
                <a:latin typeface="Arial"/>
                <a:ea typeface="Arial"/>
                <a:cs typeface="Arial"/>
              </a:rPr>
              <a:t>Source: current DEPO codebase and delivery tracker</a:t>
            </a:r>
          </a:p>
        </p:txBody>
      </p:sp>
    </p:spTree>
    <p:extLst>
      <p:ext uri="{BB962C8B-B14F-4D97-AF65-F5344CB8AC3E}">
        <p14:creationId xmlns:p14="http://schemas.microsoft.com/office/powerpoint/2010/main" val="14903673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908BED-EA3C-4CE9-AEAD-098B813B1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96ACD7-8A27-4252-8B57-1505A0627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8097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DEPO  /  Digital Thread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EA388D-6389-4C4C-A98E-63FE8A8D9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763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556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D2B3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D2B36"/>
                </a:solidFill>
                <a:latin typeface="Arial"/>
                <a:ea typeface="Arial"/>
                <a:cs typeface="Arial"/>
              </a:rPr>
              <a:t>Audit conclusion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AABE45-F754-4B5A-804D-18A5435B7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33350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Current implementation against the target operating 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C00B67-81C9-4F8F-B58D-EE8F96B7B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52625"/>
            <a:ext cx="3333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DDF1E8"/>
          </a:solidFill>
          <a:ln xmlns:a="http://schemas.openxmlformats.org/drawingml/2006/main" w="9525">
            <a:solidFill>
              <a:srgbClr val="B7C5C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077C4C-02E6-4245-A463-D05C40102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52625"/>
            <a:ext cx="57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7895"/>
          </a:solidFill>
          <a:ln xmlns:a="http://schemas.openxmlformats.org/drawingml/2006/main" w="9525">
            <a:solidFill>
              <a:srgbClr val="0A789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FDFF6F-C877-493D-A648-1157948C9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066925"/>
            <a:ext cx="3067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D2B3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D2B36"/>
                </a:solidFill>
                <a:latin typeface="Arial"/>
                <a:ea typeface="Arial"/>
                <a:cs typeface="Arial"/>
              </a:rPr>
              <a:t>Strong foundation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E609F9-2B44-4AF6-AC5D-AFF6FD5FC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362200"/>
            <a:ext cx="30670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Control plane, immutable artifacts, CEIM normalization, SHACL, provenance, governed publication, Spark job control, speed-path reconciliation, GraphQL and bounded SPARQL.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772643-6939-476B-A5E9-BC1E9F080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52625"/>
            <a:ext cx="3333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1D6"/>
          </a:solidFill>
          <a:ln xmlns:a="http://schemas.openxmlformats.org/drawingml/2006/main" w="9525">
            <a:solidFill>
              <a:srgbClr val="B7C5C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10CFFE-DBB3-478A-9CC2-B0BF0309C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52625"/>
            <a:ext cx="57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1D55"/>
          </a:solidFill>
          <a:ln xmlns:a="http://schemas.openxmlformats.org/drawingml/2006/main" w="9525">
            <a:solidFill>
              <a:srgbClr val="A51D5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7D4E25-6C3D-4017-B704-FA3AE1B88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066925"/>
            <a:ext cx="3067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D2B3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D2B36"/>
                </a:solidFill>
                <a:latin typeface="Arial"/>
                <a:ea typeface="Arial"/>
                <a:cs typeface="Arial"/>
              </a:rPr>
              <a:t>Partial capability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8F37EC-AE56-4560-9FCD-738BE1E6E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362200"/>
            <a:ext cx="30670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Unstructured evidence validation and structural document enrichment now produce traceable document graph proposals. Current analytics cover RDF profiling and deduplication.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E9D48E-B997-41BA-A257-831A20AC7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52625"/>
            <a:ext cx="3333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7E6ED"/>
          </a:solidFill>
          <a:ln xmlns:a="http://schemas.openxmlformats.org/drawingml/2006/main" w="9525">
            <a:solidFill>
              <a:srgbClr val="B7C5C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0820DC-D2E5-4D98-8EC2-C273B865A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52625"/>
            <a:ext cx="57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1D55"/>
          </a:solidFill>
          <a:ln xmlns:a="http://schemas.openxmlformats.org/drawingml/2006/main" w="9525">
            <a:solidFill>
              <a:srgbClr val="A51D55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9F6F4E-D327-4748-80FE-BE64BF270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066925"/>
            <a:ext cx="3067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D2B3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D2B36"/>
                </a:solidFill>
                <a:latin typeface="Arial"/>
                <a:ea typeface="Arial"/>
                <a:cs typeface="Arial"/>
              </a:rPr>
              <a:t>Product decisions required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820799-D113-4B40-9998-A34C08796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362200"/>
            <a:ext cx="30670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Distributed rule materialization, graph analytics, embeddings, model-based NER/OCR, semantic ML, and digital-twin closed loop need an approved data-product contract and operating policy.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8C3D77-115D-4162-95BD-10C5011C8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905375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18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D2B3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D2B36"/>
                </a:solidFill>
                <a:latin typeface="Arial"/>
                <a:ea typeface="Arial"/>
                <a:cs typeface="Arial"/>
              </a:rPr>
              <a:t>Release focus: production identity, TLS, least-privilege database roles, backups and monitoring remain customer-environment activities.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78D5AC-4854-4DC4-A656-C1CFF8A4E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Architecture audit  |  2</a:t>
            </a:r>
          </a:p>
        </p:txBody>
      </p:sp>
    </p:spTree>
    <p:extLst>
      <p:ext uri="{BB962C8B-B14F-4D97-AF65-F5344CB8AC3E}">
        <p14:creationId xmlns:p14="http://schemas.microsoft.com/office/powerpoint/2010/main" val="15787549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3591AD6-2124-4066-8A0C-DF85D97F1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E265F1-28EF-4C0D-B4EB-22FBEE3EF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8097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DEPO  /  Digital Thread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F66662-9F8E-4D3A-A6C7-16A64D0FE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763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556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D2B3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D2B36"/>
                </a:solidFill>
                <a:latin typeface="Arial"/>
                <a:ea typeface="Arial"/>
                <a:cs typeface="Arial"/>
              </a:rPr>
              <a:t>Target architecture and implemented boundaries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4B7C36-9D7D-46F6-B9B0-0770BBE8C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33350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Layered presentation mirrors the supplied reference while showing the actual write boundary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1A598F-F16B-48DE-95BD-DA64A12E8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09750"/>
            <a:ext cx="2095500" cy="3619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5D8"/>
          </a:solidFill>
          <a:ln xmlns:a="http://schemas.openxmlformats.org/drawingml/2006/main" w="9525">
            <a:solidFill>
              <a:srgbClr val="E3C35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674257-25C5-45ED-BA84-E0168A4BA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28825"/>
            <a:ext cx="1666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D2B3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D2B36"/>
                </a:solidFill>
                <a:latin typeface="Arial"/>
                <a:ea typeface="Arial"/>
                <a:cs typeface="Arial"/>
              </a:rPr>
              <a:t>Engineering sources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C530C0-A20C-462D-AC88-99ED9EA2E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142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CAD / PLM</a:t>
            </a:r>
          </a:p>
          <a:p xmlns:a="http://schemas.openxmlformats.org/drawingml/2006/main">
            <a:pPr>
              <a:defRPr sz="135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ALM / QMS</a:t>
            </a:r>
          </a:p>
          <a:p xmlns:a="http://schemas.openxmlformats.org/drawingml/2006/main">
            <a:pPr>
              <a:defRPr sz="135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Documents</a:t>
            </a:r>
          </a:p>
          <a:p xmlns:a="http://schemas.openxmlformats.org/drawingml/2006/main">
            <a:pPr>
              <a:defRPr sz="135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Standards</a:t>
            </a:r>
          </a:p>
          <a:p xmlns:a="http://schemas.openxmlformats.org/drawingml/2006/main">
            <a:pPr>
              <a:defRPr sz="135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Events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76CF05-879D-4182-90FC-6954F3572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809750"/>
            <a:ext cx="561975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DFF4F5"/>
          </a:solidFill>
          <a:ln xmlns:a="http://schemas.openxmlformats.org/drawingml/2006/main" w="9525">
            <a:solidFill>
              <a:srgbClr val="8BCED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F99E05-B94B-4375-B278-C2BF5CD86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9621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07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D2B3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D2B36"/>
                </a:solidFill>
                <a:latin typeface="Arial"/>
                <a:ea typeface="Arial"/>
                <a:cs typeface="Arial"/>
              </a:rPr>
              <a:t>Semantic data platform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214292-7D94-4C3B-8FE6-2E9600861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476500"/>
            <a:ext cx="2381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5C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9063A7-EE4D-4C8A-9E22-89F064B25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476500"/>
            <a:ext cx="57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7895"/>
          </a:solidFill>
          <a:ln xmlns:a="http://schemas.openxmlformats.org/drawingml/2006/main" w="9525">
            <a:solidFill>
              <a:srgbClr val="0A789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B17A79-6BFE-4A13-A6B4-20C92643E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590800"/>
            <a:ext cx="2114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D2B3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D2B36"/>
                </a:solidFill>
                <a:latin typeface="Arial"/>
                <a:ea typeface="Arial"/>
                <a:cs typeface="Arial"/>
              </a:rPr>
              <a:t>Ingestion service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327F8D-0073-4D43-8CBC-B641E4AA3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886075"/>
            <a:ext cx="2114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Artifacts and source manifests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F11AAF-CE84-4666-8289-8AA5A3712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476500"/>
            <a:ext cx="2381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5C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B6040C-F11A-45E7-84C0-D6816CF92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476500"/>
            <a:ext cx="57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7895"/>
          </a:solidFill>
          <a:ln xmlns:a="http://schemas.openxmlformats.org/drawingml/2006/main" w="9525">
            <a:solidFill>
              <a:srgbClr val="0A7895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BB9725-7C9B-497C-A110-6E04C3573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590800"/>
            <a:ext cx="2114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D2B3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D2B36"/>
                </a:solidFill>
                <a:latin typeface="Arial"/>
                <a:ea typeface="Arial"/>
                <a:cs typeface="Arial"/>
              </a:rPr>
              <a:t>Pipeline service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13F580-2F8E-4FAD-A996-414E3A291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86075"/>
            <a:ext cx="2114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Spark jobs and quality 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7B76F3-1DD3-4FF4-B861-C0B182B00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857625"/>
            <a:ext cx="2381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5C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8C6DB8-8CC3-41EC-B5AB-D5AF2BBC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857625"/>
            <a:ext cx="571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1D55"/>
          </a:solidFill>
          <a:ln xmlns:a="http://schemas.openxmlformats.org/drawingml/2006/main" w="9525">
            <a:solidFill>
              <a:srgbClr val="A51D55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F0EE0C-6F83-485A-B6CA-099A88FC0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971925"/>
            <a:ext cx="2114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D2B3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D2B36"/>
                </a:solidFill>
                <a:latin typeface="Arial"/>
                <a:ea typeface="Arial"/>
                <a:cs typeface="Arial"/>
              </a:rPr>
              <a:t>Canonical transformation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6AA4F9-C94A-4468-BA4A-21FC46284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4267200"/>
            <a:ext cx="21145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CEIM mapping, SHACL, PROV-O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685E9E-BDA2-4D96-8F4D-D6506FDD4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857625"/>
            <a:ext cx="2381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5CE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CAD767-9820-4262-8ABA-B3FB6744E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857625"/>
            <a:ext cx="571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1D55"/>
          </a:solidFill>
          <a:ln xmlns:a="http://schemas.openxmlformats.org/drawingml/2006/main" w="9525">
            <a:solidFill>
              <a:srgbClr val="A51D55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979296-69CD-47CF-B604-37F7FDC50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971925"/>
            <a:ext cx="2114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D2B3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D2B36"/>
                </a:solidFill>
                <a:latin typeface="Arial"/>
                <a:ea typeface="Arial"/>
                <a:cs typeface="Arial"/>
              </a:rPr>
              <a:t>Data catalog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36DF6E-2946-476E-B160-FEB055FC3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267200"/>
            <a:ext cx="21145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Versioned product manifest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F5C038-C805-492B-85B4-6C0C662C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809750"/>
            <a:ext cx="2571750" cy="36195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E5F7ED"/>
          </a:solidFill>
          <a:ln xmlns:a="http://schemas.openxmlformats.org/drawingml/2006/main" w="9525">
            <a:solidFill>
              <a:srgbClr val="8AC6A0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8AAB21-CDEA-4397-B8C5-EFBCB3008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02882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D2B3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D2B36"/>
                </a:solidFill>
                <a:latin typeface="Arial"/>
                <a:ea typeface="Arial"/>
                <a:cs typeface="Arial"/>
              </a:rPr>
              <a:t>Semantic serving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AB03A5-3A76-43F8-BD1F-324D2963C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686050"/>
            <a:ext cx="19526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Graph publication</a:t>
            </a:r>
          </a:p>
          <a:p xmlns:a="http://schemas.openxmlformats.org/drawingml/2006/main">
            <a:pPr>
              <a:defRPr sz="1275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Neo4j graph</a:t>
            </a:r>
          </a:p>
          <a:p xmlns:a="http://schemas.openxmlformats.org/drawingml/2006/main">
            <a:pPr>
              <a:defRPr sz="1275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GraphQL / SPARQL</a:t>
            </a:r>
          </a:p>
          <a:p xmlns:a="http://schemas.openxmlformats.org/drawingml/2006/main">
            <a:pPr>
              <a:defRPr sz="1275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Agents read evidence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87C660-77E5-4200-882B-EF2485104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61950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51D55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AC893E1-F92A-488A-9291-092726BD1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952750"/>
            <a:ext cx="33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51D55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4D75CE4-8940-4BD2-83DE-A1DA16A16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29000"/>
            <a:ext cx="0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51D55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51C317-11B2-4C25-9F67-784F121E1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429000"/>
            <a:ext cx="0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51D55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3AEEBB8-ED06-4898-A053-61DF844BD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29125"/>
            <a:ext cx="714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51D55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4948A95-79A7-4ED6-9BEA-0C13F76D3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9530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304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51D5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51D55"/>
                </a:solidFill>
                <a:latin typeface="Arial"/>
                <a:ea typeface="Arial"/>
                <a:cs typeface="Arial"/>
              </a:rPr>
              <a:t>Only approved canonical publication writes the graph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74E2B23-BEEA-4A1F-913D-E3DD742F5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Architecture audit  |  3</a:t>
            </a:r>
          </a:p>
        </p:txBody>
      </p:sp>
    </p:spTree>
    <p:extLst>
      <p:ext uri="{BB962C8B-B14F-4D97-AF65-F5344CB8AC3E}">
        <p14:creationId xmlns:p14="http://schemas.microsoft.com/office/powerpoint/2010/main" val="9288820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259369F-8163-4929-AC0D-B4952995A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E5B35B-4C8C-4F05-89D9-8FD7E2201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8097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DEPO  /  Digital Thread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90998B-6A89-419B-8C49-6E6528197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763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556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D2B3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D2B36"/>
                </a:solidFill>
                <a:latin typeface="Arial"/>
                <a:ea typeface="Arial"/>
                <a:cs typeface="Arial"/>
              </a:rPr>
              <a:t>Data pipeline lifecycle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11C2D9-E30D-42EF-8193-F940C7913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33350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Batch, speed and document evidence flows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405B43-D234-4707-922F-094C7DF32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81250"/>
            <a:ext cx="1476375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8F4F6"/>
          </a:solidFill>
          <a:ln xmlns:a="http://schemas.openxmlformats.org/drawingml/2006/main" w="9525">
            <a:solidFill>
              <a:srgbClr val="B7C5C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6CC9D4-0068-4F6D-90A2-070C476EB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8125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7895"/>
          </a:solidFill>
          <a:ln xmlns:a="http://schemas.openxmlformats.org/drawingml/2006/main" w="9525">
            <a:solidFill>
              <a:srgbClr val="0A789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980E0E-46EE-4091-B648-73FECC2C5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495550"/>
            <a:ext cx="1209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D2B3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D2B36"/>
                </a:solidFill>
                <a:latin typeface="Arial"/>
                <a:ea typeface="Arial"/>
                <a:cs typeface="Arial"/>
              </a:rPr>
              <a:t>Capture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55F82E-1903-4697-B21D-37FCA2958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790825"/>
            <a:ext cx="12096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Artifact + manifest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1590F1-5DC6-4B67-8026-E000EFC03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9908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51D55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350BC5-DA9B-4167-8372-4230721FB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81250"/>
            <a:ext cx="1476375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8F4F6"/>
          </a:solidFill>
          <a:ln xmlns:a="http://schemas.openxmlformats.org/drawingml/2006/main" w="9525">
            <a:solidFill>
              <a:srgbClr val="B7C5C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51F5AA-64EE-43C8-B2B6-36042CDAF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8125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7895"/>
          </a:solidFill>
          <a:ln xmlns:a="http://schemas.openxmlformats.org/drawingml/2006/main" w="9525">
            <a:solidFill>
              <a:srgbClr val="0A789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C588CE-7A81-4AF8-AA6F-40171F90F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495550"/>
            <a:ext cx="1209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D2B3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D2B36"/>
                </a:solidFill>
                <a:latin typeface="Arial"/>
                <a:ea typeface="Arial"/>
                <a:cs typeface="Arial"/>
              </a:rPr>
              <a:t>Parse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841ABC-8063-4786-BA6A-B1997D110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790825"/>
            <a:ext cx="12096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Structured records or chunks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EBCC42-0946-4BF8-9000-8BD1ACC80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9908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51D55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84CD69-659D-43EF-AC05-F89AECA7D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81250"/>
            <a:ext cx="1476375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5C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5E1253-3C43-42F9-B903-013E4BBB5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8125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7895"/>
          </a:solidFill>
          <a:ln xmlns:a="http://schemas.openxmlformats.org/drawingml/2006/main" w="9525">
            <a:solidFill>
              <a:srgbClr val="0A789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B9D6F7-7750-4A30-9D6E-7564B9902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495550"/>
            <a:ext cx="1209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D2B3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D2B36"/>
                </a:solidFill>
                <a:latin typeface="Arial"/>
                <a:ea typeface="Arial"/>
                <a:cs typeface="Arial"/>
              </a:rPr>
              <a:t>Normalize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E20FDD-2D46-4ED6-8BBF-6D8B083DA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790825"/>
            <a:ext cx="12096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CEIM and mapping evidence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37D0E7-F5A8-4FCD-83F6-C09DFE3CF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51D55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9BA232-40AC-4D66-B01A-E417F95A5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0"/>
            <a:ext cx="1476375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5CE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86888F-2098-4031-A468-ECE9286AD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7895"/>
          </a:solidFill>
          <a:ln xmlns:a="http://schemas.openxmlformats.org/drawingml/2006/main" w="9525">
            <a:solidFill>
              <a:srgbClr val="0A7895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0254C7-141A-45E4-A348-EB8F88B82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95550"/>
            <a:ext cx="1209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D2B3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D2B36"/>
                </a:solidFill>
                <a:latin typeface="Arial"/>
                <a:ea typeface="Arial"/>
                <a:cs typeface="Arial"/>
              </a:rPr>
              <a:t>Validate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0F84F0-C646-47F4-8DFE-DAF2EB246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90825"/>
            <a:ext cx="12096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SHACL and policy evidence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D20FC7-002C-46C6-A801-0ED957DF2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9908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51D55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1C0C6A-6C73-4F8E-AFDF-B0C7D40C9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81250"/>
            <a:ext cx="1476375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5CE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B282E9-95CB-4128-B307-C3107461C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8125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7895"/>
          </a:solidFill>
          <a:ln xmlns:a="http://schemas.openxmlformats.org/drawingml/2006/main" w="9525">
            <a:solidFill>
              <a:srgbClr val="0A7895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25077E-320F-4149-9BBF-F45F584DD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495550"/>
            <a:ext cx="1209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D2B3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D2B36"/>
                </a:solidFill>
                <a:latin typeface="Arial"/>
                <a:ea typeface="Arial"/>
                <a:cs typeface="Arial"/>
              </a:rPr>
              <a:t>Reconcile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58DAE7-837E-43FD-BA94-6811B8436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790825"/>
            <a:ext cx="12096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Quality status + checkpoint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ADD1E7-E51A-4CC2-B9AA-8A3C0691B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908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51D55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8D82E1-FEC1-4813-9BAE-778FE95DD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81250"/>
            <a:ext cx="1476375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5F7ED"/>
          </a:solidFill>
          <a:ln xmlns:a="http://schemas.openxmlformats.org/drawingml/2006/main" w="9525">
            <a:solidFill>
              <a:srgbClr val="B7C5CE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3E513D9-A158-4375-AA7C-FCCB0226B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8125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1D55"/>
          </a:solidFill>
          <a:ln xmlns:a="http://schemas.openxmlformats.org/drawingml/2006/main" w="9525">
            <a:solidFill>
              <a:srgbClr val="A51D55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4B176CF-598A-454D-8F26-9979EEC76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495550"/>
            <a:ext cx="1209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D2B3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D2B36"/>
                </a:solidFill>
                <a:latin typeface="Arial"/>
                <a:ea typeface="Arial"/>
                <a:cs typeface="Arial"/>
              </a:rPr>
              <a:t>Publish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AD04587-C443-4EBF-8B90-7F75AAD73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790825"/>
            <a:ext cx="12096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Approved graph request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B8E218E-BEC9-490A-935F-8A493E1EC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19625"/>
            <a:ext cx="10191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BEAF0"/>
          </a:solidFill>
          <a:ln xmlns:a="http://schemas.openxmlformats.org/drawingml/2006/main" w="9525">
            <a:solidFill>
              <a:srgbClr val="D99AB4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90DD813-D7A3-4EEA-A6A9-38C6E4A0E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857750"/>
            <a:ext cx="942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391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D2B3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D2B36"/>
                </a:solidFill>
                <a:latin typeface="Arial"/>
                <a:ea typeface="Arial"/>
                <a:cs typeface="Arial"/>
              </a:rPr>
              <a:t>Speed path: approved source profile, idempotent event capture, lateness/retraction policy, provisional CEIM reconciliation, then the same approved publication boundary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07EB89F-B9FC-45B9-997C-F4E0911D3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7150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684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D2B3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D2B36"/>
                </a:solidFill>
                <a:latin typeface="Arial"/>
                <a:ea typeface="Arial"/>
                <a:cs typeface="Arial"/>
              </a:rPr>
              <a:t>Document path: retained file → extracted chunks → validate-unstructured-evidence → enrich-document-evidence → Document/DocumentChunk proposal → approved CEIM mapping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FA6CAA8-CCAC-4A80-A7FC-F37F5D768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Architecture audit  |  4</a:t>
            </a:r>
          </a:p>
        </p:txBody>
      </p:sp>
    </p:spTree>
    <p:extLst>
      <p:ext uri="{BB962C8B-B14F-4D97-AF65-F5344CB8AC3E}">
        <p14:creationId xmlns:p14="http://schemas.microsoft.com/office/powerpoint/2010/main" val="5888413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991D879-130D-4DE6-ACA2-A31B7A2CA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55D3A0-FA84-4070-9699-6D862D962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8097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DEPO  /  Digital Thread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68D234-5E4D-4E77-9EEC-E26B08BD7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763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556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D2B3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D2B36"/>
                </a:solidFill>
                <a:latin typeface="Arial"/>
                <a:ea typeface="Arial"/>
                <a:cs typeface="Arial"/>
              </a:rPr>
              <a:t>Governed data-job portfolio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3483FC-7B1F-4047-832E-89228245F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33350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Versioned contracts, approval, replay and durable telemetry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745778-5C2C-494B-A3BC-FB582B12A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266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6B189E-B9D2-46AC-9EC2-F8894FFE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778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Job type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9C6E11-F2BB-486E-AF1A-9B6EA5D97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0025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725BF6-B797-48CC-A367-719F974C9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0955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778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AE823B-8FF9-4C87-A393-4F24B94F7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0025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DE1EE2-CB9B-4263-865C-B57CA995B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955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778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7A10EB-B544-40E7-B585-4B48C0F3F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000250"/>
            <a:ext cx="3095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65D17B-588A-404A-B749-90A02510E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0955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778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Quality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B1A558-A748-42B7-89B1-6AFA730ED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10858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5"/>
          </a:solidFill>
          <a:ln xmlns:a="http://schemas.openxmlformats.org/drawingml/2006/main" w="9525">
            <a:solidFill>
              <a:srgbClr val="B7C5C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7C89DA-B96B-4362-B98F-0CA1E43DE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52700"/>
            <a:ext cx="2428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D2B3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D2B36"/>
                </a:solidFill>
                <a:latin typeface="Arial"/>
                <a:ea typeface="Arial"/>
                <a:cs typeface="Arial"/>
              </a:rPr>
              <a:t>normalize-ceim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6C70E9-F4EB-442D-896E-1E667602A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5527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Source batch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6D8897-DA8D-45E7-9DA7-BA1B92AEE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5527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Normalized CEIM batch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667E14-463F-4FA9-ACCA-39531AB3F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5527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Mapping and provenance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7BDE68-3A98-4DAC-8AF5-4B4FF1464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10858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5C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9193BA-D9B0-4CBA-8CF5-0A5F108C5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2428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D2B3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D2B36"/>
                </a:solidFill>
                <a:latin typeface="Arial"/>
                <a:ea typeface="Arial"/>
                <a:cs typeface="Arial"/>
              </a:rPr>
              <a:t>validate-semantic-batch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E8FF19-32B0-4A4A-82D4-70AF8B124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1051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Source batch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F86986-4451-4D02-A0C8-0845E5BC3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051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Validation report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EFA7E1-97BE-4B46-A1DB-B0DD7482D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105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SHACL quality gate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9C47B7-BD9F-4B3C-ADDD-85FD28EAE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05200"/>
            <a:ext cx="10858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5"/>
          </a:solidFill>
          <a:ln xmlns:a="http://schemas.openxmlformats.org/drawingml/2006/main" w="9525">
            <a:solidFill>
              <a:srgbClr val="B7C5CE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187737-9011-451E-B529-86CE98BC6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57600"/>
            <a:ext cx="2428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D2B3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D2B36"/>
                </a:solidFill>
                <a:latin typeface="Arial"/>
                <a:ea typeface="Arial"/>
                <a:cs typeface="Arial"/>
              </a:rPr>
              <a:t>validate-unstructured-evidence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8F12DB-3D90-40E4-AB30-A878064E3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6576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Document evidence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0197E1-D25B-4A19-B3CD-7325B7B8B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6576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Validated evidence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7F65ED-7CED-43D7-BBB0-9765EFFE4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6576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Artifact and chunk checks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10F173-4196-4F5B-90F2-08B01E213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57650"/>
            <a:ext cx="10858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5CE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1FE7C2-7039-4481-85EF-CE91F23AD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10050"/>
            <a:ext cx="2428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D2B3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D2B36"/>
                </a:solidFill>
                <a:latin typeface="Arial"/>
                <a:ea typeface="Arial"/>
                <a:cs typeface="Arial"/>
              </a:rPr>
              <a:t>enrich-document-evidence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4F58E5-328E-4B47-ABF2-F3DF81592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2100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Document evidence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EC7026-9CE1-4BC7-B36F-3E5812ACF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2100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Document graph proposal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D35A1EB-7487-47B3-AA0F-73A24CEC7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42100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Chunks, digests, provenance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425C789-B273-45B0-BA8D-B30D84A4B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0100"/>
            <a:ext cx="10858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5"/>
          </a:solidFill>
          <a:ln xmlns:a="http://schemas.openxmlformats.org/drawingml/2006/main" w="9525">
            <a:solidFill>
              <a:srgbClr val="B7C5CE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DE0D58C-DD5D-4092-B264-2CEFA1B72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2428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D2B3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D2B36"/>
                </a:solidFill>
                <a:latin typeface="Arial"/>
                <a:ea typeface="Arial"/>
                <a:cs typeface="Arial"/>
              </a:rPr>
              <a:t>rdf-quality-statistics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9860A89-94E4-4B01-B184-084869B91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7625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N-Triples artifact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B578B83-7EF0-4D46-B6F1-CB3AFB8E3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7625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RDF quality report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B6B70E3-9951-4A12-B8A7-BD7830888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47625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Lexical integrity and predicates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0B624E1-DD53-4DAB-AA02-12A3E29EE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62550"/>
            <a:ext cx="10858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5CE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90B1C48-C15E-4575-A094-582C1F607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14950"/>
            <a:ext cx="2428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D2B3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D2B36"/>
                </a:solidFill>
                <a:latin typeface="Arial"/>
                <a:ea typeface="Arial"/>
                <a:cs typeface="Arial"/>
              </a:rPr>
              <a:t>rdf-deduplicate-serialize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DDC8AC9-0620-45DC-9194-AE86CE630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3149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N-Triples artifact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0C16ADF-9C56-4427-A825-93F74B906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3149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Canonical N-Triples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F912C4D-07EC-47E7-8DCF-BC88D57B3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5314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Distributed deduplication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EB311A9-14B7-404B-A94B-CB6E7CFF5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57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3328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D2B3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D2B36"/>
                </a:solidFill>
                <a:latin typeface="Arial"/>
                <a:ea typeface="Arial"/>
                <a:cs typeface="Arial"/>
              </a:rPr>
              <a:t>Every configured job requires a versioned definition, steward approval, immutable input retention, deterministic replay, retained output partitions and durable run telemetry.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8DFC01B-24DC-4032-9906-2533ACA9D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Architecture audit  |  5</a:t>
            </a:r>
          </a:p>
        </p:txBody>
      </p:sp>
    </p:spTree>
    <p:extLst>
      <p:ext uri="{BB962C8B-B14F-4D97-AF65-F5344CB8AC3E}">
        <p14:creationId xmlns:p14="http://schemas.microsoft.com/office/powerpoint/2010/main" val="5820918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771B3F-2B6F-42AA-9D7E-AB8CBE685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F3151D-469F-4672-B0B2-5442C90D8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8097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DEPO  /  Digital Thread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FC50FC-F39B-4B26-BFDA-796357163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763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556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D2B3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D2B36"/>
                </a:solidFill>
                <a:latin typeface="Arial"/>
                <a:ea typeface="Arial"/>
                <a:cs typeface="Arial"/>
              </a:rPr>
              <a:t>Data-product lifecycle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88A1D9-C48B-44C4-A244-219FD6E55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33350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Cataloged, versioned and packaged data products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2DD984-CA0B-4637-8B13-55E280DAF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19050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5D8"/>
          </a:solidFill>
          <a:ln xmlns:a="http://schemas.openxmlformats.org/drawingml/2006/main" w="9525">
            <a:solidFill>
              <a:srgbClr val="B7C5C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ECE89D-55F9-4FDE-8F67-7EBFEDC7B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5715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928"/>
          </a:solidFill>
          <a:ln xmlns:a="http://schemas.openxmlformats.org/drawingml/2006/main" w="9525">
            <a:solidFill>
              <a:srgbClr val="C9992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F44048-6AF5-46A2-B84C-BA6CA2090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47925"/>
            <a:ext cx="1638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D2B3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D2B36"/>
                </a:solidFill>
                <a:latin typeface="Arial"/>
                <a:ea typeface="Arial"/>
                <a:cs typeface="Arial"/>
              </a:rPr>
              <a:t>Artifact manifest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8D0E51-33E4-406B-AB39-34AACD5EB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163830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Content digest</a:t>
            </a:r>
          </a:p>
          <a:p xmlns:a="http://schemas.openxmlformats.org/drawingml/2006/main">
            <a:pPr>
              <a:defRPr sz="105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Source, timestamp, provenance</a:t>
            </a:r>
          </a:p>
          <a:p xmlns:a="http://schemas.openxmlformats.org/drawingml/2006/main">
            <a:pPr>
              <a:defRPr sz="105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Retention policy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3A3128-28AD-4B52-BCC2-614485CFF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33625"/>
            <a:ext cx="20955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DFF4F5"/>
          </a:solidFill>
          <a:ln xmlns:a="http://schemas.openxmlformats.org/drawingml/2006/main" w="9525">
            <a:solidFill>
              <a:srgbClr val="B7C5C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C4B2D3-2FE7-402D-BCB3-DE4455F56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33625"/>
            <a:ext cx="5715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7895"/>
          </a:solidFill>
          <a:ln xmlns:a="http://schemas.openxmlformats.org/drawingml/2006/main" w="9525">
            <a:solidFill>
              <a:srgbClr val="0A789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340EC8-4E8F-4359-A89F-C06032268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447925"/>
            <a:ext cx="1828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D2B3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D2B36"/>
                </a:solidFill>
                <a:latin typeface="Arial"/>
                <a:ea typeface="Arial"/>
                <a:cs typeface="Arial"/>
              </a:rPr>
              <a:t>Validated semantic batch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6D596D-9FD2-49A3-9F37-D8B23AABA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743200"/>
            <a:ext cx="182880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CEIM version</a:t>
            </a:r>
          </a:p>
          <a:p xmlns:a="http://schemas.openxmlformats.org/drawingml/2006/main">
            <a:pPr>
              <a:defRPr sz="105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Mapping digest</a:t>
            </a:r>
          </a:p>
          <a:p xmlns:a="http://schemas.openxmlformats.org/drawingml/2006/main">
            <a:pPr>
              <a:defRPr sz="105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SHACL result</a:t>
            </a:r>
          </a:p>
          <a:p xmlns:a="http://schemas.openxmlformats.org/drawingml/2006/main">
            <a:pPr>
              <a:defRPr sz="105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Quality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CCECCF-7563-4708-9E22-BBDCD1772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33625"/>
            <a:ext cx="200025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DDF1E8"/>
          </a:solidFill>
          <a:ln xmlns:a="http://schemas.openxmlformats.org/drawingml/2006/main" w="9525">
            <a:solidFill>
              <a:srgbClr val="B7C5C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DADF4F-A806-4CD8-9ECA-A79F557C0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33625"/>
            <a:ext cx="5715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C65"/>
          </a:solidFill>
          <a:ln xmlns:a="http://schemas.openxmlformats.org/drawingml/2006/main" w="9525">
            <a:solidFill>
              <a:srgbClr val="2A8C65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A70623-489E-4111-8FF9-028FA81BE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47925"/>
            <a:ext cx="1733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D2B3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D2B36"/>
                </a:solidFill>
                <a:latin typeface="Arial"/>
                <a:ea typeface="Arial"/>
                <a:cs typeface="Arial"/>
              </a:rPr>
              <a:t>Data catalog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911B49-C57B-4D82-A49A-F9F31EE06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43200"/>
            <a:ext cx="17335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Owner and steward</a:t>
            </a:r>
          </a:p>
          <a:p xmlns:a="http://schemas.openxmlformats.org/drawingml/2006/main">
            <a:pPr>
              <a:defRPr sz="105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Classification and SLA</a:t>
            </a:r>
          </a:p>
          <a:p xmlns:a="http://schemas.openxmlformats.org/drawingml/2006/main">
            <a:pPr>
              <a:defRPr sz="105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Lifecycle state</a:t>
            </a:r>
          </a:p>
          <a:p xmlns:a="http://schemas.openxmlformats.org/drawingml/2006/main">
            <a:pPr>
              <a:defRPr sz="105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Catalog registration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4510B2-A30D-46E5-85E1-3E2D23095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33625"/>
            <a:ext cx="20955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7E6ED"/>
          </a:solidFill>
          <a:ln xmlns:a="http://schemas.openxmlformats.org/drawingml/2006/main" w="9525">
            <a:solidFill>
              <a:srgbClr val="B7C5C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2DB409-8DBB-4251-8CB2-24326B682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33625"/>
            <a:ext cx="5715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1D55"/>
          </a:solidFill>
          <a:ln xmlns:a="http://schemas.openxmlformats.org/drawingml/2006/main" w="9525">
            <a:solidFill>
              <a:srgbClr val="A51D55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2CDBFC-10DC-40C2-B5C3-99DB047B3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447925"/>
            <a:ext cx="1828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D2B3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D2B36"/>
                </a:solidFill>
                <a:latin typeface="Arial"/>
                <a:ea typeface="Arial"/>
                <a:cs typeface="Arial"/>
              </a:rPr>
              <a:t>Data-product package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2FC609-EEE7-4A97-8364-1B3554734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743200"/>
            <a:ext cx="182880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Versioned manifest</a:t>
            </a:r>
          </a:p>
          <a:p xmlns:a="http://schemas.openxmlformats.org/drawingml/2006/main">
            <a:pPr>
              <a:defRPr sz="105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Artifact references</a:t>
            </a:r>
          </a:p>
          <a:p xmlns:a="http://schemas.openxmlformats.org/drawingml/2006/main">
            <a:pPr>
              <a:defRPr sz="105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Semantic releases</a:t>
            </a:r>
          </a:p>
          <a:p xmlns:a="http://schemas.openxmlformats.org/drawingml/2006/main">
            <a:pPr>
              <a:defRPr sz="105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Downloadable package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66D9D0-AB91-491B-B8EF-9441C4A4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21945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51D55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F9C2E3-59F6-4103-A7C4-7ED68003C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21945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51D55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745FD2-3C89-4750-9367-59E5E2697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1945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51D55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7EE868-068B-47C8-ACA2-7C825C41A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577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308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D2B3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D2B36"/>
                </a:solidFill>
                <a:latin typeface="Arial"/>
                <a:ea typeface="Arial"/>
                <a:cs typeface="Arial"/>
              </a:rPr>
              <a:t>The graph service exposes product and run manifests read-only through GraphQL. It cannot submit jobs or mutate the graph.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C3D1C5-102F-4534-8C49-697C9E63B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Architecture audit  |  6</a:t>
            </a:r>
          </a:p>
        </p:txBody>
      </p:sp>
    </p:spTree>
    <p:extLst>
      <p:ext uri="{BB962C8B-B14F-4D97-AF65-F5344CB8AC3E}">
        <p14:creationId xmlns:p14="http://schemas.microsoft.com/office/powerpoint/2010/main" val="19628333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DEF6157-BF09-4D43-BE3D-C9E4F113A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F80D43-46E8-4AE7-AFB7-1403A235E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8097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DEPO  /  Digital Thread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08A56C-5290-4738-A00A-107E365B6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763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556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D2B3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D2B36"/>
                </a:solidFill>
                <a:latin typeface="Arial"/>
                <a:ea typeface="Arial"/>
                <a:cs typeface="Arial"/>
              </a:rPr>
              <a:t>Architecture audit findings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1A78FE-B141-41E7-B45F-BF95A707F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33350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Priority view based on the current tracker and code surface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A40C3B-33E4-4125-A777-D9048A3DF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52625"/>
            <a:ext cx="6667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C7D362-E940-447C-BFCE-8A2906FD7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145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5EF941-ED21-4322-B5DA-9C55191DA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876425"/>
            <a:ext cx="9525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1D6"/>
          </a:solidFill>
          <a:ln xmlns:a="http://schemas.openxmlformats.org/drawingml/2006/main" w="9525">
            <a:solidFill>
              <a:srgbClr val="B7C5C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894C69-CA52-4DC1-AA85-3FBD3AC4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876425"/>
            <a:ext cx="57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928"/>
          </a:solidFill>
          <a:ln xmlns:a="http://schemas.openxmlformats.org/drawingml/2006/main" w="9525">
            <a:solidFill>
              <a:srgbClr val="C9992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C8A811-9E60-4014-B9E9-86C728A44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990725"/>
            <a:ext cx="9258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D2B3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D2B36"/>
                </a:solidFill>
                <a:latin typeface="Arial"/>
                <a:ea typeface="Arial"/>
                <a:cs typeface="Arial"/>
              </a:rPr>
              <a:t>Customer production hardening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F3B9D9-6C0C-4E7E-BC70-66047298C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286000"/>
            <a:ext cx="9258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Target identity, TLS, least-privilege roles, backups and monitoring need deployment-specific evidence.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0A61ED-EEA9-4768-B075-D92A934B3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43200"/>
            <a:ext cx="6667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9D9C39-3147-4445-9FA6-E64A3C807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051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92A67A-E396-44CB-9D05-5549CB4F9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67000"/>
            <a:ext cx="9525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7E6ED"/>
          </a:solidFill>
          <a:ln xmlns:a="http://schemas.openxmlformats.org/drawingml/2006/main" w="9525">
            <a:solidFill>
              <a:srgbClr val="B7C5C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A13310-8AE3-482B-A442-D1A259F2F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67000"/>
            <a:ext cx="57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1D55"/>
          </a:solidFill>
          <a:ln xmlns:a="http://schemas.openxmlformats.org/drawingml/2006/main" w="9525">
            <a:solidFill>
              <a:srgbClr val="A51D55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2FE7D7-2329-4200-8606-75D6C019C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781300"/>
            <a:ext cx="9258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D2B3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D2B36"/>
                </a:solidFill>
                <a:latin typeface="Arial"/>
                <a:ea typeface="Arial"/>
                <a:cs typeface="Arial"/>
              </a:rPr>
              <a:t>Distributed semantic analytics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622700-2E75-4B29-8208-2D6301693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076575"/>
            <a:ext cx="9258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Spark RDF profiling, deduplication and document structural enrichment exist. Rule materialization, graph analytics and semantic ML need governed product contracts.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08B7E9-9783-4DE2-AFFA-2F22C7A82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33775"/>
            <a:ext cx="6667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024ED7-B98C-4C4C-8BCE-9920AFB5D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957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1D52C1-EB09-4597-B7A3-D824C348F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57575"/>
            <a:ext cx="9525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7E6ED"/>
          </a:solidFill>
          <a:ln xmlns:a="http://schemas.openxmlformats.org/drawingml/2006/main" w="9525">
            <a:solidFill>
              <a:srgbClr val="B7C5C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E03EEB-AF93-4A84-AA1C-DBBC75405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57575"/>
            <a:ext cx="57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1D55"/>
          </a:solidFill>
          <a:ln xmlns:a="http://schemas.openxmlformats.org/drawingml/2006/main" w="9525">
            <a:solidFill>
              <a:srgbClr val="A51D55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BA1A15-D690-407A-9CCE-24820BB3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571875"/>
            <a:ext cx="9258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D2B3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D2B36"/>
                </a:solidFill>
                <a:latin typeface="Arial"/>
                <a:ea typeface="Arial"/>
                <a:cs typeface="Arial"/>
              </a:rPr>
              <a:t>Document intelligence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CE8CBA-58BD-42CB-BD5B-12F4D8CE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867150"/>
            <a:ext cx="9258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Structural document graph proposals are available. OCR, model-based NER, embeddings and vector retrieval need quality, privacy, model and corpus policies.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0645F1-7359-442D-822C-4440F142C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24350"/>
            <a:ext cx="6667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A8C448-D0D6-4B47-AA69-C9EF74B07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8627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F86C70-2B3C-43BA-8747-06BEF89BB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48150"/>
            <a:ext cx="9525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5CE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A1C4E1-7DCF-4B9F-8B53-1CCDE027E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48150"/>
            <a:ext cx="57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1D55"/>
          </a:solidFill>
          <a:ln xmlns:a="http://schemas.openxmlformats.org/drawingml/2006/main" w="9525">
            <a:solidFill>
              <a:srgbClr val="A51D55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61C9D3-C9CD-40C9-9734-09F255B77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362450"/>
            <a:ext cx="9258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D2B3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D2B36"/>
                </a:solidFill>
                <a:latin typeface="Arial"/>
                <a:ea typeface="Arial"/>
                <a:cs typeface="Arial"/>
              </a:rPr>
              <a:t>Speed connector deployment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64CD21-69B7-4A8B-A03F-BC8981D3F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657725"/>
            <a:ext cx="9258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Generic source profiles exist. Select a named CDC/message-bus source and agree throughput and latency SLOs before implementation.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BC40F9-8B31-478E-8AFB-FBE183245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114925"/>
            <a:ext cx="6667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792190-49B7-4D8A-948D-2F9F25868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76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C68792-740C-4F74-BB06-CA5DCB98C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38725"/>
            <a:ext cx="9525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5CE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E13B036-7B30-4796-9A29-7F9595E11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38725"/>
            <a:ext cx="57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1D55"/>
          </a:solidFill>
          <a:ln xmlns:a="http://schemas.openxmlformats.org/drawingml/2006/main" w="9525">
            <a:solidFill>
              <a:srgbClr val="A51D55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51AA701-3A7A-4AE5-A4DB-4ABBB9B3E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153025"/>
            <a:ext cx="9258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D2B3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D2B36"/>
                </a:solidFill>
                <a:latin typeface="Arial"/>
                <a:ea typeface="Arial"/>
                <a:cs typeface="Arial"/>
              </a:rPr>
              <a:t>Digital twin closed loop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5167281-D7AF-4B39-A9FC-6E0A70AAE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448300"/>
            <a:ext cx="9258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Requires command authority, safety case and verified feedback workflow. The current platform deliberately stops at governed event handling.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BB9E79D-C378-41A0-B114-926CFE537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Architecture audit  |  7</a:t>
            </a:r>
          </a:p>
        </p:txBody>
      </p:sp>
    </p:spTree>
    <p:extLst>
      <p:ext uri="{BB962C8B-B14F-4D97-AF65-F5344CB8AC3E}">
        <p14:creationId xmlns:p14="http://schemas.microsoft.com/office/powerpoint/2010/main" val="166888893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BE6796-3A32-4835-9799-2F054C3EC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66170D-769C-421E-9ABD-6A5857F6A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8097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DEPO  /  Digital Thread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365EA8-1427-408D-8D39-0A71B5740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763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556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D2B3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D2B36"/>
                </a:solidFill>
                <a:latin typeface="Arial"/>
                <a:ea typeface="Arial"/>
                <a:cs typeface="Arial"/>
              </a:rPr>
              <a:t>Recommended governed increments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84923D-09CD-45FD-B157-DD297D406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33350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Sequence work by product decision and verification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4DA703-C453-41E4-A17C-659EBFE24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860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A51D5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A51D5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5AE712-83E9-43C1-870F-C905FCC81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047875"/>
            <a:ext cx="82867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5C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6FF89B-7845-4807-BB5B-A8701F8DE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047875"/>
            <a:ext cx="571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1D55"/>
          </a:solidFill>
          <a:ln xmlns:a="http://schemas.openxmlformats.org/drawingml/2006/main" w="9525">
            <a:solidFill>
              <a:srgbClr val="A51D5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948D68-4B24-4029-A0CA-1E816E3C2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162175"/>
            <a:ext cx="802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D2B3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D2B36"/>
                </a:solidFill>
                <a:latin typeface="Arial"/>
                <a:ea typeface="Arial"/>
                <a:cs typeface="Arial"/>
              </a:rPr>
              <a:t>Production preflight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780781-F384-4D82-9DD5-AF67D2C63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457450"/>
            <a:ext cx="802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275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Validate API gateway, authentication mode, TLS, PostgreSQL/Neo4j roles, backup restoration and monitoring in the customer environment.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17CEE7-CBE1-491E-8949-A11A65B7A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861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A51D5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A51D5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66AFDD-1695-4762-B322-497D8F524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048000"/>
            <a:ext cx="82867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5C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9B994A-E4F1-42E4-BC57-19A4F1C48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048000"/>
            <a:ext cx="571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1D55"/>
          </a:solidFill>
          <a:ln xmlns:a="http://schemas.openxmlformats.org/drawingml/2006/main" w="9525">
            <a:solidFill>
              <a:srgbClr val="A51D55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990593-0A84-45BF-9792-F4A14D56E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162300"/>
            <a:ext cx="802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D2B3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D2B36"/>
                </a:solidFill>
                <a:latin typeface="Arial"/>
                <a:ea typeface="Arial"/>
                <a:cs typeface="Arial"/>
              </a:rPr>
              <a:t>Select one analytics data product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1BDCBB-1BA4-4451-AD0D-510289856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457575"/>
            <a:ext cx="802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Name the ontology/rule profile, source artifacts, expected inferred output, quality thresholds, owner and publication approval conditions.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980DCA-7CA9-456F-A904-974B288A0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862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A51D5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A51D5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9647BE-D76A-471D-81FE-723DC294C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048125"/>
            <a:ext cx="82867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5CE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9BB7BF-09DD-4407-981E-78AAE5822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048125"/>
            <a:ext cx="571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1D55"/>
          </a:solidFill>
          <a:ln xmlns:a="http://schemas.openxmlformats.org/drawingml/2006/main" w="9525">
            <a:solidFill>
              <a:srgbClr val="A51D55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426CAB-F23E-41EA-B28E-450828E6C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162425"/>
            <a:ext cx="802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D2B3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D2B36"/>
                </a:solidFill>
                <a:latin typeface="Arial"/>
                <a:ea typeface="Arial"/>
                <a:cs typeface="Arial"/>
              </a:rPr>
              <a:t>Build the bounded job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C6C4D2-BC02-4E41-A65E-FFB59C06D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457700"/>
            <a:ext cx="802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25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Add rule materialization or document enrichment capability with immutable artifacts, quality report, versioned manifest, replay test and canonical publication request.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FCE412-E361-4CD8-A568-3D90E0D67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2863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A51D5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A51D5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C92153-8F7C-4353-82AC-9D45BFDE4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048250"/>
            <a:ext cx="82867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5CE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EDBCC8-55FC-4CFA-BEDC-23CC6088A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048250"/>
            <a:ext cx="571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1D55"/>
          </a:solidFill>
          <a:ln xmlns:a="http://schemas.openxmlformats.org/drawingml/2006/main" w="9525">
            <a:solidFill>
              <a:srgbClr val="A51D55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A757C5-8A7C-43AA-A314-F307945F8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5162550"/>
            <a:ext cx="802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D2B3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D2B36"/>
                </a:solidFill>
                <a:latin typeface="Arial"/>
                <a:ea typeface="Arial"/>
                <a:cs typeface="Arial"/>
              </a:rPr>
              <a:t>Operate and observe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00E33F-3905-4237-9523-D9B4F313F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5457825"/>
            <a:ext cx="802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Expose job telemetry, lineage evidence and quality status in the Siemens IX monitoring page before scaling source volume.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FD6F27-E573-410E-B14F-5C6FC09AE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1616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1616F"/>
                </a:solidFill>
                <a:latin typeface="Arial"/>
                <a:ea typeface="Arial"/>
                <a:cs typeface="Arial"/>
              </a:rPr>
              <a:t>Architecture audit  |  8</a:t>
            </a:r>
          </a:p>
        </p:txBody>
      </p:sp>
    </p:spTree>
    <p:extLst>
      <p:ext uri="{BB962C8B-B14F-4D97-AF65-F5344CB8AC3E}">
        <p14:creationId xmlns:p14="http://schemas.microsoft.com/office/powerpoint/2010/main" val="14628878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2026-09-04T01:59:44.3980000Z</dcterms:created>
  <dcterms:modified xsi:type="dcterms:W3CDTF">2026-09-04T01:59:44.3980000Z</dcterms:modified>
</coreProperties>
</file>