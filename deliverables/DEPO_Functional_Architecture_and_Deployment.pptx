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ffaa8e1cc44d0" /><Relationship Type="http://schemas.openxmlformats.org/officeDocument/2006/relationships/extended-properties" Target="/docProps/app.xml" Id="R704d1bbf463b4e4d" /><Relationship Type="http://schemas.openxmlformats.org/officeDocument/2006/relationships/officeDocument" Target="/ppt/presentation.xml" Id="R122ce7d73c7147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7acd72b81d4b9f"/>
  </p:sldMasterIdLst>
  <p:notesMasterIdLst>
    <p:notesMasterId xmlns:r="http://schemas.openxmlformats.org/officeDocument/2006/relationships" r:id="R33377969600942d3"/>
  </p:notesMasterIdLst>
  <p:sldIdLst>
    <p:sldId xmlns:r="http://schemas.openxmlformats.org/officeDocument/2006/relationships" id="256" r:id="R38b517b157044f08"/>
    <p:sldId xmlns:r="http://schemas.openxmlformats.org/officeDocument/2006/relationships" id="257" r:id="R93c8ddc95c574130"/>
    <p:sldId xmlns:r="http://schemas.openxmlformats.org/officeDocument/2006/relationships" id="258" r:id="R8bcf3359ff1044c4"/>
    <p:sldId xmlns:r="http://schemas.openxmlformats.org/officeDocument/2006/relationships" id="259" r:id="R970a408df165415c"/>
    <p:sldId xmlns:r="http://schemas.openxmlformats.org/officeDocument/2006/relationships" id="260" r:id="R86a2dc6f04984ff3"/>
    <p:sldId xmlns:r="http://schemas.openxmlformats.org/officeDocument/2006/relationships" id="261" r:id="Rd84499e58522490d"/>
    <p:sldId xmlns:r="http://schemas.openxmlformats.org/officeDocument/2006/relationships" id="262" r:id="Rc28ee1119e3042ea"/>
    <p:sldId xmlns:r="http://schemas.openxmlformats.org/officeDocument/2006/relationships" id="263" r:id="Rcd10597e957543fe"/>
    <p:sldId xmlns:r="http://schemas.openxmlformats.org/officeDocument/2006/relationships" id="264" r:id="Radcf71542c1d47c2"/>
    <p:sldId xmlns:r="http://schemas.openxmlformats.org/officeDocument/2006/relationships" id="265" r:id="Red0100dc97d844cf"/>
    <p:sldId xmlns:r="http://schemas.openxmlformats.org/officeDocument/2006/relationships" id="266" r:id="R3ebd1ccb673542da"/>
    <p:sldId xmlns:r="http://schemas.openxmlformats.org/officeDocument/2006/relationships" id="267" r:id="R029981a4e68a4dfa"/>
    <p:sldId xmlns:r="http://schemas.openxmlformats.org/officeDocument/2006/relationships" id="268" r:id="Rada7d65f3d2149d4"/>
    <p:sldId xmlns:r="http://schemas.openxmlformats.org/officeDocument/2006/relationships" id="269" r:id="Ra4015657a9cd429d"/>
    <p:sldId xmlns:r="http://schemas.openxmlformats.org/officeDocument/2006/relationships" id="270" r:id="R2b45f6bed5e44fb4"/>
    <p:sldId xmlns:r="http://schemas.openxmlformats.org/officeDocument/2006/relationships" id="271" r:id="Rd7d25c4c22e94422"/>
    <p:sldId xmlns:r="http://schemas.openxmlformats.org/officeDocument/2006/relationships" id="272" r:id="Rfbbd33d402ef452a"/>
    <p:sldId xmlns:r="http://schemas.openxmlformats.org/officeDocument/2006/relationships" id="273" r:id="R0b0eadfebe544026"/>
    <p:sldId xmlns:r="http://schemas.openxmlformats.org/officeDocument/2006/relationships" id="274" r:id="R3f88054b9f9e4467"/>
    <p:sldId xmlns:r="http://schemas.openxmlformats.org/officeDocument/2006/relationships" id="275" r:id="Rbb1cff9eba7d433f"/>
    <p:sldId xmlns:r="http://schemas.openxmlformats.org/officeDocument/2006/relationships" id="276" r:id="Rf4854c2bd3634e61"/>
    <p:sldId xmlns:r="http://schemas.openxmlformats.org/officeDocument/2006/relationships" id="277" r:id="Rf8fd4e120551456a"/>
    <p:sldId xmlns:r="http://schemas.openxmlformats.org/officeDocument/2006/relationships" id="278" r:id="Rbe8f308eac604ef4"/>
    <p:sldId xmlns:r="http://schemas.openxmlformats.org/officeDocument/2006/relationships" id="279" r:id="R8bdf8072910b4a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278a471052414d" /><Relationship Type="http://schemas.openxmlformats.org/officeDocument/2006/relationships/slideMaster" Target="/ppt/slideMasters/slideMaster1.xml" Id="Raa7acd72b81d4b9f" /><Relationship Type="http://schemas.openxmlformats.org/officeDocument/2006/relationships/notesMaster" Target="/ppt/notesMasters/notesMaster1.xml" Id="R33377969600942d3" /><Relationship Type="http://schemas.openxmlformats.org/officeDocument/2006/relationships/presProps" Target="/ppt/presProps.xml" Id="Raefe97514ead4199" /><Relationship Type="http://schemas.openxmlformats.org/officeDocument/2006/relationships/tableStyles" Target="/ppt/tableStyles.xml" Id="Rd657cdbdb7a649f6" /><Relationship Type="http://schemas.openxmlformats.org/officeDocument/2006/relationships/slide" Target="/ppt/slides/slide1.xml" Id="R38b517b157044f08" /><Relationship Type="http://schemas.openxmlformats.org/officeDocument/2006/relationships/slide" Target="/ppt/slides/slide2.xml" Id="R93c8ddc95c574130" /><Relationship Type="http://schemas.openxmlformats.org/officeDocument/2006/relationships/slide" Target="/ppt/slides/slide3.xml" Id="R8bcf3359ff1044c4" /><Relationship Type="http://schemas.openxmlformats.org/officeDocument/2006/relationships/slide" Target="/ppt/slides/slide4.xml" Id="R970a408df165415c" /><Relationship Type="http://schemas.openxmlformats.org/officeDocument/2006/relationships/slide" Target="/ppt/slides/slide5.xml" Id="R86a2dc6f04984ff3" /><Relationship Type="http://schemas.openxmlformats.org/officeDocument/2006/relationships/slide" Target="/ppt/slides/slide6.xml" Id="Rd84499e58522490d" /><Relationship Type="http://schemas.openxmlformats.org/officeDocument/2006/relationships/slide" Target="/ppt/slides/slide7.xml" Id="Rc28ee1119e3042ea" /><Relationship Type="http://schemas.openxmlformats.org/officeDocument/2006/relationships/slide" Target="/ppt/slides/slide8.xml" Id="Rcd10597e957543fe" /><Relationship Type="http://schemas.openxmlformats.org/officeDocument/2006/relationships/slide" Target="/ppt/slides/slide9.xml" Id="Radcf71542c1d47c2" /><Relationship Type="http://schemas.openxmlformats.org/officeDocument/2006/relationships/slide" Target="/ppt/slides/slide10.xml" Id="Red0100dc97d844cf" /><Relationship Type="http://schemas.openxmlformats.org/officeDocument/2006/relationships/slide" Target="/ppt/slides/slide11.xml" Id="R3ebd1ccb673542da" /><Relationship Type="http://schemas.openxmlformats.org/officeDocument/2006/relationships/slide" Target="/ppt/slides/slide12.xml" Id="R029981a4e68a4dfa" /><Relationship Type="http://schemas.openxmlformats.org/officeDocument/2006/relationships/slide" Target="/ppt/slides/slide13.xml" Id="Rada7d65f3d2149d4" /><Relationship Type="http://schemas.openxmlformats.org/officeDocument/2006/relationships/slide" Target="/ppt/slides/slide14.xml" Id="Ra4015657a9cd429d" /><Relationship Type="http://schemas.openxmlformats.org/officeDocument/2006/relationships/slide" Target="/ppt/slides/slide15.xml" Id="R2b45f6bed5e44fb4" /><Relationship Type="http://schemas.openxmlformats.org/officeDocument/2006/relationships/slide" Target="/ppt/slides/slide16.xml" Id="Rd7d25c4c22e94422" /><Relationship Type="http://schemas.openxmlformats.org/officeDocument/2006/relationships/slide" Target="/ppt/slides/slide17.xml" Id="Rfbbd33d402ef452a" /><Relationship Type="http://schemas.openxmlformats.org/officeDocument/2006/relationships/slide" Target="/ppt/slides/slide18.xml" Id="R0b0eadfebe544026" /><Relationship Type="http://schemas.openxmlformats.org/officeDocument/2006/relationships/slide" Target="/ppt/slides/slide19.xml" Id="R3f88054b9f9e4467" /><Relationship Type="http://schemas.openxmlformats.org/officeDocument/2006/relationships/slide" Target="/ppt/slides/slide20.xml" Id="Rbb1cff9eba7d433f" /><Relationship Type="http://schemas.openxmlformats.org/officeDocument/2006/relationships/slide" Target="/ppt/slides/slide21.xml" Id="Rf4854c2bd3634e61" /><Relationship Type="http://schemas.openxmlformats.org/officeDocument/2006/relationships/slide" Target="/ppt/slides/slide22.xml" Id="Rf8fd4e120551456a" /><Relationship Type="http://schemas.openxmlformats.org/officeDocument/2006/relationships/slide" Target="/ppt/slides/slide23.xml" Id="Rbe8f308eac604ef4" /><Relationship Type="http://schemas.openxmlformats.org/officeDocument/2006/relationships/slide" Target="/ppt/slides/slide24.xml" Id="R8bdf8072910b4a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b5052b031644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3b83c949394822" /><Relationship Type="http://schemas.openxmlformats.org/officeDocument/2006/relationships/notesMaster" Target="/ppt/notesMasters/notesMaster1.xml" Id="Ra79d8495453b44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8ccabd9dc34f26" /><Relationship Type="http://schemas.openxmlformats.org/officeDocument/2006/relationships/notesMaster" Target="/ppt/notesMasters/notesMaster1.xml" Id="R7d0ff1ee73b448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91c03eb6344fb0" /><Relationship Type="http://schemas.openxmlformats.org/officeDocument/2006/relationships/notesMaster" Target="/ppt/notesMasters/notesMaster1.xml" Id="R18ce8ec0fc4544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1cedcd381145ba" /><Relationship Type="http://schemas.openxmlformats.org/officeDocument/2006/relationships/notesMaster" Target="/ppt/notesMasters/notesMaster1.xml" Id="R35d6ebe2d00548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8fd372ac4644c0" /><Relationship Type="http://schemas.openxmlformats.org/officeDocument/2006/relationships/notesMaster" Target="/ppt/notesMasters/notesMaster1.xml" Id="Rc37f85b8b7a749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039ec919574e14" /><Relationship Type="http://schemas.openxmlformats.org/officeDocument/2006/relationships/notesMaster" Target="/ppt/notesMasters/notesMaster1.xml" Id="R066793e2672e44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0042640f824d3c" /><Relationship Type="http://schemas.openxmlformats.org/officeDocument/2006/relationships/notesMaster" Target="/ppt/notesMasters/notesMaster1.xml" Id="Rd757f11167c84f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c2d4872b0a4312" /><Relationship Type="http://schemas.openxmlformats.org/officeDocument/2006/relationships/notesMaster" Target="/ppt/notesMasters/notesMaster1.xml" Id="R1a9d7df4fc5548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3a32d579f44ac5" /><Relationship Type="http://schemas.openxmlformats.org/officeDocument/2006/relationships/notesMaster" Target="/ppt/notesMasters/notesMaster1.xml" Id="R567f85964ba24d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fe27bf0e854fae" /><Relationship Type="http://schemas.openxmlformats.org/officeDocument/2006/relationships/notesMaster" Target="/ppt/notesMasters/notesMaster1.xml" Id="R40a60c08abde4f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b09807f4bf4b4a" /><Relationship Type="http://schemas.openxmlformats.org/officeDocument/2006/relationships/notesMaster" Target="/ppt/notesMasters/notesMaster1.xml" Id="Rbe45a9da51f145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9a2bc9d48547be" /><Relationship Type="http://schemas.openxmlformats.org/officeDocument/2006/relationships/notesMaster" Target="/ppt/notesMasters/notesMaster1.xml" Id="R46e1e103822043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38eb6d1c6a4869" /><Relationship Type="http://schemas.openxmlformats.org/officeDocument/2006/relationships/notesMaster" Target="/ppt/notesMasters/notesMaster1.xml" Id="Reab68f364d3446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617ab15fec465a" /><Relationship Type="http://schemas.openxmlformats.org/officeDocument/2006/relationships/notesMaster" Target="/ppt/notesMasters/notesMaster1.xml" Id="Rfe818f9dbf5947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23623d119714b0b" /><Relationship Type="http://schemas.openxmlformats.org/officeDocument/2006/relationships/notesMaster" Target="/ppt/notesMasters/notesMaster1.xml" Id="R13c645aaab6140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6414953151e4fc0" /><Relationship Type="http://schemas.openxmlformats.org/officeDocument/2006/relationships/notesMaster" Target="/ppt/notesMasters/notesMaster1.xml" Id="R2618173bd89f4aa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77a9d73fc034aa0" /><Relationship Type="http://schemas.openxmlformats.org/officeDocument/2006/relationships/notesMaster" Target="/ppt/notesMasters/notesMaster1.xml" Id="R9a0e15636a47487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4ef9d8ae2884351" /><Relationship Type="http://schemas.openxmlformats.org/officeDocument/2006/relationships/notesMaster" Target="/ppt/notesMasters/notesMaster1.xml" Id="R826acb9ccd6d4df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55f4f8ca09476b" /><Relationship Type="http://schemas.openxmlformats.org/officeDocument/2006/relationships/notesMaster" Target="/ppt/notesMasters/notesMaster1.xml" Id="Re7c03da9a1754da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aae307ab9bd4c8f" /><Relationship Type="http://schemas.openxmlformats.org/officeDocument/2006/relationships/notesMaster" Target="/ppt/notesMasters/notesMaster1.xml" Id="R57e41429fbe243f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98f57bd3f614053" /><Relationship Type="http://schemas.openxmlformats.org/officeDocument/2006/relationships/notesMaster" Target="/ppt/notesMasters/notesMaster1.xml" Id="R9c5798142691451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aecaa0991064509" /><Relationship Type="http://schemas.openxmlformats.org/officeDocument/2006/relationships/notesMaster" Target="/ppt/notesMasters/notesMaster1.xml" Id="Rc31093ee174f400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e819fefad8245c8" /><Relationship Type="http://schemas.openxmlformats.org/officeDocument/2006/relationships/notesMaster" Target="/ppt/notesMasters/notesMaster1.xml" Id="Rd04788309ec741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cacd644564843a4" /><Relationship Type="http://schemas.openxmlformats.org/officeDocument/2006/relationships/notesMaster" Target="/ppt/notesMasters/notesMaster1.xml" Id="R4154a2eb66f149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  <a:p xmlns:a="http://schemas.openxmlformats.org/drawingml/2006/main">
            <a:r>
              <a:t>https://github.com/dparitosh/PMem/blob/codex/windows-setup-audit-fixes/backend/Services/import_file_types.py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https://github.com/dparitosh/PMem/blob/codex/windows-setup-audit-fixes/frontend/src/Components/DataImportPipeline.js</a:t>
            </a:r>
          </a:p>
          <a:p xmlns:a="http://schemas.openxmlformats.org/drawingml/2006/main">
            <a:r>
              <a:t>https://github.com/dparitosh/PMem/blob/codex/windows-setup-audit-fixes/frontend/src/Components/OntologyPublicationPanel.js</a:t>
            </a:r>
          </a:p>
          <a:p xmlns:a="http://schemas.openxmlformats.org/drawingml/2006/main">
            <a:r>
              <a:t>https://github.com/dparitosh/PMem/blob/codex/windows-setup-audit-fixes/backend/agentic_service/bridge_jobs.py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https://github.com/dparitosh/PMem/blob/codex/windows-setup-audit-fixes/frontend/src/Components/OntologyMetadataForm.js</a:t>
            </a:r>
          </a:p>
          <a:p xmlns:a="http://schemas.openxmlformats.org/drawingml/2006/main">
            <a:r>
              <a:t>https://github.com/dparitosh/PMem/blob/codex/windows-setup-audit-fixes/backend/ontology_service/catalog.py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https://github.com/dparitosh/PMem/blob/codex/windows-setup-audit-fixes/backend/ontology_service/merge_matching.py</a:t>
            </a:r>
          </a:p>
          <a:p xmlns:a="http://schemas.openxmlformats.org/drawingml/2006/main">
            <a:r>
              <a:t>https://github.com/dparitosh/PMem/blob/codex/windows-setup-audit-fixes/frontend/src/Components/ontology/MergeMappingReview.js</a:t>
            </a:r>
          </a:p>
          <a:p xmlns:a="http://schemas.openxmlformats.org/drawingml/2006/main">
            <a:r>
              <a:t>https://github.com/dparitosh/PMem/blob/codex/windows-setup-audit-fixes/backend/ontology_service/merge_service.py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https://github.com/dparitosh/PMem/blob/codex/windows-setup-audit-fixes/frontend/src/Components/ontology/SemanticBridgeJobs.js</a:t>
            </a:r>
          </a:p>
          <a:p xmlns:a="http://schemas.openxmlformats.org/drawingml/2006/main">
            <a:r>
              <a:t>https://github.com/dparitosh/PMem/blob/codex/windows-setup-audit-fixes/backend/agentic_service/bridge_jobs.py</a:t>
            </a:r>
          </a:p>
          <a:p xmlns:a="http://schemas.openxmlformats.org/drawingml/2006/main">
            <a:r>
              <a:t>https://github.com/dparitosh/PMem/blob/codex/windows-setup-audit-fixes/backend/Services/import_identity.py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  <a:p xmlns:a="http://schemas.openxmlformats.org/drawingml/2006/main">
            <a:r>
              <a:t>https://github.com/dparitosh/PMem/blob/codex/windows-setup-audit-fixes/backend/ingestion_service/sysml_repository.py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https://github.com/dparitosh/PMem/blob/codex/windows-setup-audit-fixes/backend/agentic_service/ontology_orchestrator.py</a:t>
            </a:r>
          </a:p>
          <a:p xmlns:a="http://schemas.openxmlformats.org/drawingml/2006/main">
            <a:r>
              <a:t>https://github.com/dparitosh/PMem/blob/codex/windows-setup-audit-fixes/backend/agentic_service/goal_runner.py</a:t>
            </a:r>
          </a:p>
          <a:p xmlns:a="http://schemas.openxmlformats.org/drawingml/2006/main">
            <a:r>
              <a:t>https://github.com/dparitosh/PMem/blob/codex/windows-setup-audit-fixes/backend/agentic_service/bridge_jobs.py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https://github.com/dparitosh/PMem/blob/codex/windows-setup-audit-fixes/frontend/src/Components/IngestedDataInventory.js</a:t>
            </a:r>
          </a:p>
          <a:p xmlns:a="http://schemas.openxmlformats.org/drawingml/2006/main">
            <a:r>
              <a:t>https://github.com/dparitosh/PMem/blob/codex/windows-setup-audit-fixes/backend/data_product_service/router.py</a:t>
            </a:r>
          </a:p>
          <a:p xmlns:a="http://schemas.openxmlformats.org/drawingml/2006/main">
            <a:r>
              <a:t>https://github.com/dparitosh/PMem/blob/codex/windows-setup-audit-fixes/backend/data_catalog_service/router.py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https://github.com/dparitosh/PMem/blob/codex/windows-setup-audit-fixes/frontend/src/Components/AnalyticsSchemaReview.js</a:t>
            </a:r>
          </a:p>
          <a:p xmlns:a="http://schemas.openxmlformats.org/drawingml/2006/main">
            <a:r>
              <a:t>https://github.com/dparitosh/PMem/blob/codex/windows-setup-audit-fixes/backend/Services/xsd_analytics_plan.py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https://github.com/dparitosh/PMem/blob/codex/windows-setup-audit-fixes/backend/ontology_service/catalog.py</a:t>
            </a:r>
          </a:p>
          <a:p xmlns:a="http://schemas.openxmlformats.org/drawingml/2006/main">
            <a:r>
              <a:t>https://github.com/dparitosh/PMem/blob/codex/windows-setup-audit-fixes/backend/agentic_service/bridge_jobs.py</a:t>
            </a:r>
          </a:p>
          <a:p xmlns:a="http://schemas.openxmlformats.org/drawingml/2006/main">
            <a:r>
              <a:t>https://github.com/dparitosh/PMem/blob/codex/windows-setup-audit-fixes/INSTALLATION.md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https://github.com/dparitosh/PMem/blob/codex/windows-setup-audit-fixes/docs/customer_demo_semantic_value.md</a:t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  <a:p xmlns:a="http://schemas.openxmlformats.org/drawingml/2006/main">
            <a:r>
              <a:t>https://github.com/dparitosh/PMem/blob/codex/windows-setup-audit-fixes/docs/audits/extra-large-ontologies-2026-10-21.md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https://github.com/dparitosh/PMem/blob/codex/windows-setup-audit-fixes/infra/deployment/services.json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https://github.com/dparitosh/PMem/blob/codex/windows-setup-audit-fixes/infra/postgres/SCHEMA.md</a:t>
            </a:r>
          </a:p>
          <a:p xmlns:a="http://schemas.openxmlformats.org/drawingml/2006/main">
            <a:r>
              <a:t>https://github.com/dparitosh/PMem/blob/codex/windows-setup-audit-fixes/backend/ontology_service/catalog.py</a:t>
            </a:r>
          </a:p>
          <a:p xmlns:a="http://schemas.openxmlformats.org/drawingml/2006/main">
            <a:r>
              <a:t>https://github.com/dparitosh/PMem/blob/codex/windows-setup-audit-fixes/backend/graph_service/staged_publication.py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https://github.com/dparitosh/PMem/blob/codex/windows-setup-audit-fixes/INSTALLATION.md</a:t>
            </a:r>
          </a:p>
          <a:p xmlns:a="http://schemas.openxmlformats.org/drawingml/2006/main">
            <a:r>
              <a:t>https://github.com/dparitosh/PMem/blob/codex/windows-setup-audit-fixes/frontend/src/Components/BrowserAccessBoundary.js</a:t>
            </a:r>
          </a:p>
          <a:p xmlns:a="http://schemas.openxmlformats.org/drawingml/2006/main">
            <a:r>
              <a:t>https://github.com/dparitosh/PMem/blob/codex/windows-setup-audit-fixes/backend/depo_platform/credential_import.py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https://github.com/dparitosh/PMem/blob/codex/windows-setup-audit-fixes/INSTALLATION.md</a:t>
            </a:r>
          </a:p>
          <a:p xmlns:a="http://schemas.openxmlformats.org/drawingml/2006/main">
            <a:r>
              <a:t>https://github.com/dparitosh/PMem/blob/codex/windows-setup-audit-fixes/infra/windows/setup-depo.ps1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https://github.com/dparitosh/PMem/blob/codex/windows-setup-audit-fixes/docs/audits/extra-large-ontologies-2026-10-21.md</a:t>
            </a:r>
          </a:p>
          <a:p xmlns:a="http://schemas.openxmlformats.org/drawingml/2006/main">
            <a:r>
              <a:t>https://github.com/dparitosh/PMem/blob/codex/windows-setup-audit-fixes/backend/ingestion_service/conversion_process.py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 repository baseline: 21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https://github.com/dparitosh/PMem/blob/codex/windows-setup-audit-fixes/INSTALLATION.md</a:t>
            </a:r>
          </a:p>
          <a:p xmlns:a="http://schemas.openxmlformats.org/drawingml/2006/main">
            <a:r>
              <a:t>https://github.com/dparitosh/PMem/blob/codex/windows-setup-audit-fixes/docs/MBSE_IMPORT.md</a:t>
            </a:r>
          </a:p>
          <a:p xmlns:a="http://schemas.openxmlformats.org/drawingml/2006/main">
            <a:r>
              <a:t>https://github.com/dparitosh/PMem/blob/codex/windows-setup-audit-fixes/docs/audits/extra-large-ontologies-2026-10-21.md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e3ff2c75f4a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f5c30d6c6048e8" /><Relationship Type="http://schemas.openxmlformats.org/officeDocument/2006/relationships/slideLayout" Target="/ppt/slideLayouts/slideLayout1.xml" Id="Rfbd4dbee55854e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d4dbee55854e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8d2231738466c" /><Relationship Type="http://schemas.openxmlformats.org/officeDocument/2006/relationships/notesSlide" Target="/ppt/notesSlides/notesSlide1.xml" Id="Radb872381dc24a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a016dc2654343" /><Relationship Type="http://schemas.openxmlformats.org/officeDocument/2006/relationships/notesSlide" Target="/ppt/notesSlides/notesSlide2.xml" Id="Rc972d211821e4a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e8bc4c15b4f41" /><Relationship Type="http://schemas.openxmlformats.org/officeDocument/2006/relationships/notesSlide" Target="/ppt/notesSlides/notesSlide3.xml" Id="R54cc7d99ea2d41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01b5ea99a48a5" /><Relationship Type="http://schemas.openxmlformats.org/officeDocument/2006/relationships/notesSlide" Target="/ppt/notesSlides/notesSlide4.xml" Id="Ra45c779f2d6747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dbca327174ad2" /><Relationship Type="http://schemas.openxmlformats.org/officeDocument/2006/relationships/notesSlide" Target="/ppt/notesSlides/notesSlide5.xml" Id="R4e2082caf0884d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fdf78e74540be" /><Relationship Type="http://schemas.openxmlformats.org/officeDocument/2006/relationships/notesSlide" Target="/ppt/notesSlides/notesSlide6.xml" Id="Raa97a5b6016b4d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6034c82d5431d" /><Relationship Type="http://schemas.openxmlformats.org/officeDocument/2006/relationships/notesSlide" Target="/ppt/notesSlides/notesSlide7.xml" Id="Rce65f3ce1d9542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ecc60c00e40f3" /><Relationship Type="http://schemas.openxmlformats.org/officeDocument/2006/relationships/notesSlide" Target="/ppt/notesSlides/notesSlide8.xml" Id="R89ee7795aebf40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ad8262d684a2d" /><Relationship Type="http://schemas.openxmlformats.org/officeDocument/2006/relationships/notesSlide" Target="/ppt/notesSlides/notesSlide9.xml" Id="R7a7723d91b834e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1458eb8ab4cfc" /><Relationship Type="http://schemas.openxmlformats.org/officeDocument/2006/relationships/notesSlide" Target="/ppt/notesSlides/notesSlide10.xml" Id="R62996361a20849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c43f5dd7545e2" /><Relationship Type="http://schemas.openxmlformats.org/officeDocument/2006/relationships/notesSlide" Target="/ppt/notesSlides/notesSlide11.xml" Id="R11e6a349752341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b6eb51f2a44db" /><Relationship Type="http://schemas.openxmlformats.org/officeDocument/2006/relationships/notesSlide" Target="/ppt/notesSlides/notesSlide12.xml" Id="Rda9784001fdc41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c903d0c6e4efe" /><Relationship Type="http://schemas.openxmlformats.org/officeDocument/2006/relationships/notesSlide" Target="/ppt/notesSlides/notesSlide13.xml" Id="R2a850d35739e4b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3b2839e0f42b3" /><Relationship Type="http://schemas.openxmlformats.org/officeDocument/2006/relationships/notesSlide" Target="/ppt/notesSlides/notesSlide14.xml" Id="R3fdf8ddf905847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c0d89cf504cc2" /><Relationship Type="http://schemas.openxmlformats.org/officeDocument/2006/relationships/notesSlide" Target="/ppt/notesSlides/notesSlide15.xml" Id="R1e2f6e03e5c54b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42f72e3934a5d" /><Relationship Type="http://schemas.openxmlformats.org/officeDocument/2006/relationships/notesSlide" Target="/ppt/notesSlides/notesSlide16.xml" Id="Re9dd9e527de246c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16522bfbf4b0a" /><Relationship Type="http://schemas.openxmlformats.org/officeDocument/2006/relationships/notesSlide" Target="/ppt/notesSlides/notesSlide17.xml" Id="Rf5210a3a0ec641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fb02e38034f90" /><Relationship Type="http://schemas.openxmlformats.org/officeDocument/2006/relationships/notesSlide" Target="/ppt/notesSlides/notesSlide18.xml" Id="R04325a35f5d341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b81fdbe07429b" /><Relationship Type="http://schemas.openxmlformats.org/officeDocument/2006/relationships/notesSlide" Target="/ppt/notesSlides/notesSlide19.xml" Id="R10683c449913473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4b02712a648a5" /><Relationship Type="http://schemas.openxmlformats.org/officeDocument/2006/relationships/notesSlide" Target="/ppt/notesSlides/notesSlide20.xml" Id="R03b55c63722d4e0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5144356ab4328" /><Relationship Type="http://schemas.openxmlformats.org/officeDocument/2006/relationships/notesSlide" Target="/ppt/notesSlides/notesSlide21.xml" Id="R4e9f76f3f9dd4c6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3aa5cdd9f405f" /><Relationship Type="http://schemas.openxmlformats.org/officeDocument/2006/relationships/notesSlide" Target="/ppt/notesSlides/notesSlide22.xml" Id="R75057736d54c415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ffcf85aee425e" /><Relationship Type="http://schemas.openxmlformats.org/officeDocument/2006/relationships/notesSlide" Target="/ppt/notesSlides/notesSlide23.xml" Id="R36f5b0273c45414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295377a5d4046" /><Relationship Type="http://schemas.openxmlformats.org/officeDocument/2006/relationships/notesSlide" Target="/ppt/notesSlides/notesSlide24.xml" Id="Rf4f24205f67145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1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EPO DIGITAL THREAD">
            <a:extLst xmlns:a="http://schemas.openxmlformats.org/drawingml/2006/main">
              <a:ext uri="{FF2B5EF4-FFF2-40B4-BE49-F238E27FC236}">
                <a16:creationId xmlns:a16="http://schemas.microsoft.com/office/drawing/2014/main" id="{5CB089C1-634C-453F-923E-76626E8D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857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5CD0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CD0D1"/>
                </a:solidFill>
                <a:latin typeface="Arial"/>
                <a:ea typeface="Arial"/>
                <a:cs typeface="Arial"/>
              </a:rPr>
              <a:t>DEPO DIGITAL THREAD</a:t>
            </a:r>
          </a:p>
        </p:txBody>
      </p:sp>
      <p:sp>
        <p:nvSpPr>
          <p:cNvPr id="2" name="Functional architecture&#10;and customer deployment">
            <a:extLst xmlns:a="http://schemas.openxmlformats.org/drawingml/2006/main">
              <a:ext uri="{FF2B5EF4-FFF2-40B4-BE49-F238E27FC236}">
                <a16:creationId xmlns:a16="http://schemas.microsoft.com/office/drawing/2014/main" id="{A7722472-2614-4C3A-BAC5-35D4EDA0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81175"/>
            <a:ext cx="1057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Engineering domains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business workflows</a:t>
            </a:r>
          </a:p>
        </p:txBody>
      </p:sp>
      <p:sp>
        <p:nvSpPr>
          <p:cNvPr id="3" name="Semantic Bridge, governed data jobs and graph publication">
            <a:extLst xmlns:a="http://schemas.openxmlformats.org/drawingml/2006/main">
              <a:ext uri="{FF2B5EF4-FFF2-40B4-BE49-F238E27FC236}">
                <a16:creationId xmlns:a16="http://schemas.microsoft.com/office/drawing/2014/main" id="{2552629C-DF8C-43F9-9DE6-FD6D8A87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Requirements, MBSE, product engineering and quality</a:t>
            </a:r>
          </a:p>
        </p:txBody>
      </p:sp>
      <p:sp>
        <p:nvSpPr>
          <p:cNvPr id="4" name="Consolidated presentation&#10;22 September 2026">
            <a:extLst xmlns:a="http://schemas.openxmlformats.org/drawingml/2006/main">
              <a:ext uri="{FF2B5EF4-FFF2-40B4-BE49-F238E27FC236}">
                <a16:creationId xmlns:a16="http://schemas.microsoft.com/office/drawing/2014/main" id="{B92618B1-0A33-45C8-A870-CB9D8DF2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91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Business overview</a:t>
            </a:r>
          </a:p>
          <a:p xmlns:a="http://schemas.openxmlformats.org/drawingml/2006/main">
            <a:pPr>
              <a:buNone/>
              <a:defRPr sz="1725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21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1234640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he business problem">
            <a:extLst xmlns:a="http://schemas.openxmlformats.org/drawingml/2006/main">
              <a:ext uri="{FF2B5EF4-FFF2-40B4-BE49-F238E27FC236}">
                <a16:creationId xmlns:a16="http://schemas.microsoft.com/office/drawing/2014/main" id="{C89FFA37-97AB-40C9-8B7B-09AF415A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The business problem</a:t>
            </a:r>
          </a:p>
        </p:txBody>
      </p:sp>
      <p:sp>
        <p:nvSpPr>
          <p:cNvPr id="2" name="A product decision depends on information held by several teams.">
            <a:extLst xmlns:a="http://schemas.openxmlformats.org/drawingml/2006/main">
              <a:ext uri="{FF2B5EF4-FFF2-40B4-BE49-F238E27FC236}">
                <a16:creationId xmlns:a16="http://schemas.microsoft.com/office/drawing/2014/main" id="{DBBC4540-5E6D-48F5-8500-EC62282E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product decision depends on information held by several teams.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F9A32626-AC77-497A-813B-8812265A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A24B2F70-C399-4AC7-97DF-62E858E5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541D8-D35A-4537-832E-1D36E4AB620A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448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714750"/>
                <a:gridCol w="4191000"/>
              </a:tblGrid>
              <a:tr h="86201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question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Information needed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DEPO contribution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8620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What changes if this part changes?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Requirements, system context, assembly and verification records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Follow reviewed relationships and show their source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20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 two systems mean the same thing?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Definitions, properties, units and identifiers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Compare concepts before approving a mapping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8620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 another team reuse this data?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Ownership, version, quality and access conditions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Package approved evidence and make it discoverable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he business output is a traceable answer with evidence and an accountable ">
            <a:extLst xmlns:a="http://schemas.openxmlformats.org/drawingml/2006/main">
              <a:ext uri="{FF2B5EF4-FFF2-40B4-BE49-F238E27FC236}">
                <a16:creationId xmlns:a16="http://schemas.microsoft.com/office/drawing/2014/main" id="{05572850-9E1D-4CAF-98D6-5ACA30A9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The business output is a traceable answer with evidence and an accountable decision.</a:t>
            </a:r>
          </a:p>
        </p:txBody>
      </p:sp>
    </p:spTree>
    <p:extLst>
      <p:ext uri="{BB962C8B-B14F-4D97-AF65-F5344CB8AC3E}">
        <p14:creationId xmlns:p14="http://schemas.microsoft.com/office/powerpoint/2010/main" val="2009985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ngineering domain coverage">
            <a:extLst xmlns:a="http://schemas.openxmlformats.org/drawingml/2006/main">
              <a:ext uri="{FF2B5EF4-FFF2-40B4-BE49-F238E27FC236}">
                <a16:creationId xmlns:a16="http://schemas.microsoft.com/office/drawing/2014/main" id="{C2001161-1F67-4ACA-8D25-57732607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Engineering domain coverage</a:t>
            </a:r>
          </a:p>
        </p:txBody>
      </p:sp>
      <p:sp>
        <p:nvSpPr>
          <p:cNvPr id="2" name="Each domain contributes a different part of the product story.">
            <a:extLst xmlns:a="http://schemas.openxmlformats.org/drawingml/2006/main">
              <a:ext uri="{FF2B5EF4-FFF2-40B4-BE49-F238E27FC236}">
                <a16:creationId xmlns:a16="http://schemas.microsoft.com/office/drawing/2014/main" id="{68C47576-0779-4BE1-BF9C-60BD816E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Each domain contributes a different part of the product story.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C5F74CC7-3B82-4AD4-86D9-454E2A1B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0E909A60-EFF5-4D90-A4F9-656F931A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D1433-0DBE-45C1-93BF-B407EC161600}"/>
              </a:ext>
            </a:extLst>
          </p:cNvPr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95625"/>
                <a:gridCol w="3857625"/>
                <a:gridCol w="4095750"/>
              </a:tblGrid>
              <a:tr h="530679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Domain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Typical business objects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Connection to other domains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Requirement, specification, source document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What must the system achieve?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MBSE / systems engineering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Model element, requirement, containment, trace link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How is the system organized and related?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Product engineering / PLM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Product, item revision, assembly, part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Which design realizes the requirement?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Manufacturing context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Process and production references, where supplied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How is the design prepared for production?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/ metrology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Feature, characteristic, inspection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What evidence supports acceptance?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Information reuse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artifact, approved release, data product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Who owns the evidence and may reuse it?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Coverage depends on source data, reviewed mappings and deployed adapters.">
            <a:extLst xmlns:a="http://schemas.openxmlformats.org/drawingml/2006/main">
              <a:ext uri="{FF2B5EF4-FFF2-40B4-BE49-F238E27FC236}">
                <a16:creationId xmlns:a16="http://schemas.microsoft.com/office/drawing/2014/main" id="{62C04D1A-8D8D-4419-96A3-B1A7C5C5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Coverage depends on source data, reviewed mappings and deployed adapters.</a:t>
            </a:r>
          </a:p>
        </p:txBody>
      </p:sp>
    </p:spTree>
    <p:extLst>
      <p:ext uri="{BB962C8B-B14F-4D97-AF65-F5344CB8AC3E}">
        <p14:creationId xmlns:p14="http://schemas.microsoft.com/office/powerpoint/2010/main" val="1304870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re concepts in business language">
            <a:extLst xmlns:a="http://schemas.openxmlformats.org/drawingml/2006/main">
              <a:ext uri="{FF2B5EF4-FFF2-40B4-BE49-F238E27FC236}">
                <a16:creationId xmlns:a16="http://schemas.microsoft.com/office/drawing/2014/main" id="{8E01F143-44C3-4F11-8ACC-8D226D96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Core concepts in business language</a:t>
            </a:r>
          </a:p>
        </p:txBody>
      </p:sp>
      <p:sp>
        <p:nvSpPr>
          <p:cNvPr id="2" name="A shared vocabulary and real product records serve different purposes.">
            <a:extLst xmlns:a="http://schemas.openxmlformats.org/drawingml/2006/main">
              <a:ext uri="{FF2B5EF4-FFF2-40B4-BE49-F238E27FC236}">
                <a16:creationId xmlns:a16="http://schemas.microsoft.com/office/drawing/2014/main" id="{6843834C-9D8C-44C9-A740-E89F6F31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shared vocabulary and real product records serve different purposes.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2A26B019-37D2-437B-B0E0-4170788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F26C1A12-8CA2-43F8-91F6-95DC7E91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A83FD-B731-496A-A494-2ED0DF46055C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524375"/>
                <a:gridCol w="3762375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Concept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Plain-language meaning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Illustrative example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Ontology / class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The agreed types of things and their relationships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Assembly contains Part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Instance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specific record of one of those things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particular motor assembly revision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Property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named characteristic or relationship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Diameter, material, contains, verifies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Identity and namespace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stable reference plus the vocabulary it belongs to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ID remains traceable across mappings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Provenance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Where a statement came from and how it was approved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file, import task, reviewer and receipt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imilar names are a reason to compare meanings, not proof that two records ">
            <a:extLst xmlns:a="http://schemas.openxmlformats.org/drawingml/2006/main">
              <a:ext uri="{FF2B5EF4-FFF2-40B4-BE49-F238E27FC236}">
                <a16:creationId xmlns:a16="http://schemas.microsoft.com/office/drawing/2014/main" id="{5DFB5D6A-6A85-4F94-B374-37E96EF5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Similar names are a reason to compare meanings, not proof that two records are identical.</a:t>
            </a:r>
          </a:p>
        </p:txBody>
      </p:sp>
    </p:spTree>
    <p:extLst>
      <p:ext uri="{BB962C8B-B14F-4D97-AF65-F5344CB8AC3E}">
        <p14:creationId xmlns:p14="http://schemas.microsoft.com/office/powerpoint/2010/main" val="9997754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 connected product story">
            <a:extLst xmlns:a="http://schemas.openxmlformats.org/drawingml/2006/main">
              <a:ext uri="{FF2B5EF4-FFF2-40B4-BE49-F238E27FC236}">
                <a16:creationId xmlns:a16="http://schemas.microsoft.com/office/drawing/2014/main" id="{428237FC-15F6-47B0-94D2-8D714179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 connected product story</a:t>
            </a:r>
          </a:p>
        </p:txBody>
      </p:sp>
      <p:sp>
        <p:nvSpPr>
          <p:cNvPr id="2" name="Illustrative motor assembly scenario; relationships require source evidence">
            <a:extLst xmlns:a="http://schemas.openxmlformats.org/drawingml/2006/main">
              <a:ext uri="{FF2B5EF4-FFF2-40B4-BE49-F238E27FC236}">
                <a16:creationId xmlns:a16="http://schemas.microsoft.com/office/drawing/2014/main" id="{56CB8046-34EB-4CE5-BFD9-ED4B060F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Illustrative motor assembly scenario; relationships require source evidence and review.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AA665938-354F-4E79-8EF8-92168836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2E0F8D50-6E15-4772-B1B3-069910F2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5F67C-B70C-4012-AB20-FC45E7D66DF1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191000"/>
                <a:gridCol w="381000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object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it helps answer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Required operating performance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Why does the design need this capability?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System model element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Function or component in an imported model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Where does the requirement belong?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Assembly / part revision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PLMXML or AP242 design information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Which product revision is affected?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Feature / characteristic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design characteristic aligned with quality concepts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What must be inspected or verified?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Verification evidence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Imported test or inspection references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What evidence supports the decision?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DEPO connects the evidence; it does not replace the authoring systems or ce">
            <a:extLst xmlns:a="http://schemas.openxmlformats.org/drawingml/2006/main">
              <a:ext uri="{FF2B5EF4-FFF2-40B4-BE49-F238E27FC236}">
                <a16:creationId xmlns:a16="http://schemas.microsoft.com/office/drawing/2014/main" id="{10220B79-60AC-4A38-B39B-A094AC97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DEPO connects the evidence; it does not replace the authoring systems or certify the product.</a:t>
            </a:r>
          </a:p>
        </p:txBody>
      </p:sp>
    </p:spTree>
    <p:extLst>
      <p:ext uri="{BB962C8B-B14F-4D97-AF65-F5344CB8AC3E}">
        <p14:creationId xmlns:p14="http://schemas.microsoft.com/office/powerpoint/2010/main" val="9062526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he end-user workflow">
            <a:extLst xmlns:a="http://schemas.openxmlformats.org/drawingml/2006/main">
              <a:ext uri="{FF2B5EF4-FFF2-40B4-BE49-F238E27FC236}">
                <a16:creationId xmlns:a16="http://schemas.microsoft.com/office/drawing/2014/main" id="{A20D2D43-30F5-4AE3-88B0-9BF373BB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The end-user workflow</a:t>
            </a:r>
          </a:p>
        </p:txBody>
      </p:sp>
      <p:sp>
        <p:nvSpPr>
          <p:cNvPr id="2" name="Each stage produces something the next user can inspect.">
            <a:extLst xmlns:a="http://schemas.openxmlformats.org/drawingml/2006/main">
              <a:ext uri="{FF2B5EF4-FFF2-40B4-BE49-F238E27FC236}">
                <a16:creationId xmlns:a16="http://schemas.microsoft.com/office/drawing/2014/main" id="{E9FF3E05-E5E0-4948-88EE-96AD5CC6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Each stage produces something the next user can inspect.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CBB0FDDE-0EB7-4865-9883-09F53515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6819FD3F-6728-445B-8E14-B84EF84A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8F110-4CAF-417F-B45C-B9F5A579E19B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429125"/>
                <a:gridCol w="4095750"/>
              </a:tblGrid>
              <a:tr h="55789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Sequence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activity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Retained output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1  Capture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Select source files and their dependencies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Original source and import identity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2  Understand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Review vocabulary, classes and source metadata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Registered ontology or parsed instances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3  Map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Compare concepts or link instances to classes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Candidate mappings and explanation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4  Validate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Review conflicts, shape checks and missing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Validation result and held decisions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5  Approve and publish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Approve the specific reviewed result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Graph publication status and receipt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6  Use and reuse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Explore context or publish a governed data product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Traceable answer or reusable package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69819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reate and review an ontology">
            <a:extLst xmlns:a="http://schemas.openxmlformats.org/drawingml/2006/main">
              <a:ext uri="{FF2B5EF4-FFF2-40B4-BE49-F238E27FC236}">
                <a16:creationId xmlns:a16="http://schemas.microsoft.com/office/drawing/2014/main" id="{9C55353B-D988-4F02-AA5E-5565A55C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Create and review an ontology</a:t>
            </a:r>
          </a:p>
        </p:txBody>
      </p:sp>
      <p:sp>
        <p:nvSpPr>
          <p:cNvPr id="2" name="The source namespace identifies the vocabulary; the prefix is its readable ">
            <a:extLst xmlns:a="http://schemas.openxmlformats.org/drawingml/2006/main">
              <a:ext uri="{FF2B5EF4-FFF2-40B4-BE49-F238E27FC236}">
                <a16:creationId xmlns:a16="http://schemas.microsoft.com/office/drawing/2014/main" id="{1E11737C-D6BA-4283-B3E7-55326E50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source namespace identifies the vocabulary; the prefix is its readable label.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87E97358-5344-49FD-9932-2F8BA717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D295055E-F5FC-40A9-A865-DFAA03AD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6C5076B8-3444-46CC-91DB-4C4FB77E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Select the schema or ontology">
            <a:extLst xmlns:a="http://schemas.openxmlformats.org/drawingml/2006/main">
              <a:ext uri="{FF2B5EF4-FFF2-40B4-BE49-F238E27FC236}">
                <a16:creationId xmlns:a16="http://schemas.microsoft.com/office/drawing/2014/main" id="{DAE580C8-D459-4F16-8318-C5E312D0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Select the schema or ontology</a:t>
            </a:r>
          </a:p>
        </p:txBody>
      </p:sp>
      <p:sp>
        <p:nvSpPr>
          <p:cNvPr id="7" name="Include required companion XSD files and confirm the intended domain.">
            <a:extLst xmlns:a="http://schemas.openxmlformats.org/drawingml/2006/main">
              <a:ext uri="{FF2B5EF4-FFF2-40B4-BE49-F238E27FC236}">
                <a16:creationId xmlns:a16="http://schemas.microsoft.com/office/drawing/2014/main" id="{5BBCDE15-B333-459B-81C0-8171D7BE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526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Include required companion XSD files and confirm the intended domain.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2B5C011C-678D-46BE-83B7-B840FBC0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432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eview the generated vocabulary">
            <a:extLst xmlns:a="http://schemas.openxmlformats.org/drawingml/2006/main">
              <a:ext uri="{FF2B5EF4-FFF2-40B4-BE49-F238E27FC236}">
                <a16:creationId xmlns:a16="http://schemas.microsoft.com/office/drawing/2014/main" id="{07762F2E-5FAC-4A17-AC46-5FD62AA9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9432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Review the generated vocabulary</a:t>
            </a:r>
          </a:p>
        </p:txBody>
      </p:sp>
      <p:sp>
        <p:nvSpPr>
          <p:cNvPr id="10" name="Inspect class hierarchy, properties, source namespace and retained identiti">
            <a:extLst xmlns:a="http://schemas.openxmlformats.org/drawingml/2006/main">
              <a:ext uri="{FF2B5EF4-FFF2-40B4-BE49-F238E27FC236}">
                <a16:creationId xmlns:a16="http://schemas.microsoft.com/office/drawing/2014/main" id="{856AF593-4C79-4BCC-9F25-E24F141C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432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Inspect class hierarchy, properties, source namespace and retained identities.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FA6452DB-700D-4ED7-BC98-4E066271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Register and approve the draft">
            <a:extLst xmlns:a="http://schemas.openxmlformats.org/drawingml/2006/main">
              <a:ext uri="{FF2B5EF4-FFF2-40B4-BE49-F238E27FC236}">
                <a16:creationId xmlns:a16="http://schemas.microsoft.com/office/drawing/2014/main" id="{335F7C3C-03CD-476C-BE32-63E3EC56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338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Register and approve the draft</a:t>
            </a:r>
          </a:p>
        </p:txBody>
      </p:sp>
      <p:sp>
        <p:nvSpPr>
          <p:cNvPr id="13" name="Registration retains a draft; review and approval are separate decisions.">
            <a:extLst xmlns:a="http://schemas.openxmlformats.org/drawingml/2006/main">
              <a:ext uri="{FF2B5EF4-FFF2-40B4-BE49-F238E27FC236}">
                <a16:creationId xmlns:a16="http://schemas.microsoft.com/office/drawing/2014/main" id="{734B85D6-06F8-4341-A0AB-0F3499D1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338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Registration retains a draft; review and approval are separate decisions.</a:t>
            </a:r>
          </a:p>
        </p:txBody>
      </p:sp>
      <p:sp>
        <p:nvSpPr>
          <p:cNvPr id="14" name="04">
            <a:extLst xmlns:a="http://schemas.openxmlformats.org/drawingml/2006/main">
              <a:ext uri="{FF2B5EF4-FFF2-40B4-BE49-F238E27FC236}">
                <a16:creationId xmlns:a16="http://schemas.microsoft.com/office/drawing/2014/main" id="{9F40394F-2E24-4B7C-91CB-F0F48355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Publish and verify">
            <a:extLst xmlns:a="http://schemas.openxmlformats.org/drawingml/2006/main">
              <a:ext uri="{FF2B5EF4-FFF2-40B4-BE49-F238E27FC236}">
                <a16:creationId xmlns:a16="http://schemas.microsoft.com/office/drawing/2014/main" id="{A6F9D030-D55F-4D9D-A272-81AFCF7C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9244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Publish and verify</a:t>
            </a:r>
          </a:p>
        </p:txBody>
      </p:sp>
      <p:sp>
        <p:nvSpPr>
          <p:cNvPr id="16" name="Confirm the publication receipt before treating the ontology as available i">
            <a:extLst xmlns:a="http://schemas.openxmlformats.org/drawingml/2006/main">
              <a:ext uri="{FF2B5EF4-FFF2-40B4-BE49-F238E27FC236}">
                <a16:creationId xmlns:a16="http://schemas.microsoft.com/office/drawing/2014/main" id="{F8440559-2612-4069-9178-6B04473B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3244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Confirm the publication receipt before treating the ontology as available in Neo4j.</a:t>
            </a:r>
          </a:p>
        </p:txBody>
      </p:sp>
    </p:spTree>
    <p:extLst>
      <p:ext uri="{BB962C8B-B14F-4D97-AF65-F5344CB8AC3E}">
        <p14:creationId xmlns:p14="http://schemas.microsoft.com/office/powerpoint/2010/main" val="668501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mpare two ontologies before merging">
            <a:extLst xmlns:a="http://schemas.openxmlformats.org/drawingml/2006/main">
              <a:ext uri="{FF2B5EF4-FFF2-40B4-BE49-F238E27FC236}">
                <a16:creationId xmlns:a16="http://schemas.microsoft.com/office/drawing/2014/main" id="{C2043B8A-9E45-4495-BDD5-91C4FAE4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Compare two ontologies before merging</a:t>
            </a:r>
          </a:p>
        </p:txBody>
      </p:sp>
      <p:sp>
        <p:nvSpPr>
          <p:cNvPr id="2" name="Example: AP242 product design and QIF (Quality Information Framework) quali">
            <a:extLst xmlns:a="http://schemas.openxmlformats.org/drawingml/2006/main">
              <a:ext uri="{FF2B5EF4-FFF2-40B4-BE49-F238E27FC236}">
                <a16:creationId xmlns:a16="http://schemas.microsoft.com/office/drawing/2014/main" id="{37F05977-5A5C-4ED4-96A4-86D3B6F0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Example: AP242 product design and QIF (Quality Information Framework) quality concepts.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87FDADE2-A66B-4E08-84B5-298A9474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6B422E7F-C228-494A-8743-BCF761A2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95B79-B2E6-4441-8FFC-42C7E49F4895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33875"/>
                <a:gridCol w="404812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area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user examines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Decision supported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Definitions, labels and domain context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 the concepts describe the same business thing?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Properties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Class/property kind, domain, range and attached context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Are their roles compatible?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Similarity evidence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Text, token and character-trigram similarity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Which candidates deserve human review?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Merge impact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Exact source/target identities, additions and conflicts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Retain separate concepts or consolidate selected pairs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Similarity scores rank candidates. They are not calibrated confidence or ap">
            <a:extLst xmlns:a="http://schemas.openxmlformats.org/drawingml/2006/main">
              <a:ext uri="{FF2B5EF4-FFF2-40B4-BE49-F238E27FC236}">
                <a16:creationId xmlns:a16="http://schemas.microsoft.com/office/drawing/2014/main" id="{D75B8D44-DCF9-44E5-8260-8EBDCF4A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Similarity scores rank candidates. They are not calibrated confidence or approval to merge.</a:t>
            </a:r>
          </a:p>
        </p:txBody>
      </p:sp>
    </p:spTree>
    <p:extLst>
      <p:ext uri="{BB962C8B-B14F-4D97-AF65-F5344CB8AC3E}">
        <p14:creationId xmlns:p14="http://schemas.microsoft.com/office/powerpoint/2010/main" val="2353787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ink real product records to the vocabulary">
            <a:extLst xmlns:a="http://schemas.openxmlformats.org/drawingml/2006/main">
              <a:ext uri="{FF2B5EF4-FFF2-40B4-BE49-F238E27FC236}">
                <a16:creationId xmlns:a16="http://schemas.microsoft.com/office/drawing/2014/main" id="{F0FB8338-BB8A-44ED-845A-A7C86FBD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Link real product records to the vocabulary</a:t>
            </a:r>
          </a:p>
        </p:txBody>
      </p:sp>
      <p:sp>
        <p:nvSpPr>
          <p:cNvPr id="2" name="Instance linking classifies source records without replacing their source i">
            <a:extLst xmlns:a="http://schemas.openxmlformats.org/drawingml/2006/main">
              <a:ext uri="{FF2B5EF4-FFF2-40B4-BE49-F238E27FC236}">
                <a16:creationId xmlns:a16="http://schemas.microsoft.com/office/drawing/2014/main" id="{EFE9317D-B869-4275-ADBD-84BA6D5A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Instance linking classifies source records without replacing their source identities.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C0B59E57-CDAA-4EB9-B274-80FE2CC7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09">
            <a:extLst xmlns:a="http://schemas.openxmlformats.org/drawingml/2006/main">
              <a:ext uri="{FF2B5EF4-FFF2-40B4-BE49-F238E27FC236}">
                <a16:creationId xmlns:a16="http://schemas.microsoft.com/office/drawing/2014/main" id="{ABBB7A73-AB85-405E-9987-D948EE96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737AD0A6-D5D9-40FE-BE65-37BE7667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Choose the completed source import">
            <a:extLst xmlns:a="http://schemas.openxmlformats.org/drawingml/2006/main">
              <a:ext uri="{FF2B5EF4-FFF2-40B4-BE49-F238E27FC236}">
                <a16:creationId xmlns:a16="http://schemas.microsoft.com/office/drawing/2014/main" id="{7DB0E64D-0C60-4A9C-82ED-DAC70EB2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Choose the completed source import</a:t>
            </a:r>
          </a:p>
        </p:txBody>
      </p:sp>
      <p:sp>
        <p:nvSpPr>
          <p:cNvPr id="7" name="Select the intended assembly or dataset and the target ontology version.">
            <a:extLst xmlns:a="http://schemas.openxmlformats.org/drawingml/2006/main">
              <a:ext uri="{FF2B5EF4-FFF2-40B4-BE49-F238E27FC236}">
                <a16:creationId xmlns:a16="http://schemas.microsoft.com/office/drawing/2014/main" id="{8CD5DE09-FAF8-4431-9E67-675E1A60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526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Select the intended assembly or dataset and the target ontology version.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DD828E06-F182-4931-9174-36EBFCD8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432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Inspect proposed links">
            <a:extLst xmlns:a="http://schemas.openxmlformats.org/drawingml/2006/main">
              <a:ext uri="{FF2B5EF4-FFF2-40B4-BE49-F238E27FC236}">
                <a16:creationId xmlns:a16="http://schemas.microsoft.com/office/drawing/2014/main" id="{D47462B1-D633-40EE-8415-4A0A7A97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9432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Inspect proposed links</a:t>
            </a:r>
          </a:p>
        </p:txBody>
      </p:sp>
      <p:sp>
        <p:nvSpPr>
          <p:cNvPr id="10" name="Review the exact source instance, target class and mapping rationale.">
            <a:extLst xmlns:a="http://schemas.openxmlformats.org/drawingml/2006/main">
              <a:ext uri="{FF2B5EF4-FFF2-40B4-BE49-F238E27FC236}">
                <a16:creationId xmlns:a16="http://schemas.microsoft.com/office/drawing/2014/main" id="{D5850E4C-9B31-45E7-9FF8-5A2977CC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432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 the exact source instance, target class and mapping rationale.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0E98B153-36DF-4577-A1D2-3462E46F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Resolve held or conflicting candidates">
            <a:extLst xmlns:a="http://schemas.openxmlformats.org/drawingml/2006/main">
              <a:ext uri="{FF2B5EF4-FFF2-40B4-BE49-F238E27FC236}">
                <a16:creationId xmlns:a16="http://schemas.microsoft.com/office/drawing/2014/main" id="{F9BCA38E-B889-4A16-9B50-3B1B6B64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338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Resolve held or conflicting candidates</a:t>
            </a:r>
          </a:p>
        </p:txBody>
      </p:sp>
      <p:sp>
        <p:nvSpPr>
          <p:cNvPr id="13" name="Missing evidence, changed sources and unsupported mappings remain visible.">
            <a:extLst xmlns:a="http://schemas.openxmlformats.org/drawingml/2006/main">
              <a:ext uri="{FF2B5EF4-FFF2-40B4-BE49-F238E27FC236}">
                <a16:creationId xmlns:a16="http://schemas.microsoft.com/office/drawing/2014/main" id="{0AB50B80-CC4B-4126-B9D7-A8940F62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338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Missing evidence, changed sources and unsupported mappings remain visible.</a:t>
            </a:r>
          </a:p>
        </p:txBody>
      </p:sp>
      <p:sp>
        <p:nvSpPr>
          <p:cNvPr id="14" name="04">
            <a:extLst xmlns:a="http://schemas.openxmlformats.org/drawingml/2006/main">
              <a:ext uri="{FF2B5EF4-FFF2-40B4-BE49-F238E27FC236}">
                <a16:creationId xmlns:a16="http://schemas.microsoft.com/office/drawing/2014/main" id="{CD12BB8C-3EAC-440D-9B10-C3140F2E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Approve the selected links">
            <a:extLst xmlns:a="http://schemas.openxmlformats.org/drawingml/2006/main">
              <a:ext uri="{FF2B5EF4-FFF2-40B4-BE49-F238E27FC236}">
                <a16:creationId xmlns:a16="http://schemas.microsoft.com/office/drawing/2014/main" id="{32350137-0647-4A9F-BC05-4EB2F43C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9244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Approve the selected links</a:t>
            </a:r>
          </a:p>
        </p:txBody>
      </p:sp>
      <p:sp>
        <p:nvSpPr>
          <p:cNvPr id="16" name="Publish the reviewed selection and verify its graph receipt.">
            <a:extLst xmlns:a="http://schemas.openxmlformats.org/drawingml/2006/main">
              <a:ext uri="{FF2B5EF4-FFF2-40B4-BE49-F238E27FC236}">
                <a16:creationId xmlns:a16="http://schemas.microsoft.com/office/drawing/2014/main" id="{467648ED-30DD-483E-8769-75C0A130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3244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Publish the reviewed selection and verify its graph receipt.</a:t>
            </a:r>
          </a:p>
        </p:txBody>
      </p:sp>
    </p:spTree>
    <p:extLst>
      <p:ext uri="{BB962C8B-B14F-4D97-AF65-F5344CB8AC3E}">
        <p14:creationId xmlns:p14="http://schemas.microsoft.com/office/powerpoint/2010/main" val="10950158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MBSE in the engineering lifecycle">
            <a:extLst xmlns:a="http://schemas.openxmlformats.org/drawingml/2006/main">
              <a:ext uri="{FF2B5EF4-FFF2-40B4-BE49-F238E27FC236}">
                <a16:creationId xmlns:a16="http://schemas.microsoft.com/office/drawing/2014/main" id="{F689E8E6-C879-4E52-92F7-C1F6EAF1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MBSE in the engineering lifecycle</a:t>
            </a:r>
          </a:p>
        </p:txBody>
      </p:sp>
      <p:sp>
        <p:nvSpPr>
          <p:cNvPr id="2" name="MBSE means model-based systems engineering: models organize engineering int">
            <a:extLst xmlns:a="http://schemas.openxmlformats.org/drawingml/2006/main">
              <a:ext uri="{FF2B5EF4-FFF2-40B4-BE49-F238E27FC236}">
                <a16:creationId xmlns:a16="http://schemas.microsoft.com/office/drawing/2014/main" id="{802496AF-3857-4F66-86B9-78FC1CF3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MBSE means model-based systems engineering: models organize engineering intent.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11530FF3-174B-4D16-9C3A-A8A5C4AE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205A2287-EFD9-4576-B6A9-103F6F68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3EA8C-1153-4B8E-BE05-84C0C3EC00F5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4191000"/>
                <a:gridCol w="3905250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Engineering concern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model describes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use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Required capability and constraints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Agree what must be delivered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System structure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Elements, relationships and containment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Understand system boundaries and ownership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Functions and behavior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Intended operation described by the source model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Discuss how the system should work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Verification context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Links to tests, analyses and acceptance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Check whether intent has supporting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DEPO provides imported model context and traceability; it is not a replacem">
            <a:extLst xmlns:a="http://schemas.openxmlformats.org/drawingml/2006/main">
              <a:ext uri="{FF2B5EF4-FFF2-40B4-BE49-F238E27FC236}">
                <a16:creationId xmlns:a16="http://schemas.microsoft.com/office/drawing/2014/main" id="{27944109-9CF8-4182-9DAB-EF40854E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DEPO provides imported model context and traceability; it is not a replacement SysML authoring tool.</a:t>
            </a:r>
          </a:p>
        </p:txBody>
      </p:sp>
    </p:spTree>
    <p:extLst>
      <p:ext uri="{BB962C8B-B14F-4D97-AF65-F5344CB8AC3E}">
        <p14:creationId xmlns:p14="http://schemas.microsoft.com/office/powerpoint/2010/main" val="507408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BSE import support and current boundaries">
            <a:extLst xmlns:a="http://schemas.openxmlformats.org/drawingml/2006/main">
              <a:ext uri="{FF2B5EF4-FFF2-40B4-BE49-F238E27FC236}">
                <a16:creationId xmlns:a16="http://schemas.microsoft.com/office/drawing/2014/main" id="{4DFB3350-0DAF-49B8-92E3-0F54499F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MBSE import support and current boundaries</a:t>
            </a:r>
          </a:p>
        </p:txBody>
      </p:sp>
      <p:sp>
        <p:nvSpPr>
          <p:cNvPr id="2" name="Model interchange is available; full language semantics require further acc">
            <a:extLst xmlns:a="http://schemas.openxmlformats.org/drawingml/2006/main">
              <a:ext uri="{FF2B5EF4-FFF2-40B4-BE49-F238E27FC236}">
                <a16:creationId xmlns:a16="http://schemas.microsoft.com/office/drawing/2014/main" id="{9C079BFD-DF2C-4FB2-A5DD-D276CD8A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Model interchange is available; full language semantics require further acceptance work.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90B088A2-0271-4789-90F7-106960AD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321836D2-F698-4074-AFDC-5B28326A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14DB2-BBA3-4254-A622-C5AB5AE7A9DC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2914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381500"/>
                <a:gridCol w="3810000"/>
              </a:tblGrid>
              <a:tr h="7286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support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retained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286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SysML v1 model export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Governed XMI import and versioned mapping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Element IDs, types, attributes and extracted links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86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SysML v2 repository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Configured commit snapshot or element JSON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Project/commit identity and normalized model records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286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ReqIF requirements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Requirements, hierarchy and extracted references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Original source and relationship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urrent boundaries">
            <a:extLst xmlns:a="http://schemas.openxmlformats.org/drawingml/2006/main">
              <a:ext uri="{FF2B5EF4-FFF2-40B4-BE49-F238E27FC236}">
                <a16:creationId xmlns:a16="http://schemas.microsoft.com/office/drawing/2014/main" id="{8CFD06A9-E752-4D81-A400-70F07FC1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Current boundaries</a:t>
            </a:r>
          </a:p>
        </p:txBody>
      </p:sp>
      <p:sp>
        <p:nvSpPr>
          <p:cNvPr id="7" name="Full SysML conformance, .sysml textual syntax, incremental synchronization ">
            <a:extLst xmlns:a="http://schemas.openxmlformats.org/drawingml/2006/main">
              <a:ext uri="{FF2B5EF4-FFF2-40B4-BE49-F238E27FC236}">
                <a16:creationId xmlns:a16="http://schemas.microsoft.com/office/drawing/2014/main" id="{CECF55FF-F5A6-4030-AA85-F5B676A6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11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Full SysML conformance, .sysml textual syntax, incremental synchronization and complete behavior/port semantics are not established.</a:t>
            </a:r>
          </a:p>
        </p:txBody>
      </p:sp>
    </p:spTree>
    <p:extLst>
      <p:ext uri="{BB962C8B-B14F-4D97-AF65-F5344CB8AC3E}">
        <p14:creationId xmlns:p14="http://schemas.microsoft.com/office/powerpoint/2010/main" val="13877960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ngineering change and verification impact">
            <a:extLst xmlns:a="http://schemas.openxmlformats.org/drawingml/2006/main">
              <a:ext uri="{FF2B5EF4-FFF2-40B4-BE49-F238E27FC236}">
                <a16:creationId xmlns:a16="http://schemas.microsoft.com/office/drawing/2014/main" id="{6E59EEDB-1FCC-4861-AADA-09C55C59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Engineering change and verification impact</a:t>
            </a:r>
          </a:p>
        </p:txBody>
      </p:sp>
      <p:sp>
        <p:nvSpPr>
          <p:cNvPr id="2" name="Illustrative change: a shaft diameter is revised in the product design.">
            <a:extLst xmlns:a="http://schemas.openxmlformats.org/drawingml/2006/main">
              <a:ext uri="{FF2B5EF4-FFF2-40B4-BE49-F238E27FC236}">
                <a16:creationId xmlns:a16="http://schemas.microsoft.com/office/drawing/2014/main" id="{731C707E-1130-4A5A-9293-6E49183F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Illustrative change: a shaft diameter is revised in the product design.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3FAB2F7E-2D22-4351-AA6D-8C165722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662102AE-2E12-4B86-AB81-0008886C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CF046-DDE6-4EC9-843B-9A1C5ABEB750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4191000"/>
                <a:gridCol w="3905250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step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question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to inspect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Requirement / MBSE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Which intent or model context is connected?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Imported requirements and approved trace links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Product design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Which assemblies and revisions use this part?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Assembly structure and where-used paths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Which characteristic or inspection reference is affected?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Reviewed design-to-quality mappings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Release decision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Who must assess and accept the change?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Owner, reviewer, affected evidence and recorded decision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An impact path is only as complete as the imported relationships and approv">
            <a:extLst xmlns:a="http://schemas.openxmlformats.org/drawingml/2006/main">
              <a:ext uri="{FF2B5EF4-FFF2-40B4-BE49-F238E27FC236}">
                <a16:creationId xmlns:a16="http://schemas.microsoft.com/office/drawing/2014/main" id="{4E31C23E-8E53-4AB8-A15C-8EDF800A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An impact path is only as complete as the imported relationships and approved mappings.</a:t>
            </a:r>
          </a:p>
        </p:txBody>
      </p:sp>
    </p:spTree>
    <p:extLst>
      <p:ext uri="{BB962C8B-B14F-4D97-AF65-F5344CB8AC3E}">
        <p14:creationId xmlns:p14="http://schemas.microsoft.com/office/powerpoint/2010/main" val="4075905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hat the agent contributes">
            <a:extLst xmlns:a="http://schemas.openxmlformats.org/drawingml/2006/main">
              <a:ext uri="{FF2B5EF4-FFF2-40B4-BE49-F238E27FC236}">
                <a16:creationId xmlns:a16="http://schemas.microsoft.com/office/drawing/2014/main" id="{741027A3-F78A-45E0-833B-97251C48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What the agent contributes</a:t>
            </a:r>
          </a:p>
        </p:txBody>
      </p:sp>
      <p:sp>
        <p:nvSpPr>
          <p:cNvPr id="2" name="The user should see the evidence behind a recommendation and the next requi">
            <a:extLst xmlns:a="http://schemas.openxmlformats.org/drawingml/2006/main">
              <a:ext uri="{FF2B5EF4-FFF2-40B4-BE49-F238E27FC236}">
                <a16:creationId xmlns:a16="http://schemas.microsoft.com/office/drawing/2014/main" id="{9819E6C0-9072-44AE-8496-DD1C7F5F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user should see the evidence behind a recommendation and the next required action.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333AE8F1-3353-4739-A29E-E777328F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B12D7912-5FFF-49D2-9A44-BFADE58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23264-E525-4F28-95E3-28D9370EB311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524375"/>
                <a:gridCol w="3714750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Agent activity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Visible contribution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value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Understand context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Inspect source metadata and available graph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Avoid interpreting a record without its domain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Plan the work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Break the request into permitted operations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Make the intended work understandable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Execute allowed tools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Produce candidates, validation results and retained artifacts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Reduce manual navigation and comparison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Retain state and recover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Show job status, failures and previous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Resume safely without repeating an uncertain write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A recommendation is not approval. Unsupported mappings and uncertain outcom">
            <a:extLst xmlns:a="http://schemas.openxmlformats.org/drawingml/2006/main">
              <a:ext uri="{FF2B5EF4-FFF2-40B4-BE49-F238E27FC236}">
                <a16:creationId xmlns:a16="http://schemas.microsoft.com/office/drawing/2014/main" id="{7537BADC-A49A-4465-8255-D82DC706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A recommendation is not approval. Unsupported mappings and uncertain outcomes must remain held.</a:t>
            </a:r>
          </a:p>
        </p:txBody>
      </p:sp>
    </p:spTree>
    <p:extLst>
      <p:ext uri="{BB962C8B-B14F-4D97-AF65-F5344CB8AC3E}">
        <p14:creationId xmlns:p14="http://schemas.microsoft.com/office/powerpoint/2010/main" val="6478476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a flow, data products and the catalog">
            <a:extLst xmlns:a="http://schemas.openxmlformats.org/drawingml/2006/main">
              <a:ext uri="{FF2B5EF4-FFF2-40B4-BE49-F238E27FC236}">
                <a16:creationId xmlns:a16="http://schemas.microsoft.com/office/drawing/2014/main" id="{B1136D8F-A0AC-4C3E-BA8B-EBA845BD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Data flow, data products and the catalog</a:t>
            </a:r>
          </a:p>
        </p:txBody>
      </p:sp>
      <p:sp>
        <p:nvSpPr>
          <p:cNvPr id="2" name="Ingested data does not automatically become a published data product.">
            <a:extLst xmlns:a="http://schemas.openxmlformats.org/drawingml/2006/main">
              <a:ext uri="{FF2B5EF4-FFF2-40B4-BE49-F238E27FC236}">
                <a16:creationId xmlns:a16="http://schemas.microsoft.com/office/drawing/2014/main" id="{C6018F35-3BF7-4345-9FA7-184C8668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Ingested data does not automatically become a published data product.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4C70EC3A-4C52-4DC5-824A-4CDF0A60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4">
            <a:extLst xmlns:a="http://schemas.openxmlformats.org/drawingml/2006/main">
              <a:ext uri="{FF2B5EF4-FFF2-40B4-BE49-F238E27FC236}">
                <a16:creationId xmlns:a16="http://schemas.microsoft.com/office/drawing/2014/main" id="{59EEC093-77CA-4886-97BF-89EADC6A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AB33D-D604-486F-8AD4-CF80AA82B1E4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524375"/>
                <a:gridCol w="347662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business user gets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Where it belongs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Imported source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retained source and its import outcome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Import history and ingested-data inventory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flow / quality job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Transformation or profiling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Flow run and retained outputs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Data-product draft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Proposed package, owner, version and semantic dependencies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Products review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Published data product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Approved reusable package and delivery status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Products and catalog registration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The catalog supports discovery of governed products; import inventory answe">
            <a:extLst xmlns:a="http://schemas.openxmlformats.org/drawingml/2006/main">
              <a:ext uri="{FF2B5EF4-FFF2-40B4-BE49-F238E27FC236}">
                <a16:creationId xmlns:a16="http://schemas.microsoft.com/office/drawing/2014/main" id="{DC056422-8639-4BA9-BB84-132C560E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The catalog supports discovery of governed products; import inventory answers what has been ingested.</a:t>
            </a:r>
          </a:p>
        </p:txBody>
      </p:sp>
    </p:spTree>
    <p:extLst>
      <p:ext uri="{BB962C8B-B14F-4D97-AF65-F5344CB8AC3E}">
        <p14:creationId xmlns:p14="http://schemas.microsoft.com/office/powerpoint/2010/main" val="25126384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nalytics schema, dimensions and KPIs">
            <a:extLst xmlns:a="http://schemas.openxmlformats.org/drawingml/2006/main">
              <a:ext uri="{FF2B5EF4-FFF2-40B4-BE49-F238E27FC236}">
                <a16:creationId xmlns:a16="http://schemas.microsoft.com/office/drawing/2014/main" id="{60B7A27E-A77B-4D91-BEAD-62472153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Analytics schema, dimensions and KPIs</a:t>
            </a:r>
          </a:p>
        </p:txBody>
      </p:sp>
      <p:sp>
        <p:nvSpPr>
          <p:cNvPr id="2" name="Schema conversion provides design evidence; business measures need agreed d">
            <a:extLst xmlns:a="http://schemas.openxmlformats.org/drawingml/2006/main">
              <a:ext uri="{FF2B5EF4-FFF2-40B4-BE49-F238E27FC236}">
                <a16:creationId xmlns:a16="http://schemas.microsoft.com/office/drawing/2014/main" id="{8C42A4BD-9445-468E-B151-9FC0DF1C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Schema conversion provides design evidence; business measures need agreed definitions.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F2E73B13-CFBB-4C98-BA20-164BB0AA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5">
            <a:extLst xmlns:a="http://schemas.openxmlformats.org/drawingml/2006/main">
              <a:ext uri="{FF2B5EF4-FFF2-40B4-BE49-F238E27FC236}">
                <a16:creationId xmlns:a16="http://schemas.microsoft.com/office/drawing/2014/main" id="{E53BE3AA-2E5E-4B1D-8453-307E641E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B531D-495F-413D-950B-B659477486E5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429125"/>
                <a:gridCol w="376237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Design decision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example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must be agreed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Grain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One row per inspection characteristic result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The event or object each row represents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Dimensions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Product revision, site, supplier, date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Stable keys, history and source ownership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Measures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Measured value and accepted/rejected result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Units, validity and aggregation rules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KPI definition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Acceptance rate = accepted / valid inspections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Business formula, exclusions and accountable owner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The examples illustrate analytics design; they are not automatically deploy">
            <a:extLst xmlns:a="http://schemas.openxmlformats.org/drawingml/2006/main">
              <a:ext uri="{FF2B5EF4-FFF2-40B4-BE49-F238E27FC236}">
                <a16:creationId xmlns:a16="http://schemas.microsoft.com/office/drawing/2014/main" id="{191448C9-44B4-4E08-8983-922C033F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The examples illustrate analytics design; they are not automatically deployed or measured KPIs.</a:t>
            </a:r>
          </a:p>
        </p:txBody>
      </p:sp>
    </p:spTree>
    <p:extLst>
      <p:ext uri="{BB962C8B-B14F-4D97-AF65-F5344CB8AC3E}">
        <p14:creationId xmlns:p14="http://schemas.microsoft.com/office/powerpoint/2010/main" val="147864675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usiness ownership and approval">
            <a:extLst xmlns:a="http://schemas.openxmlformats.org/drawingml/2006/main">
              <a:ext uri="{FF2B5EF4-FFF2-40B4-BE49-F238E27FC236}">
                <a16:creationId xmlns:a16="http://schemas.microsoft.com/office/drawing/2014/main" id="{96C41D80-E682-451D-8E1F-54153188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Business ownership and approval</a:t>
            </a:r>
          </a:p>
        </p:txBody>
      </p:sp>
      <p:sp>
        <p:nvSpPr>
          <p:cNvPr id="2" name="These operating responsibilities must be assigned for each customer deploym">
            <a:extLst xmlns:a="http://schemas.openxmlformats.org/drawingml/2006/main">
              <a:ext uri="{FF2B5EF4-FFF2-40B4-BE49-F238E27FC236}">
                <a16:creationId xmlns:a16="http://schemas.microsoft.com/office/drawing/2014/main" id="{C1C07B97-7603-4981-9743-4A122627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These operating responsibilities must be assigned for each customer deployment.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015C75FD-9C98-482B-8B5C-3774D220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6">
            <a:extLst xmlns:a="http://schemas.openxmlformats.org/drawingml/2006/main">
              <a:ext uri="{FF2B5EF4-FFF2-40B4-BE49-F238E27FC236}">
                <a16:creationId xmlns:a16="http://schemas.microsoft.com/office/drawing/2014/main" id="{6B51A045-BC62-4FD2-BF8E-19E1A9AC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0E657-07D7-47DD-A95E-68426F81D6A6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572000"/>
                <a:gridCol w="347662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Responsibility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person reviews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Accountable result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engineer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completeness, version and intended use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usable, traceable import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Domain steward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Definitions, proposed mappings and conflicts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vocabulary appropriate to the domain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Authorized approver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The exact reviewed change and supporting checks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 recorded approval or a held decision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Data-product owner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Package purpose, quality, access and reuse conditions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An owned and versioned reusable product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Access configuration authorizes actions; customers still define their organ">
            <a:extLst xmlns:a="http://schemas.openxmlformats.org/drawingml/2006/main">
              <a:ext uri="{FF2B5EF4-FFF2-40B4-BE49-F238E27FC236}">
                <a16:creationId xmlns:a16="http://schemas.microsoft.com/office/drawing/2014/main" id="{8D74464C-EF3B-453A-ABDC-E6D95A16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Access configuration authorizes actions; customers still define their organizational approval responsibilities.</a:t>
            </a:r>
          </a:p>
        </p:txBody>
      </p:sp>
    </p:spTree>
    <p:extLst>
      <p:ext uri="{BB962C8B-B14F-4D97-AF65-F5344CB8AC3E}">
        <p14:creationId xmlns:p14="http://schemas.microsoft.com/office/powerpoint/2010/main" val="17221940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Measure business value in a pilot">
            <a:extLst xmlns:a="http://schemas.openxmlformats.org/drawingml/2006/main">
              <a:ext uri="{FF2B5EF4-FFF2-40B4-BE49-F238E27FC236}">
                <a16:creationId xmlns:a16="http://schemas.microsoft.com/office/drawing/2014/main" id="{015FE42E-05E0-4064-BCF4-4BC0E7FF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Measure business value in a pilot</a:t>
            </a:r>
          </a:p>
        </p:txBody>
      </p:sp>
      <p:sp>
        <p:nvSpPr>
          <p:cNvPr id="2" name="Establish a baseline before claiming productivity or quality improvements.">
            <a:extLst xmlns:a="http://schemas.openxmlformats.org/drawingml/2006/main">
              <a:ext uri="{FF2B5EF4-FFF2-40B4-BE49-F238E27FC236}">
                <a16:creationId xmlns:a16="http://schemas.microsoft.com/office/drawing/2014/main" id="{CA54CCF6-E0B4-4A65-AB47-9B44B54A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Establish a baseline before claiming productivity or quality improvements.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44907170-E22B-4469-8A34-7E522DC6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7">
            <a:extLst xmlns:a="http://schemas.openxmlformats.org/drawingml/2006/main">
              <a:ext uri="{FF2B5EF4-FFF2-40B4-BE49-F238E27FC236}">
                <a16:creationId xmlns:a16="http://schemas.microsoft.com/office/drawing/2014/main" id="{AE9C4FDC-2736-41F0-8ACD-16ADF638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EE8F8-2191-40D9-8016-FAB3568BDBF2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476750"/>
                <a:gridCol w="357187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goal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Suggested measurement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required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Faster change review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Elapsed time to assemble an impact assessment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Comparable cases before and during the pilot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Better traceability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Reviewed links versus expected links in a defined scope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An agreed expected relationship matrix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More reusable data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Approved products actually found and reused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Catalog records plus consumer feedback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Less mapping rework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Corrections after review and reasons for held mappings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Saved proposals, decisions and validation findings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These are proposed pilot measures, not achieved performance or return-on-in">
            <a:extLst xmlns:a="http://schemas.openxmlformats.org/drawingml/2006/main">
              <a:ext uri="{FF2B5EF4-FFF2-40B4-BE49-F238E27FC236}">
                <a16:creationId xmlns:a16="http://schemas.microsoft.com/office/drawing/2014/main" id="{A4040FCA-9584-417A-93A1-CDCD9E6A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These are proposed pilot measures, not achieved performance or return-on-investment claims.</a:t>
            </a:r>
          </a:p>
        </p:txBody>
      </p:sp>
    </p:spTree>
    <p:extLst>
      <p:ext uri="{BB962C8B-B14F-4D97-AF65-F5344CB8AC3E}">
        <p14:creationId xmlns:p14="http://schemas.microsoft.com/office/powerpoint/2010/main" val="125815624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 practical customer pilot">
            <a:extLst xmlns:a="http://schemas.openxmlformats.org/drawingml/2006/main">
              <a:ext uri="{FF2B5EF4-FFF2-40B4-BE49-F238E27FC236}">
                <a16:creationId xmlns:a16="http://schemas.microsoft.com/office/drawing/2014/main" id="{CAD39939-C721-40A1-B63C-D20A4D0A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 practical customer pilot</a:t>
            </a:r>
          </a:p>
        </p:txBody>
      </p:sp>
      <p:sp>
        <p:nvSpPr>
          <p:cNvPr id="2" name="Keep the initial scope small enough to verify every required relationship.">
            <a:extLst xmlns:a="http://schemas.openxmlformats.org/drawingml/2006/main">
              <a:ext uri="{FF2B5EF4-FFF2-40B4-BE49-F238E27FC236}">
                <a16:creationId xmlns:a16="http://schemas.microsoft.com/office/drawing/2014/main" id="{EBA42866-A831-4A72-B78B-03CC4CDF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Keep the initial scope small enough to verify every required relationship.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4656D334-BABD-4568-BB35-2299AF6D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8">
            <a:extLst xmlns:a="http://schemas.openxmlformats.org/drawingml/2006/main">
              <a:ext uri="{FF2B5EF4-FFF2-40B4-BE49-F238E27FC236}">
                <a16:creationId xmlns:a16="http://schemas.microsoft.com/office/drawing/2014/main" id="{999698E3-3275-4ADE-904F-2B4F911F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C1793EF9-C314-4EFE-B481-5CC9885A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Choose one product or assembly">
            <a:extLst xmlns:a="http://schemas.openxmlformats.org/drawingml/2006/main">
              <a:ext uri="{FF2B5EF4-FFF2-40B4-BE49-F238E27FC236}">
                <a16:creationId xmlns:a16="http://schemas.microsoft.com/office/drawing/2014/main" id="{E5B1A56F-5567-4E2D-B56E-788BAF8E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Choose one product or assembly</a:t>
            </a:r>
          </a:p>
        </p:txBody>
      </p:sp>
      <p:sp>
        <p:nvSpPr>
          <p:cNvPr id="7" name="Include its PLM/design data, one model snapshot and relevant requirements o">
            <a:extLst xmlns:a="http://schemas.openxmlformats.org/drawingml/2006/main">
              <a:ext uri="{FF2B5EF4-FFF2-40B4-BE49-F238E27FC236}">
                <a16:creationId xmlns:a16="http://schemas.microsoft.com/office/drawing/2014/main" id="{66C2A894-96CF-4B63-9EC6-69EBC325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526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Include its PLM/design data, one model snapshot and relevant requirements or quality evidence.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3AC885D5-2BC8-4B60-AD0F-F3A78BC2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432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Agree the expected domain relationships">
            <a:extLst xmlns:a="http://schemas.openxmlformats.org/drawingml/2006/main">
              <a:ext uri="{FF2B5EF4-FFF2-40B4-BE49-F238E27FC236}">
                <a16:creationId xmlns:a16="http://schemas.microsoft.com/office/drawing/2014/main" id="{8B0827F8-65D1-4BCF-A4BC-F474813D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9432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Agree the expected domain relationships</a:t>
            </a:r>
          </a:p>
        </p:txBody>
      </p:sp>
      <p:sp>
        <p:nvSpPr>
          <p:cNvPr id="10" name="Define exact source versions, identities, vocabulary and the expected trace">
            <a:extLst xmlns:a="http://schemas.openxmlformats.org/drawingml/2006/main">
              <a:ext uri="{FF2B5EF4-FFF2-40B4-BE49-F238E27FC236}">
                <a16:creationId xmlns:a16="http://schemas.microsoft.com/office/drawing/2014/main" id="{FD030CCF-E220-4D8A-B96E-D528241F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432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Define exact source versions, identities, vocabulary and the expected traceability matrix.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764F25F5-F3F4-4386-9A41-90F811DB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Run the governed workflow">
            <a:extLst xmlns:a="http://schemas.openxmlformats.org/drawingml/2006/main">
              <a:ext uri="{FF2B5EF4-FFF2-40B4-BE49-F238E27FC236}">
                <a16:creationId xmlns:a16="http://schemas.microsoft.com/office/drawing/2014/main" id="{698FE100-5337-44B6-A327-31312E89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338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Run the governed workflow</a:t>
            </a:r>
          </a:p>
        </p:txBody>
      </p:sp>
      <p:sp>
        <p:nvSpPr>
          <p:cNvPr id="13" name="Import, inspect, map, validate and approve; check publication evidence and ">
            <a:extLst xmlns:a="http://schemas.openxmlformats.org/drawingml/2006/main">
              <a:ext uri="{FF2B5EF4-FFF2-40B4-BE49-F238E27FC236}">
                <a16:creationId xmlns:a16="http://schemas.microsoft.com/office/drawing/2014/main" id="{03C19680-3B79-40BA-9A8C-CEC792C7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338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Import, inspect, map, validate and approve; check publication evidence and representative queries.</a:t>
            </a:r>
          </a:p>
        </p:txBody>
      </p:sp>
      <p:sp>
        <p:nvSpPr>
          <p:cNvPr id="14" name="04">
            <a:extLst xmlns:a="http://schemas.openxmlformats.org/drawingml/2006/main">
              <a:ext uri="{FF2B5EF4-FFF2-40B4-BE49-F238E27FC236}">
                <a16:creationId xmlns:a16="http://schemas.microsoft.com/office/drawing/2014/main" id="{C0BC83DA-DFB8-405A-8D9D-BB8C6AC6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Accept with evidence">
            <a:extLst xmlns:a="http://schemas.openxmlformats.org/drawingml/2006/main">
              <a:ext uri="{FF2B5EF4-FFF2-40B4-BE49-F238E27FC236}">
                <a16:creationId xmlns:a16="http://schemas.microsoft.com/office/drawing/2014/main" id="{94B6F5E6-B306-4BF4-8214-25E091A2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924425"/>
            <a:ext cx="976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Accept with evidence</a:t>
            </a:r>
          </a:p>
        </p:txBody>
      </p:sp>
      <p:sp>
        <p:nvSpPr>
          <p:cNvPr id="16" name="Verify identity/count completeness, business usefulness, access and recover">
            <a:extLst xmlns:a="http://schemas.openxmlformats.org/drawingml/2006/main">
              <a:ext uri="{FF2B5EF4-FFF2-40B4-BE49-F238E27FC236}">
                <a16:creationId xmlns:a16="http://schemas.microsoft.com/office/drawing/2014/main" id="{FA3ADFDB-A85F-4069-9BEF-AA7EB0FD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324475"/>
            <a:ext cx="9763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Verify identity/count completeness, business usefulness, access and recovery before expanding scope.</a:t>
            </a:r>
          </a:p>
        </p:txBody>
      </p:sp>
    </p:spTree>
    <p:extLst>
      <p:ext uri="{BB962C8B-B14F-4D97-AF65-F5344CB8AC3E}">
        <p14:creationId xmlns:p14="http://schemas.microsoft.com/office/powerpoint/2010/main" val="20223177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chnical responsibilities behind the workflow">
            <a:extLst xmlns:a="http://schemas.openxmlformats.org/drawingml/2006/main">
              <a:ext uri="{FF2B5EF4-FFF2-40B4-BE49-F238E27FC236}">
                <a16:creationId xmlns:a16="http://schemas.microsoft.com/office/drawing/2014/main" id="{6DEE0790-77A1-43A0-A0C8-E2FA1144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Technical responsibilities behind the workflow</a:t>
            </a:r>
          </a:p>
        </p:txBody>
      </p:sp>
      <p:sp>
        <p:nvSpPr>
          <p:cNvPr id="2" name="Ten APIs and three workers separate capture, governance, execution and deli">
            <a:extLst xmlns:a="http://schemas.openxmlformats.org/drawingml/2006/main">
              <a:ext uri="{FF2B5EF4-FFF2-40B4-BE49-F238E27FC236}">
                <a16:creationId xmlns:a16="http://schemas.microsoft.com/office/drawing/2014/main" id="{0747C68A-4553-4AD5-A594-2DB688E7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Ten APIs and three workers separate capture, governance, execution and delivery.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751D140D-93C2-4883-9006-135BF18A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19">
            <a:extLst xmlns:a="http://schemas.openxmlformats.org/drawingml/2006/main">
              <a:ext uri="{FF2B5EF4-FFF2-40B4-BE49-F238E27FC236}">
                <a16:creationId xmlns:a16="http://schemas.microsoft.com/office/drawing/2014/main" id="{03B08E18-BF96-4F26-8829-C7BA8214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02979-EDC8-4F05-B2BA-FD9B989FE495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05125"/>
                <a:gridCol w="4714875"/>
                <a:gridCol w="3429000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Responsibility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Owning services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Business-facing result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Capture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sets 8010; ingestion 8014; OSLC 8015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artifacts and model context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Govern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Ontology 8011; CEIM 8018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Vocabulary, semantic checks and approved mappings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Assist and execute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Agentic 8012; data pipeline 8019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Retained jobs, plans and evidence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Publish and discover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Graph 8013; products 8017; catalog 8016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Graph receipts and discoverable packages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Workers execute agentic workflows, data-pipeline jobs and data-product cata">
            <a:extLst xmlns:a="http://schemas.openxmlformats.org/drawingml/2006/main">
              <a:ext uri="{FF2B5EF4-FFF2-40B4-BE49-F238E27FC236}">
                <a16:creationId xmlns:a16="http://schemas.microsoft.com/office/drawing/2014/main" id="{94FC90EF-BC1A-435F-97BB-85D6E8A1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Workers execute agentic workflows, data-pipeline jobs and data-product catalog delivery.</a:t>
            </a:r>
          </a:p>
        </p:txBody>
      </p:sp>
    </p:spTree>
    <p:extLst>
      <p:ext uri="{BB962C8B-B14F-4D97-AF65-F5344CB8AC3E}">
        <p14:creationId xmlns:p14="http://schemas.microsoft.com/office/powerpoint/2010/main" val="16351515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a ownership and evidence">
            <a:extLst xmlns:a="http://schemas.openxmlformats.org/drawingml/2006/main">
              <a:ext uri="{FF2B5EF4-FFF2-40B4-BE49-F238E27FC236}">
                <a16:creationId xmlns:a16="http://schemas.microsoft.com/office/drawing/2014/main" id="{0B0AFD96-6899-41A4-BC7B-EA97100F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Data ownership and evidence</a:t>
            </a:r>
          </a:p>
        </p:txBody>
      </p:sp>
      <p:sp>
        <p:nvSpPr>
          <p:cNvPr id="2" name="PostgreSQL, artifact storage and Neo4j have different responsibilities.">
            <a:extLst xmlns:a="http://schemas.openxmlformats.org/drawingml/2006/main">
              <a:ext uri="{FF2B5EF4-FFF2-40B4-BE49-F238E27FC236}">
                <a16:creationId xmlns:a16="http://schemas.microsoft.com/office/drawing/2014/main" id="{8F65CA24-0FB9-433B-A963-9E115C3B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PostgreSQL, artifact storage and Neo4j have different responsibilities.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C0DCB652-C951-4628-AC88-49A9EB16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2A129507-7150-45D6-908F-84F45797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C6ED9-0F18-4387-A25C-E78AE1E6517B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905375"/>
                <a:gridCol w="3333750"/>
              </a:tblGrid>
              <a:tr h="7977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Store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owns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Operational requirement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PostgreSQL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Workflow/registry state, credential digests and migration history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migrations, privileges and tested restore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Artifact storage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Retained sources, generated files and evidence references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Durable paths, permissions and backup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Neo4j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Published ontology/instance projections and graph receipts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provisioning, capacity and receipt reconciliation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 retained artifact, a registered ontology and an active graph publication ">
            <a:extLst xmlns:a="http://schemas.openxmlformats.org/drawingml/2006/main">
              <a:ext uri="{FF2B5EF4-FFF2-40B4-BE49-F238E27FC236}">
                <a16:creationId xmlns:a16="http://schemas.microsoft.com/office/drawing/2014/main" id="{9A1D464A-D7E6-422F-9B95-2CC64160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A retained artifact, a registered ontology and an active graph publication are distinct outcomes.</a:t>
            </a:r>
          </a:p>
        </p:txBody>
      </p:sp>
    </p:spTree>
    <p:extLst>
      <p:ext uri="{BB962C8B-B14F-4D97-AF65-F5344CB8AC3E}">
        <p14:creationId xmlns:p14="http://schemas.microsoft.com/office/powerpoint/2010/main" val="4669468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uthentication and credential synchronization">
            <a:extLst xmlns:a="http://schemas.openxmlformats.org/drawingml/2006/main">
              <a:ext uri="{FF2B5EF4-FFF2-40B4-BE49-F238E27FC236}">
                <a16:creationId xmlns:a16="http://schemas.microsoft.com/office/drawing/2014/main" id="{9E0F80AE-4099-48F4-B0D1-79521502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Authentication and credential synchronization</a:t>
            </a:r>
          </a:p>
        </p:txBody>
      </p:sp>
      <p:sp>
        <p:nvSpPr>
          <p:cNvPr id="2" name="Local workstation access and manual/gateway access use configurable flows.">
            <a:extLst xmlns:a="http://schemas.openxmlformats.org/drawingml/2006/main">
              <a:ext uri="{FF2B5EF4-FFF2-40B4-BE49-F238E27FC236}">
                <a16:creationId xmlns:a16="http://schemas.microsoft.com/office/drawing/2014/main" id="{B7E0DD91-12BA-43D0-91DE-DDC936E0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Local workstation access and manual/gateway access use configurable flows.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68581158-540D-44E8-83B2-2B315B8E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21">
            <a:extLst xmlns:a="http://schemas.openxmlformats.org/drawingml/2006/main">
              <a:ext uri="{FF2B5EF4-FFF2-40B4-BE49-F238E27FC236}">
                <a16:creationId xmlns:a16="http://schemas.microsoft.com/office/drawing/2014/main" id="{E5E980C8-B52A-43EF-97A4-125FD094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5594A-88CE-47A5-B80F-AA08F75953F9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95625"/>
                <a:gridCol w="795337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Concern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behavior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Local browser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Same-origin launcher issues delegated access; explicit logout remains disconnected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Guided setup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Synchronizes supplied central application profiles from root .env.local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Unchanged credentials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Matching keys and omitted profiles are retained; changed keys require reconnect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Validation-only choice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CredentialPolicy Validate rejects replacements; advanced installer defaults to validation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Server/provider secrets remain outside the browser build. Session recovery ">
            <a:extLst xmlns:a="http://schemas.openxmlformats.org/drawingml/2006/main">
              <a:ext uri="{FF2B5EF4-FFF2-40B4-BE49-F238E27FC236}">
                <a16:creationId xmlns:a16="http://schemas.microsoft.com/office/drawing/2014/main" id="{D61B5E70-C31A-4CEA-B860-C5FA87E9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Server/provider secrets remain outside the browser build. Session recovery does not replay failed writes.</a:t>
            </a:r>
          </a:p>
        </p:txBody>
      </p:sp>
    </p:spTree>
    <p:extLst>
      <p:ext uri="{BB962C8B-B14F-4D97-AF65-F5344CB8AC3E}">
        <p14:creationId xmlns:p14="http://schemas.microsoft.com/office/powerpoint/2010/main" val="4093815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Installation and update sequence">
            <a:extLst xmlns:a="http://schemas.openxmlformats.org/drawingml/2006/main">
              <a:ext uri="{FF2B5EF4-FFF2-40B4-BE49-F238E27FC236}">
                <a16:creationId xmlns:a16="http://schemas.microsoft.com/office/drawing/2014/main" id="{7BEE866B-971A-4AD8-8D0A-4FB77DE7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Installation and update sequence</a:t>
            </a:r>
          </a:p>
        </p:txBody>
      </p:sp>
      <p:sp>
        <p:nvSpPr>
          <p:cNvPr id="2" name="Customer entry point: Setup-DEPO.cmd; use the complete matching release.">
            <a:extLst xmlns:a="http://schemas.openxmlformats.org/drawingml/2006/main">
              <a:ext uri="{FF2B5EF4-FFF2-40B4-BE49-F238E27FC236}">
                <a16:creationId xmlns:a16="http://schemas.microsoft.com/office/drawing/2014/main" id="{A3E85BAC-1C6B-4DE1-8B32-63A6F78D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Customer entry point: Setup-DEPO.cmd; use the complete matching release.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083547EB-3A5F-4A91-BB27-2A1041A5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22">
            <a:extLst xmlns:a="http://schemas.openxmlformats.org/drawingml/2006/main">
              <a:ext uri="{FF2B5EF4-FFF2-40B4-BE49-F238E27FC236}">
                <a16:creationId xmlns:a16="http://schemas.microsoft.com/office/drawing/2014/main" id="{1C2C4711-A8FE-4C1D-9CEB-E975006D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FAA8A-E9C2-4AB6-AEBA-04B79B4A8BC6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4857750"/>
                <a:gridCol w="404812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Sequence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Verification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Prepare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Python 3.12 x64, Node.js 24+, PostgreSQL 16 and Neo4j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Database/role, paths, permissions and backup ready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Preflight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 release, configuration and upgrade prerequisites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Checks pass before stopping tracked application processes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Update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Dependencies/build, PostgreSQL migrations and credential policy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Corrected schema and verified central profiles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Start and accept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Neo4j schema provisioning, APIs/workers and frontend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Ready services plus a completed business workflow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Database servers remain running during application shutdown. Correct failed">
            <a:extLst xmlns:a="http://schemas.openxmlformats.org/drawingml/2006/main">
              <a:ext uri="{FF2B5EF4-FFF2-40B4-BE49-F238E27FC236}">
                <a16:creationId xmlns:a16="http://schemas.microsoft.com/office/drawing/2014/main" id="{4EDE8246-17F1-4FFA-9CD5-69781379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Database servers remain running during application shutdown. Correct failed stages and rerun setup.</a:t>
            </a:r>
          </a:p>
        </p:txBody>
      </p:sp>
    </p:spTree>
    <p:extLst>
      <p:ext uri="{BB962C8B-B14F-4D97-AF65-F5344CB8AC3E}">
        <p14:creationId xmlns:p14="http://schemas.microsoft.com/office/powerpoint/2010/main" val="3511396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arge ontology operating boundaries">
            <a:extLst xmlns:a="http://schemas.openxmlformats.org/drawingml/2006/main">
              <a:ext uri="{FF2B5EF4-FFF2-40B4-BE49-F238E27FC236}">
                <a16:creationId xmlns:a16="http://schemas.microsoft.com/office/drawing/2014/main" id="{3D7B5F96-E04A-44A5-9DAC-14DDF3E0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Large ontology operating boundaries</a:t>
            </a:r>
          </a:p>
        </p:txBody>
      </p:sp>
      <p:sp>
        <p:nvSpPr>
          <p:cNvPr id="2" name="Administrative byte limits do not establish a supported production capacity">
            <a:extLst xmlns:a="http://schemas.openxmlformats.org/drawingml/2006/main">
              <a:ext uri="{FF2B5EF4-FFF2-40B4-BE49-F238E27FC236}">
                <a16:creationId xmlns:a16="http://schemas.microsoft.com/office/drawing/2014/main" id="{358CBBE5-D2FD-441B-B0B4-2C6C4FA5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Administrative byte limits do not establish a supported production capacity.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8F692C57-A820-4369-A448-91C2CBC4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23">
            <a:extLst xmlns:a="http://schemas.openxmlformats.org/drawingml/2006/main">
              <a:ext uri="{FF2B5EF4-FFF2-40B4-BE49-F238E27FC236}">
                <a16:creationId xmlns:a16="http://schemas.microsoft.com/office/drawing/2014/main" id="{7851CEBF-1211-4EBE-BAAE-2A5DB9AF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B3DDB-CA7F-4406-9833-47B4823AD35F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524375"/>
                <a:gridCol w="3476625"/>
              </a:tblGrid>
              <a:tr h="797719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Boundary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default or result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still needs acceptance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Shared artifact budget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25 MiB for upload/registration/publication; combined merge budget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Consistent settings across owning services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Generated worker result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256 MiB; configurable up to 1 GiB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Parser memory, temporary disk and concurrency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9771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Synthetic hierarchy check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25,000 classes; 74,999 triples; exact tested identities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Representative blank nodes, reasoning and live publication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Full-graph parsing and inference remain scale risks; million-triple custome">
            <a:extLst xmlns:a="http://schemas.openxmlformats.org/drawingml/2006/main">
              <a:ext uri="{FF2B5EF4-FFF2-40B4-BE49-F238E27FC236}">
                <a16:creationId xmlns:a16="http://schemas.microsoft.com/office/drawing/2014/main" id="{C8EC5D6A-BFCF-4467-988B-64272397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Full-graph parsing and inference remain scale risks; million-triple customer capacity is not certified.</a:t>
            </a:r>
          </a:p>
        </p:txBody>
      </p:sp>
    </p:spTree>
    <p:extLst>
      <p:ext uri="{BB962C8B-B14F-4D97-AF65-F5344CB8AC3E}">
        <p14:creationId xmlns:p14="http://schemas.microsoft.com/office/powerpoint/2010/main" val="160403728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ustomer release acceptance">
            <a:extLst xmlns:a="http://schemas.openxmlformats.org/drawingml/2006/main">
              <a:ext uri="{FF2B5EF4-FFF2-40B4-BE49-F238E27FC236}">
                <a16:creationId xmlns:a16="http://schemas.microsoft.com/office/drawing/2014/main" id="{AE3573F6-4261-4CEC-99DD-CC3F5CDA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Customer release acceptance</a:t>
            </a:r>
          </a:p>
        </p:txBody>
      </p:sp>
      <p:sp>
        <p:nvSpPr>
          <p:cNvPr id="2" name="Technical readiness and useful business outcomes require separate evidence.">
            <a:extLst xmlns:a="http://schemas.openxmlformats.org/drawingml/2006/main">
              <a:ext uri="{FF2B5EF4-FFF2-40B4-BE49-F238E27FC236}">
                <a16:creationId xmlns:a16="http://schemas.microsoft.com/office/drawing/2014/main" id="{A28BB42C-5D3D-42E3-A6A8-1A3740A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334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Technical readiness and useful business outcomes require separate evidence.</a:t>
            </a:r>
          </a:p>
        </p:txBody>
      </p:sp>
      <p:sp>
        <p:nvSpPr>
          <p:cNvPr id="3" name="DEPO / Digital thread">
            <a:extLst xmlns:a="http://schemas.openxmlformats.org/drawingml/2006/main">
              <a:ext uri="{FF2B5EF4-FFF2-40B4-BE49-F238E27FC236}">
                <a16:creationId xmlns:a16="http://schemas.microsoft.com/office/drawing/2014/main" id="{6B3BAE80-CAE4-4971-93E0-7ED8D855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674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/ Digital thread</a:t>
            </a:r>
          </a:p>
        </p:txBody>
      </p:sp>
      <p:sp>
        <p:nvSpPr>
          <p:cNvPr id="4" name="24">
            <a:extLst xmlns:a="http://schemas.openxmlformats.org/drawingml/2006/main">
              <a:ext uri="{FF2B5EF4-FFF2-40B4-BE49-F238E27FC236}">
                <a16:creationId xmlns:a16="http://schemas.microsoft.com/office/drawing/2014/main" id="{FFF07BAE-6284-46A8-B38C-A921BADA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6747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53DED-836C-48B2-92EE-F4DC05931A52}"/>
              </a:ext>
            </a:extLst>
          </p:cNvPr>
          <p:cNvGraphicFramePr/>
          <p:nvPr/>
        </p:nvGraphicFramePr>
        <p:xfrm>
          <a:off xmlns:a="http://schemas.openxmlformats.org/drawingml/2006/main" x="571500" y="1943100"/>
          <a:ext xmlns:a="http://schemas.openxmlformats.org/drawingml/2006/main" cx="110490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667625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Acceptance area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to retain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T w="6668">
                      <a:solidFill>
                        <a:srgbClr val="B9CCD5"/>
                      </a:solidFill>
                      <a:prstDash val="solid"/>
                    </a:lnT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0B21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Installation and recovery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Clean install/update, restart, failed-stage recovery and database/artifact restore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Semantic correctness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Expected classes, identities, links, validation findings and publication counts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MBSE interchange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Representative customer model, extracted links and known unsupported semantics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Business and AI use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B9CCD5"/>
                      </a:solidFill>
                      <a:prstDash val="solid"/>
                    </a:lnL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Useful evidence-backed answers; configured provider succeeds; no unsupported approval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B9CCD5"/>
                      </a:solidFill>
                      <a:prstDash val="solid"/>
                    </a:lnR>
                    <a:lnB w="6668">
                      <a:solidFill>
                        <a:srgbClr val="B9CCD5"/>
                      </a:solidFill>
                      <a:prstDash val="solid"/>
                    </a:lnB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Source regression tests support release preparation; customer-environment a">
            <a:extLst xmlns:a="http://schemas.openxmlformats.org/drawingml/2006/main">
              <a:ext uri="{FF2B5EF4-FFF2-40B4-BE49-F238E27FC236}">
                <a16:creationId xmlns:a16="http://schemas.microsoft.com/office/drawing/2014/main" id="{D868C330-125E-4CEE-A571-70F608AB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Source regression tests support release preparation; customer-environment acceptance remains necessary.</a:t>
            </a:r>
          </a:p>
        </p:txBody>
      </p:sp>
    </p:spTree>
    <p:extLst>
      <p:ext uri="{BB962C8B-B14F-4D97-AF65-F5344CB8AC3E}">
        <p14:creationId xmlns:p14="http://schemas.microsoft.com/office/powerpoint/2010/main" val="1700209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2026-10-21T16:24:05.1110000Z</dcterms:created>
  <dcterms:modified xsi:type="dcterms:W3CDTF">2026-10-21T16:24:05.1120000Z</dcterms:modified>
</coreProperties>
</file>