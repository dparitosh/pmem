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7b6006d1b74036" /><Relationship Type="http://schemas.openxmlformats.org/officeDocument/2006/relationships/extended-properties" Target="/docProps/app.xml" Id="R90997c21db1a428c" /><Relationship Type="http://schemas.openxmlformats.org/officeDocument/2006/relationships/officeDocument" Target="/ppt/presentation.xml" Id="R5f7a251ceede46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225e7a155b4e44"/>
  </p:sldMasterIdLst>
  <p:notesMasterIdLst>
    <p:notesMasterId xmlns:r="http://schemas.openxmlformats.org/officeDocument/2006/relationships" r:id="R5129beb429f845e1"/>
  </p:notesMasterIdLst>
  <p:sldIdLst>
    <p:sldId xmlns:r="http://schemas.openxmlformats.org/officeDocument/2006/relationships" id="256" r:id="R3e930c3663224073"/>
    <p:sldId xmlns:r="http://schemas.openxmlformats.org/officeDocument/2006/relationships" id="257" r:id="R3b5228f796de476d"/>
    <p:sldId xmlns:r="http://schemas.openxmlformats.org/officeDocument/2006/relationships" id="258" r:id="Rc92c9c2688fb4a50"/>
    <p:sldId xmlns:r="http://schemas.openxmlformats.org/officeDocument/2006/relationships" id="259" r:id="Rc9ab709b4d2643a1"/>
    <p:sldId xmlns:r="http://schemas.openxmlformats.org/officeDocument/2006/relationships" id="260" r:id="R73e140c2bbfc4a68"/>
    <p:sldId xmlns:r="http://schemas.openxmlformats.org/officeDocument/2006/relationships" id="261" r:id="R8c01aae6a808497f"/>
    <p:sldId xmlns:r="http://schemas.openxmlformats.org/officeDocument/2006/relationships" id="262" r:id="R013136a215f64908"/>
    <p:sldId xmlns:r="http://schemas.openxmlformats.org/officeDocument/2006/relationships" id="263" r:id="R7d7bb1410a5048d0"/>
    <p:sldId xmlns:r="http://schemas.openxmlformats.org/officeDocument/2006/relationships" id="264" r:id="Rd817fcf0c6f44ab6"/>
    <p:sldId xmlns:r="http://schemas.openxmlformats.org/officeDocument/2006/relationships" id="265" r:id="R9f1b4e3dfc4d4195"/>
    <p:sldId xmlns:r="http://schemas.openxmlformats.org/officeDocument/2006/relationships" id="266" r:id="R7ae997a9a8bd40a0"/>
    <p:sldId xmlns:r="http://schemas.openxmlformats.org/officeDocument/2006/relationships" id="267" r:id="R3a344b0edd984dd4"/>
    <p:sldId xmlns:r="http://schemas.openxmlformats.org/officeDocument/2006/relationships" id="268" r:id="Ra50f21c243ec42b0"/>
    <p:sldId xmlns:r="http://schemas.openxmlformats.org/officeDocument/2006/relationships" id="269" r:id="Rfd87d4c5a4484444"/>
    <p:sldId xmlns:r="http://schemas.openxmlformats.org/officeDocument/2006/relationships" id="270" r:id="Rf2d41ab471dd44d3"/>
    <p:sldId xmlns:r="http://schemas.openxmlformats.org/officeDocument/2006/relationships" id="271" r:id="Radb913f1fb824e51"/>
    <p:sldId xmlns:r="http://schemas.openxmlformats.org/officeDocument/2006/relationships" id="272" r:id="Rae7a18b513504db3"/>
    <p:sldId xmlns:r="http://schemas.openxmlformats.org/officeDocument/2006/relationships" id="273" r:id="Rff6a630f03564345"/>
    <p:sldId xmlns:r="http://schemas.openxmlformats.org/officeDocument/2006/relationships" id="274" r:id="R7ee1d91e2561441e"/>
    <p:sldId xmlns:r="http://schemas.openxmlformats.org/officeDocument/2006/relationships" id="275" r:id="Rb144d6af710248f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e882b9c6074828" /><Relationship Type="http://schemas.openxmlformats.org/officeDocument/2006/relationships/slideMaster" Target="/ppt/slideMasters/slideMaster1.xml" Id="R02225e7a155b4e44" /><Relationship Type="http://schemas.openxmlformats.org/officeDocument/2006/relationships/notesMaster" Target="/ppt/notesMasters/notesMaster1.xml" Id="R5129beb429f845e1" /><Relationship Type="http://schemas.openxmlformats.org/officeDocument/2006/relationships/presProps" Target="/ppt/presProps.xml" Id="R0a6aa996315f49bd" /><Relationship Type="http://schemas.openxmlformats.org/officeDocument/2006/relationships/tableStyles" Target="/ppt/tableStyles.xml" Id="Rcaf0b17e378f4076" /><Relationship Type="http://schemas.openxmlformats.org/officeDocument/2006/relationships/slide" Target="/ppt/slides/slide1.xml" Id="R3e930c3663224073" /><Relationship Type="http://schemas.openxmlformats.org/officeDocument/2006/relationships/slide" Target="/ppt/slides/slide2.xml" Id="R3b5228f796de476d" /><Relationship Type="http://schemas.openxmlformats.org/officeDocument/2006/relationships/slide" Target="/ppt/slides/slide3.xml" Id="Rc92c9c2688fb4a50" /><Relationship Type="http://schemas.openxmlformats.org/officeDocument/2006/relationships/slide" Target="/ppt/slides/slide4.xml" Id="Rc9ab709b4d2643a1" /><Relationship Type="http://schemas.openxmlformats.org/officeDocument/2006/relationships/slide" Target="/ppt/slides/slide5.xml" Id="R73e140c2bbfc4a68" /><Relationship Type="http://schemas.openxmlformats.org/officeDocument/2006/relationships/slide" Target="/ppt/slides/slide6.xml" Id="R8c01aae6a808497f" /><Relationship Type="http://schemas.openxmlformats.org/officeDocument/2006/relationships/slide" Target="/ppt/slides/slide7.xml" Id="R013136a215f64908" /><Relationship Type="http://schemas.openxmlformats.org/officeDocument/2006/relationships/slide" Target="/ppt/slides/slide8.xml" Id="R7d7bb1410a5048d0" /><Relationship Type="http://schemas.openxmlformats.org/officeDocument/2006/relationships/slide" Target="/ppt/slides/slide9.xml" Id="Rd817fcf0c6f44ab6" /><Relationship Type="http://schemas.openxmlformats.org/officeDocument/2006/relationships/slide" Target="/ppt/slides/slide10.xml" Id="R9f1b4e3dfc4d4195" /><Relationship Type="http://schemas.openxmlformats.org/officeDocument/2006/relationships/slide" Target="/ppt/slides/slide11.xml" Id="R7ae997a9a8bd40a0" /><Relationship Type="http://schemas.openxmlformats.org/officeDocument/2006/relationships/slide" Target="/ppt/slides/slide12.xml" Id="R3a344b0edd984dd4" /><Relationship Type="http://schemas.openxmlformats.org/officeDocument/2006/relationships/slide" Target="/ppt/slides/slide13.xml" Id="Ra50f21c243ec42b0" /><Relationship Type="http://schemas.openxmlformats.org/officeDocument/2006/relationships/slide" Target="/ppt/slides/slide14.xml" Id="Rfd87d4c5a4484444" /><Relationship Type="http://schemas.openxmlformats.org/officeDocument/2006/relationships/slide" Target="/ppt/slides/slide15.xml" Id="Rf2d41ab471dd44d3" /><Relationship Type="http://schemas.openxmlformats.org/officeDocument/2006/relationships/slide" Target="/ppt/slides/slide16.xml" Id="Radb913f1fb824e51" /><Relationship Type="http://schemas.openxmlformats.org/officeDocument/2006/relationships/slide" Target="/ppt/slides/slide17.xml" Id="Rae7a18b513504db3" /><Relationship Type="http://schemas.openxmlformats.org/officeDocument/2006/relationships/slide" Target="/ppt/slides/slide18.xml" Id="Rff6a630f03564345" /><Relationship Type="http://schemas.openxmlformats.org/officeDocument/2006/relationships/slide" Target="/ppt/slides/slide19.xml" Id="R7ee1d91e2561441e" /><Relationship Type="http://schemas.openxmlformats.org/officeDocument/2006/relationships/slide" Target="/ppt/slides/slide20.xml" Id="Rb144d6af710248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15406f3f654a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97a2e32430416b" /><Relationship Type="http://schemas.openxmlformats.org/officeDocument/2006/relationships/notesMaster" Target="/ppt/notesMasters/notesMaster1.xml" Id="Re29949d97e214f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1daac530c7409c" /><Relationship Type="http://schemas.openxmlformats.org/officeDocument/2006/relationships/notesMaster" Target="/ppt/notesMasters/notesMaster1.xml" Id="R7350825c5c6d40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e20ce32707413f" /><Relationship Type="http://schemas.openxmlformats.org/officeDocument/2006/relationships/notesMaster" Target="/ppt/notesMasters/notesMaster1.xml" Id="Rf65cd38644d940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a21fae6dd94a53" /><Relationship Type="http://schemas.openxmlformats.org/officeDocument/2006/relationships/notesMaster" Target="/ppt/notesMasters/notesMaster1.xml" Id="R619512632d7f4c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e0f4f20c7e4931" /><Relationship Type="http://schemas.openxmlformats.org/officeDocument/2006/relationships/notesMaster" Target="/ppt/notesMasters/notesMaster1.xml" Id="Rf5fc7b3a62584b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b656bef21d4328" /><Relationship Type="http://schemas.openxmlformats.org/officeDocument/2006/relationships/notesMaster" Target="/ppt/notesMasters/notesMaster1.xml" Id="R25c7d40de7a749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3db00ecf374ef7" /><Relationship Type="http://schemas.openxmlformats.org/officeDocument/2006/relationships/notesMaster" Target="/ppt/notesMasters/notesMaster1.xml" Id="R65edb5c0518e4f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7dc36bedf44e6e" /><Relationship Type="http://schemas.openxmlformats.org/officeDocument/2006/relationships/notesMaster" Target="/ppt/notesMasters/notesMaster1.xml" Id="Rc9b34405ee9748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391652e1d2451a" /><Relationship Type="http://schemas.openxmlformats.org/officeDocument/2006/relationships/notesMaster" Target="/ppt/notesMasters/notesMaster1.xml" Id="Re2c1245e29dd4a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d59f74916548ec" /><Relationship Type="http://schemas.openxmlformats.org/officeDocument/2006/relationships/notesMaster" Target="/ppt/notesMasters/notesMaster1.xml" Id="Re9a670582f64407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ca83bff818446ff" /><Relationship Type="http://schemas.openxmlformats.org/officeDocument/2006/relationships/notesMaster" Target="/ppt/notesMasters/notesMaster1.xml" Id="Rfef62ef84828428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4214f44c3614ad6" /><Relationship Type="http://schemas.openxmlformats.org/officeDocument/2006/relationships/notesMaster" Target="/ppt/notesMasters/notesMaster1.xml" Id="R96a4310a030a46b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7eabc94975b4264" /><Relationship Type="http://schemas.openxmlformats.org/officeDocument/2006/relationships/notesMaster" Target="/ppt/notesMasters/notesMaster1.xml" Id="Rb07e204c2144492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bad8d92689b423f" /><Relationship Type="http://schemas.openxmlformats.org/officeDocument/2006/relationships/notesMaster" Target="/ppt/notesMasters/notesMaster1.xml" Id="Rc3f3efc471f043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0df1a931622489a" /><Relationship Type="http://schemas.openxmlformats.org/officeDocument/2006/relationships/notesMaster" Target="/ppt/notesMasters/notesMaster1.xml" Id="Recd544d58664413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0325429d60e4145" /><Relationship Type="http://schemas.openxmlformats.org/officeDocument/2006/relationships/notesMaster" Target="/ppt/notesMasters/notesMaster1.xml" Id="R45221ce90270478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155f2af05e14e20" /><Relationship Type="http://schemas.openxmlformats.org/officeDocument/2006/relationships/notesMaster" Target="/ppt/notesMasters/notesMaster1.xml" Id="Ree3f485210484ef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538bc0cbc89471a" /><Relationship Type="http://schemas.openxmlformats.org/officeDocument/2006/relationships/notesMaster" Target="/ppt/notesMasters/notesMaster1.xml" Id="Re895d51e0e85452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e4e02ca212b4d61" /><Relationship Type="http://schemas.openxmlformats.org/officeDocument/2006/relationships/notesMaster" Target="/ppt/notesMasters/notesMaster1.xml" Id="Rce5bcebd7fda4c0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c20a37fd9a34b8e" /><Relationship Type="http://schemas.openxmlformats.org/officeDocument/2006/relationships/notesMaster" Target="/ppt/notesMasters/notesMaster1.xml" Id="Rc88f758dade240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https://github.com/dparitosh/PMem/blob/codex/semantic-bridge-release/INSTALLATION.md</a:t>
            </a:r>
          </a:p>
          <a:p xmlns:a="http://schemas.openxmlformats.org/drawingml/2006/main">
            <a:r>
              <a:t>https://github.com/dparitosh/PMem/blob/codex/semantic-bridge-release/docs/architecture/SERVICE_CATALOG.md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https://github.com/dparitosh/PMem/blob/codex/semantic-bridge-release/backend/agentic_service/bridge_jobs.py</a:t>
            </a:r>
          </a:p>
          <a:p xmlns:a="http://schemas.openxmlformats.org/drawingml/2006/main">
            <a:r>
              <a:t>https://github.com/dparitosh/PMem/blob/codex/semantic-bridge-release/backend/data_pipeline_service/router.py</a:t>
            </a:r>
          </a:p>
          <a:p xmlns:a="http://schemas.openxmlformats.org/drawingml/2006/main">
            <a:r>
              <a:t>https://github.com/dparitosh/PMem/blob/codex/semantic-bridge-release/backend/data_product_service/router.py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https://github.com/dparitosh/PMem/blob/codex/semantic-bridge-release/infra/deployment/services.json</a:t>
            </a:r>
          </a:p>
          <a:p xmlns:a="http://schemas.openxmlformats.org/drawingml/2006/main">
            <a:r>
              <a:t>https://github.com/dparitosh/PMem/blob/codex/semantic-bridge-release/backend/agentic_service/bridge_jobs.py</a:t>
            </a:r>
          </a:p>
          <a:p xmlns:a="http://schemas.openxmlformats.org/drawingml/2006/main">
            <a:r>
              <a:t>https://github.com/dparitosh/PMem/blob/codex/semantic-bridge-release/backend/data_product_service/worker.py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https://github.com/dparitosh/PMem/blob/codex/semantic-bridge-release/backend/data_pipeline_service/router.py</a:t>
            </a:r>
          </a:p>
          <a:p xmlns:a="http://schemas.openxmlformats.org/drawingml/2006/main">
            <a:r>
              <a:t>https://github.com/dparitosh/PMem/blob/codex/semantic-bridge-release/backend/ceim_service/router.py</a:t>
            </a:r>
          </a:p>
          <a:p xmlns:a="http://schemas.openxmlformats.org/drawingml/2006/main">
            <a:r>
              <a:t>https://github.com/dparitosh/PMem/blob/codex/semantic-bridge-release/backend/agentic_service/bridge_jobs.py</a:t>
            </a:r>
          </a:p>
          <a:p xmlns:a="http://schemas.openxmlformats.org/drawingml/2006/main">
            <a:r>
              <a:t>https://github.com/dparitosh/PMem/blob/codex/semantic-bridge-release/backend/graph_service/bridge_router.py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https://github.com/dparitosh/PMem/blob/codex/semantic-bridge-release/backend/agentic_service/bridge_jobs.py</a:t>
            </a:r>
          </a:p>
          <a:p xmlns:a="http://schemas.openxmlformats.org/drawingml/2006/main">
            <a:r>
              <a:t>https://github.com/dparitosh/PMem/blob/codex/semantic-bridge-release/backend/graph_service/bridge_publication.py</a:t>
            </a:r>
          </a:p>
          <a:p xmlns:a="http://schemas.openxmlformats.org/drawingml/2006/main">
            <a:r>
              <a:t>https://github.com/dparitosh/PMem/blob/codex/semantic-bridge-release/frontend/src/Components/ontology/SemanticBridgeJobs.js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https://github.com/dparitosh/PMem/blob/codex/semantic-bridge-release/backend/data_pipeline_service/router.py</a:t>
            </a:r>
          </a:p>
          <a:p xmlns:a="http://schemas.openxmlformats.org/drawingml/2006/main">
            <a:r>
              <a:t>https://github.com/dparitosh/PMem/blob/codex/semantic-bridge-release/backend/data_pipeline_service/run_records.py</a:t>
            </a:r>
          </a:p>
          <a:p xmlns:a="http://schemas.openxmlformats.org/drawingml/2006/main">
            <a:r>
              <a:t>https://github.com/dparitosh/PMem/blob/codex/semantic-bridge-release/backend/data_pipeline_service/job_definitions.py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https://github.com/dparitosh/PMem/blob/codex/semantic-bridge-release/backend/data_pipeline_service/handlers.py</a:t>
            </a:r>
          </a:p>
          <a:p xmlns:a="http://schemas.openxmlformats.org/drawingml/2006/main">
            <a:r>
              <a:t>https://github.com/dparitosh/PMem/blob/codex/semantic-bridge-release/backend/data_pipeline_service/runner.py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https://github.com/dparitosh/PMem/blob/codex/semantic-bridge-release/backend/data_pipeline_service/handlers.py</a:t>
            </a:r>
          </a:p>
          <a:p xmlns:a="http://schemas.openxmlformats.org/drawingml/2006/main">
            <a:r>
              <a:t>https://github.com/dparitosh/PMem/blob/codex/semantic-bridge-release/backend/data_pipeline_service/runner.py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https://github.com/dparitosh/PMem/blob/codex/semantic-bridge-release/backend/data_pipeline_service/speed_router.py</a:t>
            </a:r>
          </a:p>
          <a:p xmlns:a="http://schemas.openxmlformats.org/drawingml/2006/main">
            <a:r>
              <a:t>https://github.com/dparitosh/PMem/blob/codex/semantic-bridge-release/backend/data_pipeline_service/speed_path.py</a:t>
            </a:r>
          </a:p>
          <a:p xmlns:a="http://schemas.openxmlformats.org/drawingml/2006/main">
            <a:r>
              <a:t>https://github.com/dparitosh/PMem/blob/codex/semantic-bridge-release/INSTALLATION.md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https://github.com/dparitosh/PMem/blob/codex/semantic-bridge-release/backend/data_pipeline_service/router.py</a:t>
            </a:r>
          </a:p>
          <a:p xmlns:a="http://schemas.openxmlformats.org/drawingml/2006/main">
            <a:r>
              <a:t>https://github.com/dparitosh/PMem/blob/codex/semantic-bridge-release/backend/data_pipeline_service/runner.py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https://github.com/dparitosh/PMem/blob/codex/semantic-bridge-release/backend/data_product_service/router.py</a:t>
            </a:r>
          </a:p>
          <a:p xmlns:a="http://schemas.openxmlformats.org/drawingml/2006/main">
            <a:r>
              <a:t>https://github.com/dparitosh/PMem/blob/codex/semantic-bridge-release/backend/data_product_service/worker.py</a:t>
            </a:r>
          </a:p>
          <a:p xmlns:a="http://schemas.openxmlformats.org/drawingml/2006/main">
            <a:r>
              <a:t>https://github.com/dparitosh/PMem/blob/codex/semantic-bridge-release/backend/data_catalog_service/router.py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https://github.com/dparitosh/PMem/blob/codex/semantic-bridge-release/backend/agentic_service/companion.py</a:t>
            </a:r>
          </a:p>
          <a:p xmlns:a="http://schemas.openxmlformats.org/drawingml/2006/main">
            <a:r>
              <a:t>https://github.com/dparitosh/PMem/blob/codex/semantic-bridge-release/backend/agentic_service/router.py</a:t>
            </a:r>
          </a:p>
          <a:p xmlns:a="http://schemas.openxmlformats.org/drawingml/2006/main">
            <a:r>
              <a:t>https://github.com/dparitosh/PMem/blob/codex/semantic-bridge-release/backend/agentic_service/configuration.py</a:t>
            </a:r>
          </a:p>
          <a:p xmlns:a="http://schemas.openxmlformats.org/drawingml/2006/main">
            <a:r>
              <a:t>https://github.com/dparitosh/PMem/blob/codex/semantic-bridge-release/backend/graph_service/sparql_router.py</a:t>
            </a:r>
          </a:p>
          <a:p xmlns:a="http://schemas.openxmlformats.org/drawingml/2006/main">
            <a:r>
              <a:t>https://github.com/dparitosh/PMem/blob/codex/semantic-bridge-release/backend/graph_service/federation_router.py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https://github.com/dparitosh/PMem/blob/codex/semantic-bridge-release/frontend/src/Components/ontology/SemanticBridgeJobs.js</a:t>
            </a:r>
          </a:p>
          <a:p xmlns:a="http://schemas.openxmlformats.org/drawingml/2006/main">
            <a:r>
              <a:t>https://github.com/dparitosh/PMem/blob/codex/semantic-bridge-release/frontend/src/pages/DataFlowPage.js</a:t>
            </a:r>
          </a:p>
          <a:p xmlns:a="http://schemas.openxmlformats.org/drawingml/2006/main">
            <a:r>
              <a:t>https://github.com/dparitosh/PMem/blob/codex/semantic-bridge-release/frontend/src/pages/GraphExplorerPage.js</a:t>
            </a:r>
          </a:p>
          <a:p xmlns:a="http://schemas.openxmlformats.org/drawingml/2006/main">
            <a:r>
              <a:t>https://github.com/dparitosh/PMem/blob/codex/semantic-bridge-release/frontend/src/Components/Chatbot.js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https://github.com/dparitosh/PMem/blob/codex/semantic-bridge-release/INSTALLATION.md</a:t>
            </a:r>
          </a:p>
          <a:p xmlns:a="http://schemas.openxmlformats.org/drawingml/2006/main">
            <a:r>
              <a:t>https://github.com/dparitosh/PMem/blob/codex/semantic-bridge-release/INSTALLATION.md</a:t>
            </a:r>
          </a:p>
          <a:p xmlns:a="http://schemas.openxmlformats.org/drawingml/2006/main">
            <a:r>
              <a:t>https://github.com/dparitosh/PMem/blob/codex/semantic-bridge-release/INSTALLATION.md</a:t>
            </a:r>
          </a:p>
          <a:p xmlns:a="http://schemas.openxmlformats.org/drawingml/2006/main">
            <a:r>
              <a:t>https://github.com/dparitosh/PMem/blob/codex/semantic-bridge-release/INSTALLATION.md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https://github.com/dparitosh/PMem/blob/codex/semantic-bridge-release/INSTALLATION.md</a:t>
            </a:r>
          </a:p>
          <a:p xmlns:a="http://schemas.openxmlformats.org/drawingml/2006/main">
            <a:r>
              <a:t>https://github.com/dparitosh/PMem/blob/codex/semantic-bridge-release/infra/windows/install-depo-windows.ps1</a:t>
            </a:r>
          </a:p>
          <a:p xmlns:a="http://schemas.openxmlformats.org/drawingml/2006/main">
            <a:r>
              <a:t>https://github.com/dparitosh/PMem/blob/codex/semantic-bridge-release/infra/windows/initialize-depo-schema.ps1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https://github.com/dparitosh/PMem/blob/codex/semantic-bridge-release/backend/postgres_migrations.py</a:t>
            </a:r>
          </a:p>
          <a:p xmlns:a="http://schemas.openxmlformats.org/drawingml/2006/main">
            <a:r>
              <a:t>https://github.com/dparitosh/PMem/blob/codex/semantic-bridge-release/backend/depo_platform/database_setup.py</a:t>
            </a:r>
          </a:p>
          <a:p xmlns:a="http://schemas.openxmlformats.org/drawingml/2006/main">
            <a:r>
              <a:t>https://github.com/dparitosh/PMem/blob/codex/semantic-bridge-release/infra/postgres/SCHEMA.md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https://github.com/dparitosh/PMem/blob/codex/semantic-bridge-release/backend/depo_platform/authorization.py</a:t>
            </a:r>
          </a:p>
          <a:p xmlns:a="http://schemas.openxmlformats.org/drawingml/2006/main">
            <a:r>
              <a:t>https://github.com/dparitosh/PMem/blob/codex/semantic-bridge-release/backend/agentic_service/configuration.py</a:t>
            </a:r>
          </a:p>
          <a:p xmlns:a="http://schemas.openxmlformats.org/drawingml/2006/main">
            <a:r>
              <a:t>https://github.com/dparitosh/PMem/blob/codex/semantic-bridge-release/infra/deployment/test-depo-deployment.ps1</a:t>
            </a:r>
          </a:p>
          <a:p xmlns:a="http://schemas.openxmlformats.org/drawingml/2006/main">
            <a:r>
              <a:t>https://github.com/dparitosh/PMem/blob/codex/semantic-bridge-release/config/README.md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https://github.com/dparitosh/PMem/blob/codex/semantic-bridge-release/infra/deployment/CUSTOMER_RELEASE.md</a:t>
            </a:r>
          </a:p>
          <a:p xmlns:a="http://schemas.openxmlformats.org/drawingml/2006/main">
            <a:r>
              <a:t>https://github.com/dparitosh/PMem/blob/codex/semantic-bridge-release/docs/INSTALLATION_REVIEW.md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https://github.com/dparitosh/PMem/blob/codex/semantic-bridge-release/backend/graph_service/router.py</a:t>
            </a:r>
          </a:p>
          <a:p xmlns:a="http://schemas.openxmlformats.org/drawingml/2006/main">
            <a:r>
              <a:t>https://github.com/dparitosh/PMem/blob/codex/semantic-bridge-release/backend/data_pipeline_service/handlers.py</a:t>
            </a:r>
          </a:p>
          <a:p xmlns:a="http://schemas.openxmlformats.org/drawingml/2006/main">
            <a:r>
              <a:t>https://github.com/dparitosh/PMem/blob/codex/semantic-bridge-release/backend/data_pipeline_service/speed_router.py</a:t>
            </a:r>
          </a:p>
          <a:p xmlns:a="http://schemas.openxmlformats.org/drawingml/2006/main">
            <a:r>
              <a:t>https://github.com/dparitosh/PMem/blob/codex/semantic-bridge-release/infra/deployment/CUSTOMER_RELEASE.md</a:t>
            </a:r>
          </a:p>
          <a:p xmlns:a="http://schemas.openxmlformats.org/drawingml/2006/main">
            <a:r>
              <a:t>https://github.com/dparitosh/PMem/blob/codex/semantic-bridge-release/docs/ACCELERATED_DELIVERY_TRACKER.md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 baseline: current release branch, 23 September 2026.</a:t>
            </a:r>
          </a:p>
          <a:p xmlns:a="http://schemas.openxmlformats.org/drawingml/2006/main">
            <a:r>
              <a:t>https://github.com/dparitosh/PMem/blob/codex/semantic-bridge-release/infra/deployment/services.json</a:t>
            </a:r>
          </a:p>
          <a:p xmlns:a="http://schemas.openxmlformats.org/drawingml/2006/main">
            <a:r>
              <a:t>https://github.com/dparitosh/PMem/blob/codex/semantic-bridge-release/INSTALLATION.md</a:t>
            </a:r>
          </a:p>
          <a:p xmlns:a="http://schemas.openxmlformats.org/drawingml/2006/main">
            <a:r>
              <a:t>https://github.com/dparitosh/PMem/blob/codex/semantic-bridge-release/infra/postgres/SCHEMA.md</a:t>
            </a:r>
          </a:p>
          <a:p xmlns:a="http://schemas.openxmlformats.org/drawingml/2006/main">
            <a:r>
              <a:t>https://github.com/dparitosh/PMem/blob/codex/semantic-bridge-release/INSTALLATION.md</a:t>
            </a:r>
          </a:p>
          <a:p xmlns:a="http://schemas.openxmlformats.org/drawingml/2006/main">
            <a:r>
              <a:t>https://github.com/dparitosh/PMem/blob/codex/semantic-bridge-release/INSTALLATION.md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3f30c8a134d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7b69b7993c407f" /><Relationship Type="http://schemas.openxmlformats.org/officeDocument/2006/relationships/slideLayout" Target="/ppt/slideLayouts/slideLayout1.xml" Id="R4420e75cc44247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20e75cc44247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45870751a426a" /><Relationship Type="http://schemas.openxmlformats.org/officeDocument/2006/relationships/notesSlide" Target="/ppt/notesSlides/notesSlide1.xml" Id="R8ad66137bf074d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50506b51745de" /><Relationship Type="http://schemas.openxmlformats.org/officeDocument/2006/relationships/notesSlide" Target="/ppt/notesSlides/notesSlide2.xml" Id="Rcffda2b61dbe4d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6061c14b2466b" /><Relationship Type="http://schemas.openxmlformats.org/officeDocument/2006/relationships/notesSlide" Target="/ppt/notesSlides/notesSlide3.xml" Id="R23eda0ec939e4c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90ff1e6b140dd" /><Relationship Type="http://schemas.openxmlformats.org/officeDocument/2006/relationships/notesSlide" Target="/ppt/notesSlides/notesSlide4.xml" Id="Raf88cd170e9c44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48a8ee4dd4c75" /><Relationship Type="http://schemas.openxmlformats.org/officeDocument/2006/relationships/notesSlide" Target="/ppt/notesSlides/notesSlide5.xml" Id="Rf9213b7b685d43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995408bf894a06" /><Relationship Type="http://schemas.openxmlformats.org/officeDocument/2006/relationships/notesSlide" Target="/ppt/notesSlides/notesSlide6.xml" Id="R923a781a9e874c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bc6009781458c" /><Relationship Type="http://schemas.openxmlformats.org/officeDocument/2006/relationships/notesSlide" Target="/ppt/notesSlides/notesSlide7.xml" Id="Rcae3d23615364f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9c1c2676e432e" /><Relationship Type="http://schemas.openxmlformats.org/officeDocument/2006/relationships/notesSlide" Target="/ppt/notesSlides/notesSlide8.xml" Id="Rb613675e50de4a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db3047c1d403c" /><Relationship Type="http://schemas.openxmlformats.org/officeDocument/2006/relationships/notesSlide" Target="/ppt/notesSlides/notesSlide9.xml" Id="R8765b0bd5d1c4bd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3134c1222442b" /><Relationship Type="http://schemas.openxmlformats.org/officeDocument/2006/relationships/notesSlide" Target="/ppt/notesSlides/notesSlide10.xml" Id="Rde5eba621c8540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e3e9654c64115" /><Relationship Type="http://schemas.openxmlformats.org/officeDocument/2006/relationships/notesSlide" Target="/ppt/notesSlides/notesSlide11.xml" Id="R63c7a23d8e5f45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45c043f67d43b3" /><Relationship Type="http://schemas.openxmlformats.org/officeDocument/2006/relationships/notesSlide" Target="/ppt/notesSlides/notesSlide12.xml" Id="R2e8aeb5009734e6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2301c66744e88" /><Relationship Type="http://schemas.openxmlformats.org/officeDocument/2006/relationships/notesSlide" Target="/ppt/notesSlides/notesSlide13.xml" Id="Re5c9e310e27b466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98098c38174a83" /><Relationship Type="http://schemas.openxmlformats.org/officeDocument/2006/relationships/notesSlide" Target="/ppt/notesSlides/notesSlide14.xml" Id="R201ee832ab9f4f5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ca01b3d074eb6" /><Relationship Type="http://schemas.openxmlformats.org/officeDocument/2006/relationships/notesSlide" Target="/ppt/notesSlides/notesSlide15.xml" Id="R528ecf18c3f3496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846454a4f4f84" /><Relationship Type="http://schemas.openxmlformats.org/officeDocument/2006/relationships/notesSlide" Target="/ppt/notesSlides/notesSlide16.xml" Id="R250f0d8dff1f4a8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c5c719a004733" /><Relationship Type="http://schemas.openxmlformats.org/officeDocument/2006/relationships/notesSlide" Target="/ppt/notesSlides/notesSlide17.xml" Id="R47cd9cb0c1c34c4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1e8f7964d49da" /><Relationship Type="http://schemas.openxmlformats.org/officeDocument/2006/relationships/notesSlide" Target="/ppt/notesSlides/notesSlide18.xml" Id="R7be243a07c42415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4a61f4f7343fc" /><Relationship Type="http://schemas.openxmlformats.org/officeDocument/2006/relationships/notesSlide" Target="/ppt/notesSlides/notesSlide19.xml" Id="R389520e003de459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61137bc8c4fff" /><Relationship Type="http://schemas.openxmlformats.org/officeDocument/2006/relationships/notesSlide" Target="/ppt/notesSlides/notesSlide20.xml" Id="R9dbe845905c24d1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1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DEPO DIGITAL THREAD">
            <a:extLst xmlns:a="http://schemas.openxmlformats.org/drawingml/2006/main">
              <a:ext uri="{FF2B5EF4-FFF2-40B4-BE49-F238E27FC236}">
                <a16:creationId xmlns:a16="http://schemas.microsoft.com/office/drawing/2014/main" id="{5CB089C1-634C-453F-923E-76626E8D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8572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CD0D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CD0D1"/>
                </a:solidFill>
                <a:latin typeface="Arial"/>
                <a:ea typeface="Arial"/>
                <a:cs typeface="Arial"/>
              </a:rPr>
              <a:t>DEPO DIGITAL THREAD</a:t>
            </a:r>
          </a:p>
        </p:txBody>
      </p:sp>
      <p:sp>
        <p:nvSpPr>
          <p:cNvPr id="2" name="Functional architecture&#10;and customer deployment">
            <a:extLst xmlns:a="http://schemas.openxmlformats.org/drawingml/2006/main">
              <a:ext uri="{FF2B5EF4-FFF2-40B4-BE49-F238E27FC236}">
                <a16:creationId xmlns:a16="http://schemas.microsoft.com/office/drawing/2014/main" id="{A7722472-2614-4C3A-BAC5-35D4EDA0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81175"/>
            <a:ext cx="1057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Functional architecture</a:t>
            </a:r>
          </a:p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customer deployment</a:t>
            </a:r>
          </a:p>
        </p:txBody>
      </p:sp>
      <p:sp>
        <p:nvSpPr>
          <p:cNvPr id="3" name="Semantic Bridge, governed data jobs and graph publication">
            <a:extLst xmlns:a="http://schemas.openxmlformats.org/drawingml/2006/main">
              <a:ext uri="{FF2B5EF4-FFF2-40B4-BE49-F238E27FC236}">
                <a16:creationId xmlns:a16="http://schemas.microsoft.com/office/drawing/2014/main" id="{2552629C-DF8C-43F9-9DE6-FD6D8A87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CCDDE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CCDDE7"/>
                </a:solidFill>
                <a:latin typeface="Arial"/>
                <a:ea typeface="Arial"/>
                <a:cs typeface="Arial"/>
              </a:rPr>
              <a:t>Semantic Bridge, governed data jobs and graph publication</a:t>
            </a:r>
          </a:p>
        </p:txBody>
      </p:sp>
      <p:sp>
        <p:nvSpPr>
          <p:cNvPr id="4" name="Consolidated presentation&#10;22 September 2026">
            <a:extLst xmlns:a="http://schemas.openxmlformats.org/drawingml/2006/main">
              <a:ext uri="{FF2B5EF4-FFF2-40B4-BE49-F238E27FC236}">
                <a16:creationId xmlns:a16="http://schemas.microsoft.com/office/drawing/2014/main" id="{B92618B1-0A33-45C8-A870-CB9D8DF2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91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CCDDE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CDDE7"/>
                </a:solidFill>
                <a:latin typeface="Arial"/>
                <a:ea typeface="Arial"/>
                <a:cs typeface="Arial"/>
              </a:rPr>
              <a:t>Consolidated presentation</a:t>
            </a:r>
          </a:p>
          <a:p xmlns:a="http://schemas.openxmlformats.org/drawingml/2006/main">
            <a:pPr>
              <a:defRPr sz="1725" b="0">
                <a:solidFill>
                  <a:srgbClr val="CCDDE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CDDE7"/>
                </a:solidFill>
                <a:latin typeface="Arial"/>
                <a:ea typeface="Arial"/>
                <a:cs typeface="Arial"/>
              </a:rPr>
              <a:t>22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1234640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ngineering data to usable graph evidence">
            <a:extLst xmlns:a="http://schemas.openxmlformats.org/drawingml/2006/main">
              <a:ext uri="{FF2B5EF4-FFF2-40B4-BE49-F238E27FC236}">
                <a16:creationId xmlns:a16="http://schemas.microsoft.com/office/drawing/2014/main" id="{6A2B7355-051E-404A-9B6A-B2C5DBBD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Engineering data to usable graph evidence</a:t>
            </a:r>
          </a:p>
        </p:txBody>
      </p:sp>
      <p:sp>
        <p:nvSpPr>
          <p:cNvPr id="2" name="Each stage has an accountable user and a retained output.">
            <a:extLst xmlns:a="http://schemas.openxmlformats.org/drawingml/2006/main">
              <a:ext uri="{FF2B5EF4-FFF2-40B4-BE49-F238E27FC236}">
                <a16:creationId xmlns:a16="http://schemas.microsoft.com/office/drawing/2014/main" id="{D76CB86A-8D4D-4970-B727-29597451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Each stage has an accountable user and a retained output.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167F2D76-FFC0-4861-BDAD-B5385C65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2">
            <a:extLst xmlns:a="http://schemas.openxmlformats.org/drawingml/2006/main">
              <a:ext uri="{FF2B5EF4-FFF2-40B4-BE49-F238E27FC236}">
                <a16:creationId xmlns:a16="http://schemas.microsoft.com/office/drawing/2014/main" id="{2D39212A-5FCC-42AA-B8BC-855FF0BF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Capture">
            <a:extLst xmlns:a="http://schemas.openxmlformats.org/drawingml/2006/main">
              <a:ext uri="{FF2B5EF4-FFF2-40B4-BE49-F238E27FC236}">
                <a16:creationId xmlns:a16="http://schemas.microsoft.com/office/drawing/2014/main" id="{F28247B4-1FA7-4F0E-9EA4-BB865543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Capture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Engineer imports a source file or engineering record.</a:t>
            </a:r>
          </a:p>
        </p:txBody>
      </p:sp>
      <p:sp>
        <p:nvSpPr>
          <p:cNvPr id="6" name="Prepare">
            <a:extLst xmlns:a="http://schemas.openxmlformats.org/drawingml/2006/main">
              <a:ext uri="{FF2B5EF4-FFF2-40B4-BE49-F238E27FC236}">
                <a16:creationId xmlns:a16="http://schemas.microsoft.com/office/drawing/2014/main" id="{4F06F2D9-675E-41AE-A00B-B92B446D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Prepare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Steward selects mappings and checks quality evidence.</a:t>
            </a:r>
          </a:p>
        </p:txBody>
      </p:sp>
      <p:sp>
        <p:nvSpPr>
          <p:cNvPr id="7" name="Approve">
            <a:extLst xmlns:a="http://schemas.openxmlformats.org/drawingml/2006/main">
              <a:ext uri="{FF2B5EF4-FFF2-40B4-BE49-F238E27FC236}">
                <a16:creationId xmlns:a16="http://schemas.microsoft.com/office/drawing/2014/main" id="{5B2C50AE-5F51-40C7-83FE-CA996D51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Authorized reviewer accepts the specific publication.</a:t>
            </a:r>
          </a:p>
        </p:txBody>
      </p:sp>
      <p:sp>
        <p:nvSpPr>
          <p:cNvPr id="8" name="Consume">
            <a:extLst xmlns:a="http://schemas.openxmlformats.org/drawingml/2006/main">
              <a:ext uri="{FF2B5EF4-FFF2-40B4-BE49-F238E27FC236}">
                <a16:creationId xmlns:a16="http://schemas.microsoft.com/office/drawing/2014/main" id="{3F57DD4E-94EB-4FD0-8D32-62E5C024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Consume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Analyst explores the graph or retrieves product evidence.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9051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Input">
            <a:extLst xmlns:a="http://schemas.openxmlformats.org/drawingml/2006/main">
              <a:ext uri="{FF2B5EF4-FFF2-40B4-BE49-F238E27FC236}">
                <a16:creationId xmlns:a16="http://schemas.microsoft.com/office/drawing/2014/main" id="{44D4776D-C9F8-4AC6-B725-0B526C67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3" name="Source artifact, ontology release and intended engineering use case.">
            <a:extLst xmlns:a="http://schemas.openxmlformats.org/drawingml/2006/main">
              <a:ext uri="{FF2B5EF4-FFF2-40B4-BE49-F238E27FC236}">
                <a16:creationId xmlns:a16="http://schemas.microsoft.com/office/drawing/2014/main" id="{5828A37D-9D74-446C-81FF-4A74891D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1911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Source artifact, ontology release and intended engineering use case.</a:t>
            </a:r>
          </a:p>
        </p:txBody>
      </p:sp>
      <p:sp>
        <p:nvSpPr>
          <p:cNvPr id="14" name="Retained evidence">
            <a:extLst xmlns:a="http://schemas.openxmlformats.org/drawingml/2006/main">
              <a:ext uri="{FF2B5EF4-FFF2-40B4-BE49-F238E27FC236}">
                <a16:creationId xmlns:a16="http://schemas.microsoft.com/office/drawing/2014/main" id="{2ADCCA72-5030-40B3-B307-45A63825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910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Retained evidence</a:t>
            </a:r>
          </a:p>
        </p:txBody>
      </p:sp>
      <p:sp>
        <p:nvSpPr>
          <p:cNvPr id="15" name="Source digest, job/run identity, review decision and publication recei">
            <a:extLst xmlns:a="http://schemas.openxmlformats.org/drawingml/2006/main">
              <a:ext uri="{FF2B5EF4-FFF2-40B4-BE49-F238E27FC236}">
                <a16:creationId xmlns:a16="http://schemas.microsoft.com/office/drawing/2014/main" id="{36D07DDF-2BAD-4578-8C92-1CD6BA31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48200"/>
            <a:ext cx="51911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Source digest, job/run identity, review decision and publication receipt.</a:t>
            </a:r>
          </a:p>
        </p:txBody>
      </p:sp>
    </p:spTree>
    <p:extLst>
      <p:ext uri="{BB962C8B-B14F-4D97-AF65-F5344CB8AC3E}">
        <p14:creationId xmlns:p14="http://schemas.microsoft.com/office/powerpoint/2010/main" val="16913988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onent responsibilities">
            <a:extLst xmlns:a="http://schemas.openxmlformats.org/drawingml/2006/main">
              <a:ext uri="{FF2B5EF4-FFF2-40B4-BE49-F238E27FC236}">
                <a16:creationId xmlns:a16="http://schemas.microsoft.com/office/drawing/2014/main" id="{935DA4A9-8AFB-4AFA-8B00-978D0495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Component responsibilities</a:t>
            </a:r>
          </a:p>
        </p:txBody>
      </p:sp>
      <p:sp>
        <p:nvSpPr>
          <p:cNvPr id="2" name="Logical work stages across ten APIs. Detailed call paths follow on the">
            <a:extLst xmlns:a="http://schemas.openxmlformats.org/drawingml/2006/main">
              <a:ext uri="{FF2B5EF4-FFF2-40B4-BE49-F238E27FC236}">
                <a16:creationId xmlns:a16="http://schemas.microsoft.com/office/drawing/2014/main" id="{29C20917-4AC5-463B-8E38-DDDE2A0A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Logical work stages across ten APIs. Detailed call paths follow on the next slides.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7A2E4059-C776-4E67-9354-75EDCEAE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3">
            <a:extLst xmlns:a="http://schemas.openxmlformats.org/drawingml/2006/main">
              <a:ext uri="{FF2B5EF4-FFF2-40B4-BE49-F238E27FC236}">
                <a16:creationId xmlns:a16="http://schemas.microsoft.com/office/drawing/2014/main" id="{BCAC46C6-2074-4387-9BD0-7C93837C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Capture">
            <a:extLst xmlns:a="http://schemas.openxmlformats.org/drawingml/2006/main">
              <a:ext uri="{FF2B5EF4-FFF2-40B4-BE49-F238E27FC236}">
                <a16:creationId xmlns:a16="http://schemas.microsoft.com/office/drawing/2014/main" id="{6BF7F208-E40F-402D-BAC3-B7E9404B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Capture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Schema sets 8010
Ingestion 8014
OSLC 8015</a:t>
            </a:r>
          </a:p>
        </p:txBody>
      </p:sp>
      <p:sp>
        <p:nvSpPr>
          <p:cNvPr id="6" name="Govern">
            <a:extLst xmlns:a="http://schemas.openxmlformats.org/drawingml/2006/main">
              <a:ext uri="{FF2B5EF4-FFF2-40B4-BE49-F238E27FC236}">
                <a16:creationId xmlns:a16="http://schemas.microsoft.com/office/drawing/2014/main" id="{F5D907F0-9055-4290-902E-E74DDF00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Govern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Ontology 8011
CEIM 8018</a:t>
            </a:r>
          </a:p>
        </p:txBody>
      </p:sp>
      <p:sp>
        <p:nvSpPr>
          <p:cNvPr id="7" name="Execute">
            <a:extLst xmlns:a="http://schemas.openxmlformats.org/drawingml/2006/main">
              <a:ext uri="{FF2B5EF4-FFF2-40B4-BE49-F238E27FC236}">
                <a16:creationId xmlns:a16="http://schemas.microsoft.com/office/drawing/2014/main" id="{539FF53D-638D-4055-A382-64C44267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Execute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Pipeline 8019
Agentic 8012</a:t>
            </a:r>
          </a:p>
        </p:txBody>
      </p:sp>
      <p:sp>
        <p:nvSpPr>
          <p:cNvPr id="8" name="Serve">
            <a:extLst xmlns:a="http://schemas.openxmlformats.org/drawingml/2006/main">
              <a:ext uri="{FF2B5EF4-FFF2-40B4-BE49-F238E27FC236}">
                <a16:creationId xmlns:a16="http://schemas.microsoft.com/office/drawing/2014/main" id="{72BA970E-04FF-488D-B769-D235E6B1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Serve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Graph 8013
Products 8017
Catalog 8016</a:t>
            </a:r>
          </a:p>
        </p:txBody>
      </p:sp>
      <p:cxnSp>
        <p:nvCxnSpPr>
          <p:cNvPr id="23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30003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30003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30003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PostgreSQL">
            <a:extLst xmlns:a="http://schemas.openxmlformats.org/drawingml/2006/main">
              <a:ext uri="{FF2B5EF4-FFF2-40B4-BE49-F238E27FC236}">
                <a16:creationId xmlns:a16="http://schemas.microsoft.com/office/drawing/2014/main" id="{5BDAB4DB-86DB-44A9-A731-716065D0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3429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PostgreSQL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Definitions, approvals, run state and catalog records</a:t>
            </a:r>
          </a:p>
        </p:txBody>
      </p:sp>
      <p:sp>
        <p:nvSpPr>
          <p:cNvPr id="13" name="Artifact storage">
            <a:extLst xmlns:a="http://schemas.openxmlformats.org/drawingml/2006/main">
              <a:ext uri="{FF2B5EF4-FFF2-40B4-BE49-F238E27FC236}">
                <a16:creationId xmlns:a16="http://schemas.microsoft.com/office/drawing/2014/main" id="{1D5B2EB1-CA12-4418-A6E9-BE816BB7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24375"/>
            <a:ext cx="3429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Artifact storage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Retained source bytes, output partitions and manifests</a:t>
            </a:r>
          </a:p>
        </p:txBody>
      </p:sp>
      <p:sp>
        <p:nvSpPr>
          <p:cNvPr id="14" name="Neo4j">
            <a:extLst xmlns:a="http://schemas.openxmlformats.org/drawingml/2006/main">
              <a:ext uri="{FF2B5EF4-FFF2-40B4-BE49-F238E27FC236}">
                <a16:creationId xmlns:a16="http://schemas.microsoft.com/office/drawing/2014/main" id="{ADCE4D0B-505F-4E83-A234-CCB69F48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24375"/>
            <a:ext cx="3429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Neo4j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Published ontology resources and reviewed semantic links</a:t>
            </a:r>
          </a:p>
        </p:txBody>
      </p:sp>
    </p:spTree>
    <p:extLst>
      <p:ext uri="{BB962C8B-B14F-4D97-AF65-F5344CB8AC3E}">
        <p14:creationId xmlns:p14="http://schemas.microsoft.com/office/powerpoint/2010/main" val="6299548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verned publication routes">
            <a:extLst xmlns:a="http://schemas.openxmlformats.org/drawingml/2006/main">
              <a:ext uri="{FF2B5EF4-FFF2-40B4-BE49-F238E27FC236}">
                <a16:creationId xmlns:a16="http://schemas.microsoft.com/office/drawing/2014/main" id="{0D7027BF-A486-4683-9055-32BFF805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Governed publication routes</a:t>
            </a:r>
          </a:p>
        </p:txBody>
      </p:sp>
      <p:sp>
        <p:nvSpPr>
          <p:cNvPr id="2" name="CEIM batches and Semantic Bridge mappings use distinct Graph Service c">
            <a:extLst xmlns:a="http://schemas.openxmlformats.org/drawingml/2006/main">
              <a:ext uri="{FF2B5EF4-FFF2-40B4-BE49-F238E27FC236}">
                <a16:creationId xmlns:a16="http://schemas.microsoft.com/office/drawing/2014/main" id="{3BFE1FC9-784F-457A-B667-8BCB2399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CEIM batches and Semantic Bridge mappings use distinct Graph Service contracts.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9ADE3E56-7AC5-4A12-BFA1-B5348E93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4">
            <a:extLst xmlns:a="http://schemas.openxmlformats.org/drawingml/2006/main">
              <a:ext uri="{FF2B5EF4-FFF2-40B4-BE49-F238E27FC236}">
                <a16:creationId xmlns:a16="http://schemas.microsoft.com/office/drawing/2014/main" id="{E0FE14A8-A243-43EF-B070-A96C1CC9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Semantic batch">
            <a:extLst xmlns:a="http://schemas.openxmlformats.org/drawingml/2006/main">
              <a:ext uri="{FF2B5EF4-FFF2-40B4-BE49-F238E27FC236}">
                <a16:creationId xmlns:a16="http://schemas.microsoft.com/office/drawing/2014/main" id="{55173C22-3C51-4ED3-9162-A07F8F2C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Semantic batch</a:t>
            </a:r>
          </a:p>
        </p:txBody>
      </p:sp>
      <p:sp>
        <p:nvSpPr>
          <p:cNvPr id="6" name="Accepted partition">
            <a:extLst xmlns:a="http://schemas.openxmlformats.org/drawingml/2006/main">
              <a:ext uri="{FF2B5EF4-FFF2-40B4-BE49-F238E27FC236}">
                <a16:creationId xmlns:a16="http://schemas.microsoft.com/office/drawing/2014/main" id="{5E3B251E-C015-4B18-9973-858099EC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Accepted partition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Completed semantic job and retained batch</a:t>
            </a:r>
          </a:p>
        </p:txBody>
      </p:sp>
      <p:sp>
        <p:nvSpPr>
          <p:cNvPr id="7" name="CEIM approval">
            <a:extLst xmlns:a="http://schemas.openxmlformats.org/drawingml/2006/main">
              <a:ext uri="{FF2B5EF4-FFF2-40B4-BE49-F238E27FC236}">
                <a16:creationId xmlns:a16="http://schemas.microsoft.com/office/drawing/2014/main" id="{6C5891E8-6457-444F-AFA6-106D4222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3837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CEIM approval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Mapping, SHACL and approved semantic release</a:t>
            </a:r>
          </a:p>
        </p:txBody>
      </p:sp>
      <p:sp>
        <p:nvSpPr>
          <p:cNvPr id="8" name="Graph publication">
            <a:extLst xmlns:a="http://schemas.openxmlformats.org/drawingml/2006/main">
              <a:ext uri="{FF2B5EF4-FFF2-40B4-BE49-F238E27FC236}">
                <a16:creationId xmlns:a16="http://schemas.microsoft.com/office/drawing/2014/main" id="{E3EF2C39-E21A-4178-A922-5B2EDC34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23837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Graph publication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Service credential authorizes ontology publication</a:t>
            </a:r>
          </a:p>
        </p:txBody>
      </p:sp>
      <p:cxnSp>
        <p:nvCxnSpPr>
          <p:cNvPr id="2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25900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823200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1" name="Semantic Bridge">
            <a:extLst xmlns:a="http://schemas.openxmlformats.org/drawingml/2006/main">
              <a:ext uri="{FF2B5EF4-FFF2-40B4-BE49-F238E27FC236}">
                <a16:creationId xmlns:a16="http://schemas.microsoft.com/office/drawing/2014/main" id="{93023943-94C5-4E78-9743-080496DE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Semantic Bridge</a:t>
            </a:r>
          </a:p>
        </p:txBody>
      </p:sp>
      <p:sp>
        <p:nvSpPr>
          <p:cNvPr id="12" name="Saved preview">
            <a:extLst xmlns:a="http://schemas.openxmlformats.org/drawingml/2006/main">
              <a:ext uri="{FF2B5EF4-FFF2-40B4-BE49-F238E27FC236}">
                <a16:creationId xmlns:a16="http://schemas.microsoft.com/office/drawing/2014/main" id="{F799516B-E101-400B-92B7-6808484D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7672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Saved preview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Reviewer selects eligible mapping candidates</a:t>
            </a:r>
          </a:p>
        </p:txBody>
      </p:sp>
      <p:sp>
        <p:nvSpPr>
          <p:cNvPr id="13" name="Agentic approval">
            <a:extLst xmlns:a="http://schemas.openxmlformats.org/drawingml/2006/main">
              <a:ext uri="{FF2B5EF4-FFF2-40B4-BE49-F238E27FC236}">
                <a16:creationId xmlns:a16="http://schemas.microsoft.com/office/drawing/2014/main" id="{720E2EA4-52DE-4056-A4A7-AE28FE2A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27672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Agentic approval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Checks snapshot and fixes the approved selection</a:t>
            </a:r>
          </a:p>
        </p:txBody>
      </p:sp>
      <p:sp>
        <p:nvSpPr>
          <p:cNvPr id="14" name="Graph Bridge API">
            <a:extLst xmlns:a="http://schemas.openxmlformats.org/drawingml/2006/main">
              <a:ext uri="{FF2B5EF4-FFF2-40B4-BE49-F238E27FC236}">
                <a16:creationId xmlns:a16="http://schemas.microsoft.com/office/drawing/2014/main" id="{5759665C-5557-4EA5-A4D6-6CEBDE7B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4276725"/>
            <a:ext cx="34544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Graph Bridge API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Commits mappings and a durable receipt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025900" y="491966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823200" y="491966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7" name="The browser never receives the private Graph publication credential.">
            <a:extLst xmlns:a="http://schemas.openxmlformats.org/drawingml/2006/main">
              <a:ext uri="{FF2B5EF4-FFF2-40B4-BE49-F238E27FC236}">
                <a16:creationId xmlns:a16="http://schemas.microsoft.com/office/drawing/2014/main" id="{C6D43487-FCF1-4386-8B1E-E63F7C1C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The browser never receives the private Graph publication credential.</a:t>
            </a:r>
          </a:p>
        </p:txBody>
      </p:sp>
    </p:spTree>
    <p:extLst>
      <p:ext uri="{BB962C8B-B14F-4D97-AF65-F5344CB8AC3E}">
        <p14:creationId xmlns:p14="http://schemas.microsoft.com/office/powerpoint/2010/main" val="15503567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mantic Bridge review and recovery">
            <a:extLst xmlns:a="http://schemas.openxmlformats.org/drawingml/2006/main">
              <a:ext uri="{FF2B5EF4-FFF2-40B4-BE49-F238E27FC236}">
                <a16:creationId xmlns:a16="http://schemas.microsoft.com/office/drawing/2014/main" id="{8C68DFCF-5765-4CFB-92B6-F77BC9B6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Semantic Bridge review and recovery</a:t>
            </a:r>
          </a:p>
        </p:txBody>
      </p:sp>
      <p:sp>
        <p:nvSpPr>
          <p:cNvPr id="2" name="A saved preview connects a selected import to a selected ontology.">
            <a:extLst xmlns:a="http://schemas.openxmlformats.org/drawingml/2006/main">
              <a:ext uri="{FF2B5EF4-FFF2-40B4-BE49-F238E27FC236}">
                <a16:creationId xmlns:a16="http://schemas.microsoft.com/office/drawing/2014/main" id="{F77F8162-56B1-4C73-8F57-69EB5901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 saved preview connects a selected import to a selected ontology.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EAE8475A-A921-433D-8101-529C11F3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5">
            <a:extLst xmlns:a="http://schemas.openxmlformats.org/drawingml/2006/main">
              <a:ext uri="{FF2B5EF4-FFF2-40B4-BE49-F238E27FC236}">
                <a16:creationId xmlns:a16="http://schemas.microsoft.com/office/drawing/2014/main" id="{796B1BC8-B8B1-48C8-8950-3FA5F23D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Preview">
            <a:extLst xmlns:a="http://schemas.openxmlformats.org/drawingml/2006/main">
              <a:ext uri="{FF2B5EF4-FFF2-40B4-BE49-F238E27FC236}">
                <a16:creationId xmlns:a16="http://schemas.microsoft.com/office/drawing/2014/main" id="{30E7DE05-355E-4851-9320-53E7286B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Snapshot source and ontology. Save candidate IDs.</a:t>
            </a:r>
          </a:p>
        </p:txBody>
      </p:sp>
      <p:sp>
        <p:nvSpPr>
          <p:cNvPr id="6" name="Review">
            <a:extLst xmlns:a="http://schemas.openxmlformats.org/drawingml/2006/main">
              <a:ext uri="{FF2B5EF4-FFF2-40B4-BE49-F238E27FC236}">
                <a16:creationId xmlns:a16="http://schemas.microsoft.com/office/drawing/2014/main" id="{07214FCC-8DEA-47B1-B455-5641483D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143125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Review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Select eligible mappings. Nothing starts selected.</a:t>
            </a:r>
          </a:p>
        </p:txBody>
      </p:sp>
      <p:sp>
        <p:nvSpPr>
          <p:cNvPr id="7" name="Approve">
            <a:extLst xmlns:a="http://schemas.openxmlformats.org/drawingml/2006/main">
              <a:ext uri="{FF2B5EF4-FFF2-40B4-BE49-F238E27FC236}">
                <a16:creationId xmlns:a16="http://schemas.microsoft.com/office/drawing/2014/main" id="{34C7DB99-25BC-4906-AD7D-8CE7B3BD9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43125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Supply approver identity and approval key.</a:t>
            </a:r>
          </a:p>
        </p:txBody>
      </p:sp>
      <p:sp>
        <p:nvSpPr>
          <p:cNvPr id="8" name="Publish">
            <a:extLst xmlns:a="http://schemas.openxmlformats.org/drawingml/2006/main">
              <a:ext uri="{FF2B5EF4-FFF2-40B4-BE49-F238E27FC236}">
                <a16:creationId xmlns:a16="http://schemas.microsoft.com/office/drawing/2014/main" id="{9364F71E-DAE6-4350-A64A-B44F0D42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143125"/>
            <a:ext cx="25050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Publish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Graph transaction writes mappings and receipt.</a:t>
            </a:r>
          </a:p>
        </p:txBody>
      </p:sp>
      <p:cxnSp>
        <p:nvCxnSpPr>
          <p:cNvPr id="2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9527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9527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9527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Changed source">
            <a:extLst xmlns:a="http://schemas.openxmlformats.org/drawingml/2006/main">
              <a:ext uri="{FF2B5EF4-FFF2-40B4-BE49-F238E27FC236}">
                <a16:creationId xmlns:a16="http://schemas.microsoft.com/office/drawing/2014/main" id="{2A51CF85-FA0F-4C7F-B048-08ED499E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Changed source</a:t>
            </a:r>
          </a:p>
        </p:txBody>
      </p:sp>
      <p:sp>
        <p:nvSpPr>
          <p:cNvPr id="13" name="A stale snapshot requires a new preview and review.">
            <a:extLst xmlns:a="http://schemas.openxmlformats.org/drawingml/2006/main">
              <a:ext uri="{FF2B5EF4-FFF2-40B4-BE49-F238E27FC236}">
                <a16:creationId xmlns:a16="http://schemas.microsoft.com/office/drawing/2014/main" id="{9BE9B9DC-FED0-4212-8F71-5FDC112D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33496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A stale snapshot requires a new preview and review.</a:t>
            </a:r>
          </a:p>
        </p:txBody>
      </p:sp>
      <p:sp>
        <p:nvSpPr>
          <p:cNvPr id="14" name="Interrupted response">
            <a:extLst xmlns:a="http://schemas.openxmlformats.org/drawingml/2006/main">
              <a:ext uri="{FF2B5EF4-FFF2-40B4-BE49-F238E27FC236}">
                <a16:creationId xmlns:a16="http://schemas.microsoft.com/office/drawing/2014/main" id="{9191C3B7-E25F-40DD-993B-F5D5AF79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2862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Interrupted response</a:t>
            </a:r>
          </a:p>
        </p:txBody>
      </p:sp>
      <p:sp>
        <p:nvSpPr>
          <p:cNvPr id="15" name="Retry the same selection. Reconcile the durable graph receipt.">
            <a:extLst xmlns:a="http://schemas.openxmlformats.org/drawingml/2006/main">
              <a:ext uri="{FF2B5EF4-FFF2-40B4-BE49-F238E27FC236}">
                <a16:creationId xmlns:a16="http://schemas.microsoft.com/office/drawing/2014/main" id="{35388D10-C26B-48AC-A1A9-4286B366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743450"/>
            <a:ext cx="33496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Retry the same selection. Reconcile the durable graph receipt.</a:t>
            </a:r>
          </a:p>
        </p:txBody>
      </p:sp>
      <p:sp>
        <p:nvSpPr>
          <p:cNvPr id="16" name="UI evidence">
            <a:extLst xmlns:a="http://schemas.openxmlformats.org/drawingml/2006/main">
              <a:ext uri="{FF2B5EF4-FFF2-40B4-BE49-F238E27FC236}">
                <a16:creationId xmlns:a16="http://schemas.microsoft.com/office/drawing/2014/main" id="{755A7002-4A1B-41D0-858A-E16CB4A3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2862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UI evidence</a:t>
            </a:r>
          </a:p>
        </p:txBody>
      </p:sp>
      <p:sp>
        <p:nvSpPr>
          <p:cNvPr id="17" name="Load a saved preview, refresh status and download the job artifact.">
            <a:extLst xmlns:a="http://schemas.openxmlformats.org/drawingml/2006/main">
              <a:ext uri="{FF2B5EF4-FFF2-40B4-BE49-F238E27FC236}">
                <a16:creationId xmlns:a16="http://schemas.microsoft.com/office/drawing/2014/main" id="{629D8BB3-85DB-44D6-9DE7-8039755C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743450"/>
            <a:ext cx="33496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Load a saved preview, refresh status and download the job artifact.</a:t>
            </a:r>
          </a:p>
        </p:txBody>
      </p:sp>
    </p:spTree>
    <p:extLst>
      <p:ext uri="{BB962C8B-B14F-4D97-AF65-F5344CB8AC3E}">
        <p14:creationId xmlns:p14="http://schemas.microsoft.com/office/powerpoint/2010/main" val="615388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Data-job execution and checkpoint control">
            <a:extLst xmlns:a="http://schemas.openxmlformats.org/drawingml/2006/main">
              <a:ext uri="{FF2B5EF4-FFF2-40B4-BE49-F238E27FC236}">
                <a16:creationId xmlns:a16="http://schemas.microsoft.com/office/drawing/2014/main" id="{0CE78E93-832E-4F95-8252-6816228A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Data-job execution and checkpoint control</a:t>
            </a:r>
          </a:p>
        </p:txBody>
      </p:sp>
      <p:sp>
        <p:nvSpPr>
          <p:cNvPr id="2" name="A successful compute run and a successful graph publication are separa">
            <a:extLst xmlns:a="http://schemas.openxmlformats.org/drawingml/2006/main">
              <a:ext uri="{FF2B5EF4-FFF2-40B4-BE49-F238E27FC236}">
                <a16:creationId xmlns:a16="http://schemas.microsoft.com/office/drawing/2014/main" id="{CD04BC62-C3E4-4467-A5AF-85CCA45C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 successful compute run and a successful graph publication are separate states.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889B2718-F949-4A01-B6F2-B6885E81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B8F3888F-A3B5-4BA9-8864-917D0B1E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Job definition">
            <a:extLst xmlns:a="http://schemas.openxmlformats.org/drawingml/2006/main">
              <a:ext uri="{FF2B5EF4-FFF2-40B4-BE49-F238E27FC236}">
                <a16:creationId xmlns:a16="http://schemas.microsoft.com/office/drawing/2014/main" id="{B5121DBF-A77D-4B64-AA83-BAE6B1D0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Job definition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Version, owner, contracts and approval</a:t>
            </a:r>
          </a:p>
        </p:txBody>
      </p:sp>
      <p:sp>
        <p:nvSpPr>
          <p:cNvPr id="6" name="Run">
            <a:extLst xmlns:a="http://schemas.openxmlformats.org/drawingml/2006/main">
              <a:ext uri="{FF2B5EF4-FFF2-40B4-BE49-F238E27FC236}">
                <a16:creationId xmlns:a16="http://schemas.microsoft.com/office/drawing/2014/main" id="{D8378A50-808E-4FD8-9167-6ACEF976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Run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Resolve retained input and execute the handler</a:t>
            </a:r>
          </a:p>
        </p:txBody>
      </p:sp>
      <p:sp>
        <p:nvSpPr>
          <p:cNvPr id="7" name="Quality result">
            <a:extLst xmlns:a="http://schemas.openxmlformats.org/drawingml/2006/main">
              <a:ext uri="{FF2B5EF4-FFF2-40B4-BE49-F238E27FC236}">
                <a16:creationId xmlns:a16="http://schemas.microsoft.com/office/drawing/2014/main" id="{AB3FFE28-D0F7-4090-BDC2-05756529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Quality result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Keep accepted/rejected partitions and run evidence</a:t>
            </a:r>
          </a:p>
        </p:txBody>
      </p:sp>
      <p:sp>
        <p:nvSpPr>
          <p:cNvPr id="8" name="Publication">
            <a:extLst xmlns:a="http://schemas.openxmlformats.org/drawingml/2006/main">
              <a:ext uri="{FF2B5EF4-FFF2-40B4-BE49-F238E27FC236}">
                <a16:creationId xmlns:a16="http://schemas.microsoft.com/office/drawing/2014/main" id="{DA101E9A-6B58-4984-9371-B088476A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Publication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Approve the accepted semantic partition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857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857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857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Accepted output">
            <a:extLst xmlns:a="http://schemas.openxmlformats.org/drawingml/2006/main">
              <a:ext uri="{FF2B5EF4-FFF2-40B4-BE49-F238E27FC236}">
                <a16:creationId xmlns:a16="http://schemas.microsoft.com/office/drawing/2014/main" id="{F1F9B67D-9D35-4262-9432-CFF92E1E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238625"/>
            <a:ext cx="3905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Accepted output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Candidate checkpoint waits for publication</a:t>
            </a:r>
          </a:p>
        </p:txBody>
      </p:sp>
      <p:sp>
        <p:nvSpPr>
          <p:cNvPr id="13" name="Confirmed graph receipt">
            <a:extLst xmlns:a="http://schemas.openxmlformats.org/drawingml/2006/main">
              <a:ext uri="{FF2B5EF4-FFF2-40B4-BE49-F238E27FC236}">
                <a16:creationId xmlns:a16="http://schemas.microsoft.com/office/drawing/2014/main" id="{C170521F-50C4-4B93-9699-741A834E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238625"/>
            <a:ext cx="3905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Confirmed graph receipt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Advance the checkpoint after publication succeeds</a:t>
            </a:r>
          </a:p>
        </p:txBody>
      </p:sp>
      <p:cxnSp>
        <p:nvCxnSpPr>
          <p:cNvPr id="29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476875" y="47910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5" name="Failed quality or uncertain publication keeps the checkpoint pending f">
            <a:extLst xmlns:a="http://schemas.openxmlformats.org/drawingml/2006/main">
              <a:ext uri="{FF2B5EF4-FFF2-40B4-BE49-F238E27FC236}">
                <a16:creationId xmlns:a16="http://schemas.microsoft.com/office/drawing/2014/main" id="{EB95A594-6284-485F-B028-A90B19EA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Failed quality or uncertain publication keeps the checkpoint pending for review or recovery.</a:t>
            </a:r>
          </a:p>
        </p:txBody>
      </p:sp>
    </p:spTree>
    <p:extLst>
      <p:ext uri="{BB962C8B-B14F-4D97-AF65-F5344CB8AC3E}">
        <p14:creationId xmlns:p14="http://schemas.microsoft.com/office/powerpoint/2010/main" val="1152439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mantic and document job contracts">
            <a:extLst xmlns:a="http://schemas.openxmlformats.org/drawingml/2006/main">
              <a:ext uri="{FF2B5EF4-FFF2-40B4-BE49-F238E27FC236}">
                <a16:creationId xmlns:a16="http://schemas.microsoft.com/office/drawing/2014/main" id="{0B971D63-682E-415A-A787-1E069A18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Semantic and document job contracts</a:t>
            </a:r>
          </a:p>
        </p:txBody>
      </p:sp>
      <p:sp>
        <p:nvSpPr>
          <p:cNvPr id="2" name="Registered handlers define explicit input and output contracts.">
            <a:extLst xmlns:a="http://schemas.openxmlformats.org/drawingml/2006/main">
              <a:ext uri="{FF2B5EF4-FFF2-40B4-BE49-F238E27FC236}">
                <a16:creationId xmlns:a16="http://schemas.microsoft.com/office/drawing/2014/main" id="{4C1D60CC-FAF3-4F9F-95B6-3D539D02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Registered handlers define explicit input and output contracts.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D7CBB513-88C1-4481-B7FA-BEA503BE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7">
            <a:extLst xmlns:a="http://schemas.openxmlformats.org/drawingml/2006/main">
              <a:ext uri="{FF2B5EF4-FFF2-40B4-BE49-F238E27FC236}">
                <a16:creationId xmlns:a16="http://schemas.microsoft.com/office/drawing/2014/main" id="{E68FEDF3-AE34-4171-A451-52172847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847850"/>
          <a:ext xmlns:a="http://schemas.openxmlformats.org/drawingml/2006/main" cx="11049000" cy="3790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095625"/>
                <a:gridCol w="4095750"/>
              </a:tblGrid>
              <a:tr h="63182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Job type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Functional output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normalize-ceim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CEIM batch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Normalized canonical batch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validate-semantic-batch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CEIM batch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Semantic validation report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validate-unstructured-evidence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Document evidence batch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Validated artifact/chunk evidence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enrich-document-evidence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Document evidence batch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Document graph proposal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normalize-unstructured-ceim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Document graph proposal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Canonical semantic validation report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onfigured runs retain the input, quality report and output references">
            <a:extLst xmlns:a="http://schemas.openxmlformats.org/drawingml/2006/main">
              <a:ext uri="{FF2B5EF4-FFF2-40B4-BE49-F238E27FC236}">
                <a16:creationId xmlns:a16="http://schemas.microsoft.com/office/drawing/2014/main" id="{C500EC49-2FDD-4DAD-989C-310CB89C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Configured runs retain the input, quality report and output references for later review.</a:t>
            </a:r>
          </a:p>
        </p:txBody>
      </p:sp>
    </p:spTree>
    <p:extLst>
      <p:ext uri="{BB962C8B-B14F-4D97-AF65-F5344CB8AC3E}">
        <p14:creationId xmlns:p14="http://schemas.microsoft.com/office/powerpoint/2010/main" val="7704722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Quality, schema and RDF job contracts">
            <a:extLst xmlns:a="http://schemas.openxmlformats.org/drawingml/2006/main">
              <a:ext uri="{FF2B5EF4-FFF2-40B4-BE49-F238E27FC236}">
                <a16:creationId xmlns:a16="http://schemas.microsoft.com/office/drawing/2014/main" id="{D403EB12-0630-49D5-9BAF-2DD436BA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Quality, schema and RDF job contracts</a:t>
            </a:r>
          </a:p>
        </p:txBody>
      </p:sp>
      <p:sp>
        <p:nvSpPr>
          <p:cNvPr id="2" name="These outputs support analysis and preparation before a separate publi">
            <a:extLst xmlns:a="http://schemas.openxmlformats.org/drawingml/2006/main">
              <a:ext uri="{FF2B5EF4-FFF2-40B4-BE49-F238E27FC236}">
                <a16:creationId xmlns:a16="http://schemas.microsoft.com/office/drawing/2014/main" id="{AA82F645-E759-49DA-9D77-6948A06F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These outputs support analysis and preparation before a separate publication decision.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FF4675AC-EDF7-4A1C-9938-2C5531B8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8">
            <a:extLst xmlns:a="http://schemas.openxmlformats.org/drawingml/2006/main">
              <a:ext uri="{FF2B5EF4-FFF2-40B4-BE49-F238E27FC236}">
                <a16:creationId xmlns:a16="http://schemas.microsoft.com/office/drawing/2014/main" id="{1CACFED5-6C64-4292-9FBE-7DBF85AD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847850"/>
          <a:ext xmlns:a="http://schemas.openxmlformats.org/drawingml/2006/main" cx="11049000" cy="3790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095625"/>
                <a:gridCol w="4095750"/>
              </a:tblGrid>
              <a:tr h="63182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Job type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Input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Functional output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interactive-quality-summary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Quality records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Summary for interactive inspection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data-quality-assessment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Quality records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Quality assessment report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schema-analytics-product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Engineering schema artifact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Draft schema analytics product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rdf-quality-statistics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N-Triples artifact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RDF quality report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rdf-deduplicate-serialize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N-Triples artifact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Canonical deduplicated N-Triples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DF profiling and deduplication currently accept N-Triples artifacts.">
            <a:extLst xmlns:a="http://schemas.openxmlformats.org/drawingml/2006/main">
              <a:ext uri="{FF2B5EF4-FFF2-40B4-BE49-F238E27FC236}">
                <a16:creationId xmlns:a16="http://schemas.microsoft.com/office/drawing/2014/main" id="{F2A3A672-A113-44DF-BEA4-44C637EC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RDF profiling and deduplication currently accept N-Triples artifacts.</a:t>
            </a:r>
          </a:p>
        </p:txBody>
      </p:sp>
    </p:spTree>
    <p:extLst>
      <p:ext uri="{BB962C8B-B14F-4D97-AF65-F5344CB8AC3E}">
        <p14:creationId xmlns:p14="http://schemas.microsoft.com/office/powerpoint/2010/main" val="8227474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atch and event reconciliation">
            <a:extLst xmlns:a="http://schemas.openxmlformats.org/drawingml/2006/main">
              <a:ext uri="{FF2B5EF4-FFF2-40B4-BE49-F238E27FC236}">
                <a16:creationId xmlns:a16="http://schemas.microsoft.com/office/drawing/2014/main" id="{4AA09911-5041-42E7-8C36-8C635508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Batch and event reconciliation</a:t>
            </a:r>
          </a:p>
        </p:txBody>
      </p:sp>
      <p:sp>
        <p:nvSpPr>
          <p:cNvPr id="2" name="Both paths retain evidence and use CEIM for semantic batch publication">
            <a:extLst xmlns:a="http://schemas.openxmlformats.org/drawingml/2006/main">
              <a:ext uri="{FF2B5EF4-FFF2-40B4-BE49-F238E27FC236}">
                <a16:creationId xmlns:a16="http://schemas.microsoft.com/office/drawing/2014/main" id="{A68C5C34-B806-42DB-AB55-E621B281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Both paths retain evidence and use CEIM for semantic batch publication.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0071BAB0-6EBD-4A33-BAA2-BB2AF235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09">
            <a:extLst xmlns:a="http://schemas.openxmlformats.org/drawingml/2006/main">
              <a:ext uri="{FF2B5EF4-FFF2-40B4-BE49-F238E27FC236}">
                <a16:creationId xmlns:a16="http://schemas.microsoft.com/office/drawing/2014/main" id="{B6EBAAE7-7DAD-4FD9-BE7D-E267C836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Batch path">
            <a:extLst xmlns:a="http://schemas.openxmlformats.org/drawingml/2006/main">
              <a:ext uri="{FF2B5EF4-FFF2-40B4-BE49-F238E27FC236}">
                <a16:creationId xmlns:a16="http://schemas.microsoft.com/office/drawing/2014/main" id="{86DD76F5-908C-4F4C-A363-B6B143DE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Batch path</a:t>
            </a:r>
          </a:p>
        </p:txBody>
      </p:sp>
      <p:sp>
        <p:nvSpPr>
          <p:cNvPr id="6" name="Retained artifact">
            <a:extLst xmlns:a="http://schemas.openxmlformats.org/drawingml/2006/main">
              <a:ext uri="{FF2B5EF4-FFF2-40B4-BE49-F238E27FC236}">
                <a16:creationId xmlns:a16="http://schemas.microsoft.com/office/drawing/2014/main" id="{B34BB0CE-0EBE-4C93-BDAA-D178BD9D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0275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Retained artifact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Source manifest and version</a:t>
            </a:r>
          </a:p>
        </p:txBody>
      </p:sp>
      <p:sp>
        <p:nvSpPr>
          <p:cNvPr id="7" name="Approved data job">
            <a:extLst xmlns:a="http://schemas.openxmlformats.org/drawingml/2006/main">
              <a:ext uri="{FF2B5EF4-FFF2-40B4-BE49-F238E27FC236}">
                <a16:creationId xmlns:a16="http://schemas.microsoft.com/office/drawing/2014/main" id="{DCE773CB-6702-4FCA-882D-0CFDD61C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00275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Approved data job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Spark/PySpark transformation</a:t>
            </a:r>
          </a:p>
        </p:txBody>
      </p:sp>
      <p:sp>
        <p:nvSpPr>
          <p:cNvPr id="8" name="Accepted partition">
            <a:extLst xmlns:a="http://schemas.openxmlformats.org/drawingml/2006/main">
              <a:ext uri="{FF2B5EF4-FFF2-40B4-BE49-F238E27FC236}">
                <a16:creationId xmlns:a16="http://schemas.microsoft.com/office/drawing/2014/main" id="{739F9A13-34A3-4358-A4AC-46A97016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200275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Accepted partition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CEIM publication approval</a:t>
            </a:r>
          </a:p>
        </p:txBody>
      </p:sp>
      <p:cxnSp>
        <p:nvCxnSpPr>
          <p:cNvPr id="2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25900" y="28146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823200" y="28146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1" name="Event path">
            <a:extLst xmlns:a="http://schemas.openxmlformats.org/drawingml/2006/main">
              <a:ext uri="{FF2B5EF4-FFF2-40B4-BE49-F238E27FC236}">
                <a16:creationId xmlns:a16="http://schemas.microsoft.com/office/drawing/2014/main" id="{5B94B716-4576-484A-A27F-B2F56001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14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Event path</a:t>
            </a:r>
          </a:p>
        </p:txBody>
      </p:sp>
      <p:sp>
        <p:nvSpPr>
          <p:cNvPr id="12" name="Approved source">
            <a:extLst xmlns:a="http://schemas.openxmlformats.org/drawingml/2006/main">
              <a:ext uri="{FF2B5EF4-FFF2-40B4-BE49-F238E27FC236}">
                <a16:creationId xmlns:a16="http://schemas.microsoft.com/office/drawing/2014/main" id="{AD1BE657-7015-4DF1-B4AD-32B41C2B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71950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Approved source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Capture events with source policy</a:t>
            </a:r>
          </a:p>
        </p:txBody>
      </p:sp>
      <p:sp>
        <p:nvSpPr>
          <p:cNvPr id="13" name="Reconciliation">
            <a:extLst xmlns:a="http://schemas.openxmlformats.org/drawingml/2006/main">
              <a:ext uri="{FF2B5EF4-FFF2-40B4-BE49-F238E27FC236}">
                <a16:creationId xmlns:a16="http://schemas.microsoft.com/office/drawing/2014/main" id="{845A1993-3722-447B-8163-D8706454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171950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Reconciliation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Idempotency and event policy checks</a:t>
            </a:r>
          </a:p>
        </p:txBody>
      </p:sp>
      <p:sp>
        <p:nvSpPr>
          <p:cNvPr id="14" name="Ready partition">
            <a:extLst xmlns:a="http://schemas.openxmlformats.org/drawingml/2006/main">
              <a:ext uri="{FF2B5EF4-FFF2-40B4-BE49-F238E27FC236}">
                <a16:creationId xmlns:a16="http://schemas.microsoft.com/office/drawing/2014/main" id="{E843CB73-8FAE-4355-9F05-95252438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4171950"/>
            <a:ext cx="345440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Ready partition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CEIM publication approval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025900" y="4786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823200" y="4786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7" name="Customer CDC/message-bus adapters and throughput targets still need de">
            <a:extLst xmlns:a="http://schemas.openxmlformats.org/drawingml/2006/main">
              <a:ext uri="{FF2B5EF4-FFF2-40B4-BE49-F238E27FC236}">
                <a16:creationId xmlns:a16="http://schemas.microsoft.com/office/drawing/2014/main" id="{886B26BB-1880-4799-8555-326D07B9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9775"/>
            <a:ext cx="11049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Customer CDC/message-bus adapters and throughput targets still need deployment-specific acceptance.</a:t>
            </a:r>
          </a:p>
        </p:txBody>
      </p:sp>
    </p:spTree>
    <p:extLst>
      <p:ext uri="{BB962C8B-B14F-4D97-AF65-F5344CB8AC3E}">
        <p14:creationId xmlns:p14="http://schemas.microsoft.com/office/powerpoint/2010/main" val="8558682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Document evidence workflow">
            <a:extLst xmlns:a="http://schemas.openxmlformats.org/drawingml/2006/main">
              <a:ext uri="{FF2B5EF4-FFF2-40B4-BE49-F238E27FC236}">
                <a16:creationId xmlns:a16="http://schemas.microsoft.com/office/drawing/2014/main" id="{B77D2756-45B5-45C7-AE9B-099EEC160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Document evidence workflow</a:t>
            </a:r>
          </a:p>
        </p:txBody>
      </p:sp>
      <p:sp>
        <p:nvSpPr>
          <p:cNvPr id="2" name="Structural enrichment preserves the link between a document and its pr">
            <a:extLst xmlns:a="http://schemas.openxmlformats.org/drawingml/2006/main">
              <a:ext uri="{FF2B5EF4-FFF2-40B4-BE49-F238E27FC236}">
                <a16:creationId xmlns:a16="http://schemas.microsoft.com/office/drawing/2014/main" id="{B77482A6-374E-4C3D-AA91-1DC6875F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Structural enrichment preserves the link between a document and its proposed graph facts.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4785B757-3DA4-44DB-AB7B-B4109562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0">
            <a:extLst xmlns:a="http://schemas.openxmlformats.org/drawingml/2006/main">
              <a:ext uri="{FF2B5EF4-FFF2-40B4-BE49-F238E27FC236}">
                <a16:creationId xmlns:a16="http://schemas.microsoft.com/office/drawing/2014/main" id="{17E3A08B-471F-491F-98D4-2AE9D5F5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Retain">
            <a:extLst xmlns:a="http://schemas.openxmlformats.org/drawingml/2006/main">
              <a:ext uri="{FF2B5EF4-FFF2-40B4-BE49-F238E27FC236}">
                <a16:creationId xmlns:a16="http://schemas.microsoft.com/office/drawing/2014/main" id="{DA2B8D3A-2B9C-4975-9C0F-61ED8B51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Retain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Store the original artifact and chunk references.</a:t>
            </a:r>
          </a:p>
        </p:txBody>
      </p:sp>
      <p:sp>
        <p:nvSpPr>
          <p:cNvPr id="6" name="Validate">
            <a:extLst xmlns:a="http://schemas.openxmlformats.org/drawingml/2006/main">
              <a:ext uri="{FF2B5EF4-FFF2-40B4-BE49-F238E27FC236}">
                <a16:creationId xmlns:a16="http://schemas.microsoft.com/office/drawing/2014/main" id="{8770EB4C-7F63-44A2-A136-05143B84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Validate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Check evidence structure and source identity.</a:t>
            </a:r>
          </a:p>
        </p:txBody>
      </p:sp>
      <p:sp>
        <p:nvSpPr>
          <p:cNvPr id="7" name="Enrich">
            <a:extLst xmlns:a="http://schemas.openxmlformats.org/drawingml/2006/main">
              <a:ext uri="{FF2B5EF4-FFF2-40B4-BE49-F238E27FC236}">
                <a16:creationId xmlns:a16="http://schemas.microsoft.com/office/drawing/2014/main" id="{D1424D72-4617-4CA7-AAAC-9B9F2095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Enrich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Produce Document and DocumentChunk proposals.</a:t>
            </a:r>
          </a:p>
        </p:txBody>
      </p:sp>
      <p:sp>
        <p:nvSpPr>
          <p:cNvPr id="8" name="Normalize">
            <a:extLst xmlns:a="http://schemas.openxmlformats.org/drawingml/2006/main">
              <a:ext uri="{FF2B5EF4-FFF2-40B4-BE49-F238E27FC236}">
                <a16:creationId xmlns:a16="http://schemas.microsoft.com/office/drawing/2014/main" id="{90476516-3336-4069-9149-BDA1DB7C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Normalize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Apply the approved CEIM mapping and validation.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Reviewer context">
            <a:extLst xmlns:a="http://schemas.openxmlformats.org/drawingml/2006/main">
              <a:ext uri="{FF2B5EF4-FFF2-40B4-BE49-F238E27FC236}">
                <a16:creationId xmlns:a16="http://schemas.microsoft.com/office/drawing/2014/main" id="{C69C736F-2B79-4ADB-8BA8-7A7E037A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Reviewer context</a:t>
            </a:r>
          </a:p>
        </p:txBody>
      </p:sp>
      <p:sp>
        <p:nvSpPr>
          <p:cNvPr id="13" name="The proposal carries provenance and content digests for traceability.">
            <a:extLst xmlns:a="http://schemas.openxmlformats.org/drawingml/2006/main">
              <a:ext uri="{FF2B5EF4-FFF2-40B4-BE49-F238E27FC236}">
                <a16:creationId xmlns:a16="http://schemas.microsoft.com/office/drawing/2014/main" id="{40A7D90D-B1BF-4988-822F-A289D53A2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51911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The proposal carries provenance and content digests for traceability.</a:t>
            </a:r>
          </a:p>
        </p:txBody>
      </p:sp>
      <p:sp>
        <p:nvSpPr>
          <p:cNvPr id="14" name="Scope">
            <a:extLst xmlns:a="http://schemas.openxmlformats.org/drawingml/2006/main">
              <a:ext uri="{FF2B5EF4-FFF2-40B4-BE49-F238E27FC236}">
                <a16:creationId xmlns:a16="http://schemas.microsoft.com/office/drawing/2014/main" id="{F724719D-F759-4F9D-9AD3-FDA1595B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Scope</a:t>
            </a:r>
          </a:p>
        </p:txBody>
      </p:sp>
      <p:sp>
        <p:nvSpPr>
          <p:cNvPr id="15" name="OCR, model-based entity extraction and embeddings require separate mod">
            <a:extLst xmlns:a="http://schemas.openxmlformats.org/drawingml/2006/main">
              <a:ext uri="{FF2B5EF4-FFF2-40B4-BE49-F238E27FC236}">
                <a16:creationId xmlns:a16="http://schemas.microsoft.com/office/drawing/2014/main" id="{59AFF63C-1E1F-4609-A26E-2E78C7AB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43450"/>
            <a:ext cx="51911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OCR, model-based entity extraction and embeddings require separate model and corpus controls.</a:t>
            </a:r>
          </a:p>
        </p:txBody>
      </p:sp>
    </p:spTree>
    <p:extLst>
      <p:ext uri="{BB962C8B-B14F-4D97-AF65-F5344CB8AC3E}">
        <p14:creationId xmlns:p14="http://schemas.microsoft.com/office/powerpoint/2010/main" val="19297835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Data-product packaging and catalog registration">
            <a:extLst xmlns:a="http://schemas.openxmlformats.org/drawingml/2006/main">
              <a:ext uri="{FF2B5EF4-FFF2-40B4-BE49-F238E27FC236}">
                <a16:creationId xmlns:a16="http://schemas.microsoft.com/office/drawing/2014/main" id="{F9598A66-6D72-4E85-890A-B992FE10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Data-product packaging and catalog registration</a:t>
            </a:r>
          </a:p>
        </p:txBody>
      </p:sp>
      <p:sp>
        <p:nvSpPr>
          <p:cNvPr id="2" name="A product exposes a versioned package and its evidence for reuse.">
            <a:extLst xmlns:a="http://schemas.openxmlformats.org/drawingml/2006/main">
              <a:ext uri="{FF2B5EF4-FFF2-40B4-BE49-F238E27FC236}">
                <a16:creationId xmlns:a16="http://schemas.microsoft.com/office/drawing/2014/main" id="{3D6253FC-0459-4697-B84D-F445EF85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 product exposes a versioned package and its evidence for reuse.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1604482B-3E32-42A7-8BAB-DC643D7C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1">
            <a:extLst xmlns:a="http://schemas.openxmlformats.org/drawingml/2006/main">
              <a:ext uri="{FF2B5EF4-FFF2-40B4-BE49-F238E27FC236}">
                <a16:creationId xmlns:a16="http://schemas.microsoft.com/office/drawing/2014/main" id="{AE7B9362-0F3E-4660-B8D5-2AADE9E2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Evidence">
            <a:extLst xmlns:a="http://schemas.openxmlformats.org/drawingml/2006/main">
              <a:ext uri="{FF2B5EF4-FFF2-40B4-BE49-F238E27FC236}">
                <a16:creationId xmlns:a16="http://schemas.microsoft.com/office/drawing/2014/main" id="{D27A814F-0444-4010-88E3-5ACCA449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Evidence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Artifact references and semantic release</a:t>
            </a:r>
          </a:p>
        </p:txBody>
      </p:sp>
      <p:sp>
        <p:nvSpPr>
          <p:cNvPr id="6" name="Product manifest">
            <a:extLst xmlns:a="http://schemas.openxmlformats.org/drawingml/2006/main">
              <a:ext uri="{FF2B5EF4-FFF2-40B4-BE49-F238E27FC236}">
                <a16:creationId xmlns:a16="http://schemas.microsoft.com/office/drawing/2014/main" id="{D2E4E9D0-E21A-46FD-84F8-B1633C16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143125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Product manifest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Versioned package and validation status</a:t>
            </a:r>
          </a:p>
        </p:txBody>
      </p:sp>
      <p:sp>
        <p:nvSpPr>
          <p:cNvPr id="7" name="Durable outbox">
            <a:extLst xmlns:a="http://schemas.openxmlformats.org/drawingml/2006/main">
              <a:ext uri="{FF2B5EF4-FFF2-40B4-BE49-F238E27FC236}">
                <a16:creationId xmlns:a16="http://schemas.microsoft.com/office/drawing/2014/main" id="{5D0BC655-BE5C-4C72-BE90-5D149A1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43125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Durable outbox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Retain pending catalog registration</a:t>
            </a:r>
          </a:p>
        </p:txBody>
      </p:sp>
      <p:sp>
        <p:nvSpPr>
          <p:cNvPr id="8" name="Catalog">
            <a:extLst xmlns:a="http://schemas.openxmlformats.org/drawingml/2006/main">
              <a:ext uri="{FF2B5EF4-FFF2-40B4-BE49-F238E27FC236}">
                <a16:creationId xmlns:a16="http://schemas.microsoft.com/office/drawing/2014/main" id="{8CE3D710-987B-4082-B26D-3435982A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143125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Catalog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Discover the product and retrieve its metadata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9289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Recovery">
            <a:extLst xmlns:a="http://schemas.openxmlformats.org/drawingml/2006/main">
              <a:ext uri="{FF2B5EF4-FFF2-40B4-BE49-F238E27FC236}">
                <a16:creationId xmlns:a16="http://schemas.microsoft.com/office/drawing/2014/main" id="{4D1C4EFE-94B7-49A4-8808-5BF2EB52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Recovery</a:t>
            </a:r>
          </a:p>
        </p:txBody>
      </p:sp>
      <p:sp>
        <p:nvSpPr>
          <p:cNvPr id="13" name="The outbox worker periodically reconciles pending registrations.">
            <a:extLst xmlns:a="http://schemas.openxmlformats.org/drawingml/2006/main">
              <a:ext uri="{FF2B5EF4-FFF2-40B4-BE49-F238E27FC236}">
                <a16:creationId xmlns:a16="http://schemas.microsoft.com/office/drawing/2014/main" id="{75FE99D2-A73B-4EBF-B426-73E9999F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51911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The outbox worker periodically reconciles pending registrations.</a:t>
            </a:r>
          </a:p>
        </p:txBody>
      </p:sp>
      <p:sp>
        <p:nvSpPr>
          <p:cNvPr id="14" name="Boundary">
            <a:extLst xmlns:a="http://schemas.openxmlformats.org/drawingml/2006/main">
              <a:ext uri="{FF2B5EF4-FFF2-40B4-BE49-F238E27FC236}">
                <a16:creationId xmlns:a16="http://schemas.microsoft.com/office/drawing/2014/main" id="{015F5706-EE1F-49B4-B40C-16122BAC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Boundary</a:t>
            </a:r>
          </a:p>
        </p:txBody>
      </p:sp>
      <p:sp>
        <p:nvSpPr>
          <p:cNvPr id="15" name="Packaging and catalog registration are separate from graph mutation. A">
            <a:extLst xmlns:a="http://schemas.openxmlformats.org/drawingml/2006/main">
              <a:ext uri="{FF2B5EF4-FFF2-40B4-BE49-F238E27FC236}">
                <a16:creationId xmlns:a16="http://schemas.microsoft.com/office/drawing/2014/main" id="{4921A355-1371-492D-84D4-A9F18E99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43450"/>
            <a:ext cx="51911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Packaging and catalog registration are separate from graph mutation. A manifest alone grants no write authority.</a:t>
            </a:r>
          </a:p>
        </p:txBody>
      </p:sp>
    </p:spTree>
    <p:extLst>
      <p:ext uri="{BB962C8B-B14F-4D97-AF65-F5344CB8AC3E}">
        <p14:creationId xmlns:p14="http://schemas.microsoft.com/office/powerpoint/2010/main" val="13383899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gentic assistance and semantic retrieval">
            <a:extLst xmlns:a="http://schemas.openxmlformats.org/drawingml/2006/main">
              <a:ext uri="{FF2B5EF4-FFF2-40B4-BE49-F238E27FC236}">
                <a16:creationId xmlns:a16="http://schemas.microsoft.com/office/drawing/2014/main" id="{521D7402-456B-436C-BD03-4B796F29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Agentic assistance and semantic retrieval</a:t>
            </a:r>
          </a:p>
        </p:txBody>
      </p:sp>
      <p:sp>
        <p:nvSpPr>
          <p:cNvPr id="2" name="The Knowledge Companion retrieves bounded graph evidence. Tool workflo">
            <a:extLst xmlns:a="http://schemas.openxmlformats.org/drawingml/2006/main">
              <a:ext uri="{FF2B5EF4-FFF2-40B4-BE49-F238E27FC236}">
                <a16:creationId xmlns:a16="http://schemas.microsoft.com/office/drawing/2014/main" id="{39D862E7-A1F4-4D33-A36D-3531AAA8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 Knowledge Companion retrieves bounded graph evidence. Tool workflows use explicit authorization.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CBCDCF09-94B7-49DA-BFDF-F6F45076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2">
            <a:extLst xmlns:a="http://schemas.openxmlformats.org/drawingml/2006/main">
              <a:ext uri="{FF2B5EF4-FFF2-40B4-BE49-F238E27FC236}">
                <a16:creationId xmlns:a16="http://schemas.microsoft.com/office/drawing/2014/main" id="{B619E487-9D21-4D09-A111-58D2DBBD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User request">
            <a:extLst xmlns:a="http://schemas.openxmlformats.org/drawingml/2006/main">
              <a:ext uri="{FF2B5EF4-FFF2-40B4-BE49-F238E27FC236}">
                <a16:creationId xmlns:a16="http://schemas.microsoft.com/office/drawing/2014/main" id="{23018E6D-844B-4F38-BE49-670F2274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User request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Read API key authorizes retrieval</a:t>
            </a:r>
          </a:p>
        </p:txBody>
      </p:sp>
      <p:sp>
        <p:nvSpPr>
          <p:cNvPr id="6" name="Agentic service">
            <a:extLst xmlns:a="http://schemas.openxmlformats.org/drawingml/2006/main">
              <a:ext uri="{FF2B5EF4-FFF2-40B4-BE49-F238E27FC236}">
                <a16:creationId xmlns:a16="http://schemas.microsoft.com/office/drawing/2014/main" id="{9FF198BD-70F3-43D0-87F4-A38D5FCA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Agentic service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Selects allowed tools or searches graph evidence</a:t>
            </a:r>
          </a:p>
        </p:txBody>
      </p:sp>
      <p:sp>
        <p:nvSpPr>
          <p:cNvPr id="7" name="Serving APIs">
            <a:extLst xmlns:a="http://schemas.openxmlformats.org/drawingml/2006/main">
              <a:ext uri="{FF2B5EF4-FFF2-40B4-BE49-F238E27FC236}">
                <a16:creationId xmlns:a16="http://schemas.microsoft.com/office/drawing/2014/main" id="{70963B78-C35B-4786-98C0-A255FCE8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Serving APIs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Graph search, traversal and read projections</a:t>
            </a:r>
          </a:p>
        </p:txBody>
      </p:sp>
      <p:sp>
        <p:nvSpPr>
          <p:cNvPr id="8" name="Response">
            <a:extLst xmlns:a="http://schemas.openxmlformats.org/drawingml/2006/main">
              <a:ext uri="{FF2B5EF4-FFF2-40B4-BE49-F238E27FC236}">
                <a16:creationId xmlns:a16="http://schemas.microsoft.com/office/drawing/2014/main" id="{98865D50-5D7F-47CB-A7FB-9EC0C5C1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Response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Evidence references or an insufficient-evidence result</a:t>
            </a:r>
          </a:p>
        </p:txBody>
      </p:sp>
      <p:cxnSp>
        <p:nvCxnSpPr>
          <p:cNvPr id="25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Mutation requests">
            <a:extLst xmlns:a="http://schemas.openxmlformats.org/drawingml/2006/main">
              <a:ext uri="{FF2B5EF4-FFF2-40B4-BE49-F238E27FC236}">
                <a16:creationId xmlns:a16="http://schemas.microsoft.com/office/drawing/2014/main" id="{37D1B4C6-EFBF-4FA0-B431-0470CB4C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Mutation requests</a:t>
            </a:r>
          </a:p>
        </p:txBody>
      </p:sp>
      <p:sp>
        <p:nvSpPr>
          <p:cNvPr id="13" name="Tool and Bridge actions require the relevant approval. Services own pu">
            <a:extLst xmlns:a="http://schemas.openxmlformats.org/drawingml/2006/main">
              <a:ext uri="{FF2B5EF4-FFF2-40B4-BE49-F238E27FC236}">
                <a16:creationId xmlns:a16="http://schemas.microsoft.com/office/drawing/2014/main" id="{60A1E75A-2397-4290-AE88-C3453D73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00575"/>
            <a:ext cx="519112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Tool and Bridge actions require the relevant approval. Services own publication.</a:t>
            </a:r>
          </a:p>
        </p:txBody>
      </p:sp>
      <p:sp>
        <p:nvSpPr>
          <p:cNvPr id="14" name="Optional integrations">
            <a:extLst xmlns:a="http://schemas.openxmlformats.org/drawingml/2006/main">
              <a:ext uri="{FF2B5EF4-FFF2-40B4-BE49-F238E27FC236}">
                <a16:creationId xmlns:a16="http://schemas.microsoft.com/office/drawing/2014/main" id="{5E095BD9-9B6D-46D3-A191-176C44D0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433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Optional integrations</a:t>
            </a:r>
          </a:p>
        </p:txBody>
      </p:sp>
      <p:sp>
        <p:nvSpPr>
          <p:cNvPr id="15" name="Remote DT agent and OSLC remain disabled until configured. An external">
            <a:extLst xmlns:a="http://schemas.openxmlformats.org/drawingml/2006/main">
              <a:ext uri="{FF2B5EF4-FFF2-40B4-BE49-F238E27FC236}">
                <a16:creationId xmlns:a16="http://schemas.microsoft.com/office/drawing/2014/main" id="{90A02A0A-C181-42C9-B651-441BECE7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00575"/>
            <a:ext cx="519112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Remote DT agent and OSLC remain disabled until configured. An external LLM is not required by the Companion path.</a:t>
            </a:r>
          </a:p>
        </p:txBody>
      </p:sp>
      <p:sp>
        <p:nvSpPr>
          <p:cNvPr id="16" name="Bounded SPARQL and approved federation APIs exist. They need configure">
            <a:extLst xmlns:a="http://schemas.openxmlformats.org/drawingml/2006/main">
              <a:ext uri="{FF2B5EF4-FFF2-40B4-BE49-F238E27FC236}">
                <a16:creationId xmlns:a16="http://schemas.microsoft.com/office/drawing/2014/main" id="{336052E1-F7C3-4DC6-845F-FD9344A1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9597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Bounded SPARQL and approved federation APIs exist. They need configured data and authorized peers.</a:t>
            </a:r>
          </a:p>
        </p:txBody>
      </p:sp>
    </p:spTree>
    <p:extLst>
      <p:ext uri="{BB962C8B-B14F-4D97-AF65-F5344CB8AC3E}">
        <p14:creationId xmlns:p14="http://schemas.microsoft.com/office/powerpoint/2010/main" val="16560909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unctional workflows in the frontend">
            <a:extLst xmlns:a="http://schemas.openxmlformats.org/drawingml/2006/main">
              <a:ext uri="{FF2B5EF4-FFF2-40B4-BE49-F238E27FC236}">
                <a16:creationId xmlns:a16="http://schemas.microsoft.com/office/drawing/2014/main" id="{C8BD5CA7-7332-4EBD-8CDF-316DE6B0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Functional workflows in the frontend</a:t>
            </a:r>
          </a:p>
        </p:txBody>
      </p:sp>
      <p:sp>
        <p:nvSpPr>
          <p:cNvPr id="2" name="The UI connects user decisions to service-owned evidence and authoriza">
            <a:extLst xmlns:a="http://schemas.openxmlformats.org/drawingml/2006/main">
              <a:ext uri="{FF2B5EF4-FFF2-40B4-BE49-F238E27FC236}">
                <a16:creationId xmlns:a16="http://schemas.microsoft.com/office/drawing/2014/main" id="{F4D20C75-4EA0-4891-97D5-3EFEC685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 UI connects user decisions to service-owned evidence and authorization.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CB9EA31B-61C7-4B2D-895F-0AA03D03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3">
            <a:extLst xmlns:a="http://schemas.openxmlformats.org/drawingml/2006/main">
              <a:ext uri="{FF2B5EF4-FFF2-40B4-BE49-F238E27FC236}">
                <a16:creationId xmlns:a16="http://schemas.microsoft.com/office/drawing/2014/main" id="{09A3088A-A6B2-4659-9995-61F0B4BA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952625"/>
          <a:ext xmlns:a="http://schemas.openxmlformats.org/drawingml/2006/main" cx="11049000" cy="3609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524375"/>
                <a:gridCol w="3857625"/>
              </a:tblGrid>
              <a:tr h="72199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User task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UI interaction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Visible result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72199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Map an imported instance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Create/load Bridge preview, select mappings, approve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Candidate evidence and publication status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199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Operate data jobs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Inspect definitions/runs, quality and replay controls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Run telemetry, lineage and checkpoint state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72199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Explore published meaning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Search and inspect graph neighborhoods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Bounded resources and relationships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199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Ask about graph evidence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Enter a read API key and submit a question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Evidence-backed response or no-evidence result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Read credentials and approval credentials serve different operations. ">
            <a:extLst xmlns:a="http://schemas.openxmlformats.org/drawingml/2006/main">
              <a:ext uri="{FF2B5EF4-FFF2-40B4-BE49-F238E27FC236}">
                <a16:creationId xmlns:a16="http://schemas.microsoft.com/office/drawing/2014/main" id="{84E4DA61-686A-4B91-9DFA-5DB5FA59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977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Read credentials and approval credentials serve different operations. Server secrets never belong in the browser build.</a:t>
            </a:r>
          </a:p>
        </p:txBody>
      </p:sp>
    </p:spTree>
    <p:extLst>
      <p:ext uri="{BB962C8B-B14F-4D97-AF65-F5344CB8AC3E}">
        <p14:creationId xmlns:p14="http://schemas.microsoft.com/office/powerpoint/2010/main" val="200116893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ustomer deployment topology">
            <a:extLst xmlns:a="http://schemas.openxmlformats.org/drawingml/2006/main">
              <a:ext uri="{FF2B5EF4-FFF2-40B4-BE49-F238E27FC236}">
                <a16:creationId xmlns:a16="http://schemas.microsoft.com/office/drawing/2014/main" id="{9F1539E0-164A-4942-BB97-4C2D0CC6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Customer deployment topology</a:t>
            </a:r>
          </a:p>
        </p:txBody>
      </p:sp>
      <p:sp>
        <p:nvSpPr>
          <p:cNvPr id="2" name="The same application supports local or customer-managed databases.">
            <a:extLst xmlns:a="http://schemas.openxmlformats.org/drawingml/2006/main">
              <a:ext uri="{FF2B5EF4-FFF2-40B4-BE49-F238E27FC236}">
                <a16:creationId xmlns:a16="http://schemas.microsoft.com/office/drawing/2014/main" id="{1D1C066F-1B75-4886-A72E-0D5A579A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The same application supports local or customer-managed databases.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191C3E15-5E6C-4FCC-958B-0AB4A4B2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4">
            <a:extLst xmlns:a="http://schemas.openxmlformats.org/drawingml/2006/main">
              <a:ext uri="{FF2B5EF4-FFF2-40B4-BE49-F238E27FC236}">
                <a16:creationId xmlns:a16="http://schemas.microsoft.com/office/drawing/2014/main" id="{12E09FA5-2E0C-4067-B111-5C255E88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Browser">
            <a:extLst xmlns:a="http://schemas.openxmlformats.org/drawingml/2006/main">
              <a:ext uri="{FF2B5EF4-FFF2-40B4-BE49-F238E27FC236}">
                <a16:creationId xmlns:a16="http://schemas.microsoft.com/office/drawing/2014/main" id="{CF252C22-A9E8-4548-83D7-775A571B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3048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Browser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Public frontend bundle over HTTPS</a:t>
            </a:r>
          </a:p>
        </p:txBody>
      </p:sp>
      <p:sp>
        <p:nvSpPr>
          <p:cNvPr id="6" name="Web server / proxy">
            <a:extLst xmlns:a="http://schemas.openxmlformats.org/drawingml/2006/main">
              <a:ext uri="{FF2B5EF4-FFF2-40B4-BE49-F238E27FC236}">
                <a16:creationId xmlns:a16="http://schemas.microsoft.com/office/drawing/2014/main" id="{85D0C311-46AA-4D6B-8A43-54C74929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Web server / proxy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Serves frontend/dist and routes API requests</a:t>
            </a:r>
          </a:p>
        </p:txBody>
      </p:sp>
      <p:sp>
        <p:nvSpPr>
          <p:cNvPr id="7" name="DEPO services">
            <a:extLst xmlns:a="http://schemas.openxmlformats.org/drawingml/2006/main">
              <a:ext uri="{FF2B5EF4-FFF2-40B4-BE49-F238E27FC236}">
                <a16:creationId xmlns:a16="http://schemas.microsoft.com/office/drawing/2014/main" id="{A9278E0A-25D5-457D-95C3-6689E3FC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47875"/>
            <a:ext cx="3048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DEPO services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Ten APIs and one outbox worker</a:t>
            </a:r>
          </a:p>
        </p:txBody>
      </p:sp>
      <p:cxnSp>
        <p:nvCxnSpPr>
          <p:cNvPr id="23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619500" y="2690813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715250" y="2690813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0" name="PostgreSQL">
            <a:extLst xmlns:a="http://schemas.openxmlformats.org/drawingml/2006/main">
              <a:ext uri="{FF2B5EF4-FFF2-40B4-BE49-F238E27FC236}">
                <a16:creationId xmlns:a16="http://schemas.microsoft.com/office/drawing/2014/main" id="{112C7075-E60F-4CD2-B426-221E205E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11" name="Local service, portable instance or managed database. Application sche">
            <a:extLst xmlns:a="http://schemas.openxmlformats.org/drawingml/2006/main">
              <a:ext uri="{FF2B5EF4-FFF2-40B4-BE49-F238E27FC236}">
                <a16:creationId xmlns:a16="http://schemas.microsoft.com/office/drawing/2014/main" id="{51A1D99A-4103-4F54-96CE-4DCA0445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33496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Local service, portable instance or managed database. Application schema needs migration privileges.</a:t>
            </a:r>
          </a:p>
        </p:txBody>
      </p:sp>
      <p:sp>
        <p:nvSpPr>
          <p:cNvPr id="12" name="Neo4j">
            <a:extLst xmlns:a="http://schemas.openxmlformats.org/drawingml/2006/main">
              <a:ext uri="{FF2B5EF4-FFF2-40B4-BE49-F238E27FC236}">
                <a16:creationId xmlns:a16="http://schemas.microsoft.com/office/drawing/2014/main" id="{E196BE72-3145-4ACC-836B-3B1E88D0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0957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Neo4j</a:t>
            </a:r>
          </a:p>
        </p:txBody>
      </p:sp>
      <p:sp>
        <p:nvSpPr>
          <p:cNvPr id="13" name="On-premises, hosted server or Aura. Production uses verified TLS with ">
            <a:extLst xmlns:a="http://schemas.openxmlformats.org/drawingml/2006/main">
              <a:ext uri="{FF2B5EF4-FFF2-40B4-BE49-F238E27FC236}">
                <a16:creationId xmlns:a16="http://schemas.microsoft.com/office/drawing/2014/main" id="{91573629-866F-404C-90E8-14382648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552950"/>
            <a:ext cx="33496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On-premises, hosted server or Aura. Production uses verified TLS with neo4j+s or bolt+s.</a:t>
            </a:r>
          </a:p>
        </p:txBody>
      </p:sp>
      <p:sp>
        <p:nvSpPr>
          <p:cNvPr id="14" name="Spark / PySpark">
            <a:extLst xmlns:a="http://schemas.openxmlformats.org/drawingml/2006/main">
              <a:ext uri="{FF2B5EF4-FFF2-40B4-BE49-F238E27FC236}">
                <a16:creationId xmlns:a16="http://schemas.microsoft.com/office/drawing/2014/main" id="{BD2F7F2E-C11A-41C1-B143-7E02D078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095750"/>
            <a:ext cx="339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Spark / PySpark</a:t>
            </a:r>
          </a:p>
        </p:txBody>
      </p:sp>
      <p:sp>
        <p:nvSpPr>
          <p:cNvPr id="15" name="Optional compute beside the pipeline service. Spark 4.1.2, Scala 2.13 ">
            <a:extLst xmlns:a="http://schemas.openxmlformats.org/drawingml/2006/main">
              <a:ext uri="{FF2B5EF4-FFF2-40B4-BE49-F238E27FC236}">
                <a16:creationId xmlns:a16="http://schemas.microsoft.com/office/drawing/2014/main" id="{AE62DE0E-9DF6-4127-8C82-52973C92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552950"/>
            <a:ext cx="33496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Optional compute beside the pipeline service. Spark 4.1.2, Scala 2.13 and JDK 21 baseline.</a:t>
            </a:r>
          </a:p>
        </p:txBody>
      </p:sp>
    </p:spTree>
    <p:extLst>
      <p:ext uri="{BB962C8B-B14F-4D97-AF65-F5344CB8AC3E}">
        <p14:creationId xmlns:p14="http://schemas.microsoft.com/office/powerpoint/2010/main" val="11002136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One application installation sequence">
            <a:extLst xmlns:a="http://schemas.openxmlformats.org/drawingml/2006/main">
              <a:ext uri="{FF2B5EF4-FFF2-40B4-BE49-F238E27FC236}">
                <a16:creationId xmlns:a16="http://schemas.microsoft.com/office/drawing/2014/main" id="{5E7B0D97-B7DC-48B4-840A-E7F2CF63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One application installation sequence</a:t>
            </a:r>
          </a:p>
        </p:txBody>
      </p:sp>
      <p:sp>
        <p:nvSpPr>
          <p:cNvPr id="2" name="A single installer owns frontend dependencies and the backend Python e">
            <a:extLst xmlns:a="http://schemas.openxmlformats.org/drawingml/2006/main">
              <a:ext uri="{FF2B5EF4-FFF2-40B4-BE49-F238E27FC236}">
                <a16:creationId xmlns:a16="http://schemas.microsoft.com/office/drawing/2014/main" id="{C1E822A3-CE9A-4044-A45C-2158BAED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A single installer owns frontend dependencies and the backend Python environment.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B096D4B8-73AE-443D-94C0-B963432A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5">
            <a:extLst xmlns:a="http://schemas.openxmlformats.org/drawingml/2006/main">
              <a:ext uri="{FF2B5EF4-FFF2-40B4-BE49-F238E27FC236}">
                <a16:creationId xmlns:a16="http://schemas.microsoft.com/office/drawing/2014/main" id="{D53CF125-6372-431F-B1F6-A12065A6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1  Provision">
            <a:extLst xmlns:a="http://schemas.openxmlformats.org/drawingml/2006/main">
              <a:ext uri="{FF2B5EF4-FFF2-40B4-BE49-F238E27FC236}">
                <a16:creationId xmlns:a16="http://schemas.microsoft.com/office/drawing/2014/main" id="{5156253B-8EDD-4440-BFD0-81F4513E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5050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1  Provision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PostgreSQL and Neo4j. Add Spark only when required.</a:t>
            </a:r>
          </a:p>
        </p:txBody>
      </p:sp>
      <p:sp>
        <p:nvSpPr>
          <p:cNvPr id="6" name="2  Configure">
            <a:extLst xmlns:a="http://schemas.openxmlformats.org/drawingml/2006/main">
              <a:ext uri="{FF2B5EF4-FFF2-40B4-BE49-F238E27FC236}">
                <a16:creationId xmlns:a16="http://schemas.microsoft.com/office/drawing/2014/main" id="{4DCB5014-CA79-4F69-8748-60EDAAF5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95500"/>
            <a:ext cx="25050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2  Configure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Root server env and separate public browser env.</a:t>
            </a:r>
          </a:p>
        </p:txBody>
      </p:sp>
      <p:sp>
        <p:nvSpPr>
          <p:cNvPr id="7" name="3  Install">
            <a:extLst xmlns:a="http://schemas.openxmlformats.org/drawingml/2006/main">
              <a:ext uri="{FF2B5EF4-FFF2-40B4-BE49-F238E27FC236}">
                <a16:creationId xmlns:a16="http://schemas.microsoft.com/office/drawing/2014/main" id="{4B8110AA-5F2E-47CB-A8DD-2C6C0F27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5050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3  Install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Python dependencies, npm ci and frontend build.</a:t>
            </a:r>
          </a:p>
        </p:txBody>
      </p:sp>
      <p:sp>
        <p:nvSpPr>
          <p:cNvPr id="8" name="4  Initialize">
            <a:extLst xmlns:a="http://schemas.openxmlformats.org/drawingml/2006/main">
              <a:ext uri="{FF2B5EF4-FFF2-40B4-BE49-F238E27FC236}">
                <a16:creationId xmlns:a16="http://schemas.microsoft.com/office/drawing/2014/main" id="{4E9A3D33-FE6C-41D8-A2AD-50BDF899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095500"/>
            <a:ext cx="25050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4  Initialize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Apply migrations and check tables and columns.</a:t>
            </a:r>
          </a:p>
        </p:txBody>
      </p: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76575" y="29432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24550" y="29432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772525" y="29432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2" name="Runtime baseline">
            <a:extLst xmlns:a="http://schemas.openxmlformats.org/drawingml/2006/main">
              <a:ext uri="{FF2B5EF4-FFF2-40B4-BE49-F238E27FC236}">
                <a16:creationId xmlns:a16="http://schemas.microsoft.com/office/drawing/2014/main" id="{753CAB91-4075-42E4-84A3-253F9769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3862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Runtime baseline</a:t>
            </a:r>
          </a:p>
        </p:txBody>
      </p:sp>
      <p:sp>
        <p:nvSpPr>
          <p:cNvPr id="13" name="Python 3.11+, Node.js 24+ and npm 10.2+. PySpark comes from the approv">
            <a:extLst xmlns:a="http://schemas.openxmlformats.org/drawingml/2006/main">
              <a:ext uri="{FF2B5EF4-FFF2-40B4-BE49-F238E27FC236}">
                <a16:creationId xmlns:a16="http://schemas.microsoft.com/office/drawing/2014/main" id="{48D1E69A-9FF4-4850-B0C3-CE194FD6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95825"/>
            <a:ext cx="519112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Python 3.11+, Node.js 24+ and npm 10.2+. PySpark comes from the approved Spark distribution.</a:t>
            </a:r>
          </a:p>
        </p:txBody>
      </p:sp>
      <p:sp>
        <p:nvSpPr>
          <p:cNvPr id="14" name="Start and accept">
            <a:extLst xmlns:a="http://schemas.openxmlformats.org/drawingml/2006/main">
              <a:ext uri="{FF2B5EF4-FFF2-40B4-BE49-F238E27FC236}">
                <a16:creationId xmlns:a16="http://schemas.microsoft.com/office/drawing/2014/main" id="{9A791C0C-D959-4C24-AEC7-D324D4C4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3862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Start and accept</a:t>
            </a:r>
          </a:p>
        </p:txBody>
      </p:sp>
      <p:sp>
        <p:nvSpPr>
          <p:cNvPr id="15" name="Start services, serve frontend/dist, run Production preflight and veri">
            <a:extLst xmlns:a="http://schemas.openxmlformats.org/drawingml/2006/main">
              <a:ext uri="{FF2B5EF4-FFF2-40B4-BE49-F238E27FC236}">
                <a16:creationId xmlns:a16="http://schemas.microsoft.com/office/drawing/2014/main" id="{6ED2EB6D-C609-4EA5-824D-CDC4ED13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95825"/>
            <a:ext cx="519112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Start services, serve frontend/dist, run Production preflight and verify the customer browser workflow.</a:t>
            </a:r>
          </a:p>
        </p:txBody>
      </p:sp>
    </p:spTree>
    <p:extLst>
      <p:ext uri="{BB962C8B-B14F-4D97-AF65-F5344CB8AC3E}">
        <p14:creationId xmlns:p14="http://schemas.microsoft.com/office/powerpoint/2010/main" val="19874082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ostgreSQL ownership and schema checks">
            <a:extLst xmlns:a="http://schemas.openxmlformats.org/drawingml/2006/main">
              <a:ext uri="{FF2B5EF4-FFF2-40B4-BE49-F238E27FC236}">
                <a16:creationId xmlns:a16="http://schemas.microsoft.com/office/drawing/2014/main" id="{4E469165-8789-459D-A6E8-53889D64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PostgreSQL ownership and schema checks</a:t>
            </a:r>
          </a:p>
        </p:txBody>
      </p:sp>
      <p:sp>
        <p:nvSpPr>
          <p:cNvPr id="2" name="Eight tables and one view contain forty required columns. JSON documen">
            <a:extLst xmlns:a="http://schemas.openxmlformats.org/drawingml/2006/main">
              <a:ext uri="{FF2B5EF4-FFF2-40B4-BE49-F238E27FC236}">
                <a16:creationId xmlns:a16="http://schemas.microsoft.com/office/drawing/2014/main" id="{C4A91A9C-9468-47BD-A73A-041BF4AF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Eight tables and one view contain forty required columns. JSON documents share registry namespaces.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2827B342-C2D2-4AD4-A3E9-9A8FBBA2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6">
            <a:extLst xmlns:a="http://schemas.openxmlformats.org/drawingml/2006/main">
              <a:ext uri="{FF2B5EF4-FFF2-40B4-BE49-F238E27FC236}">
                <a16:creationId xmlns:a16="http://schemas.microsoft.com/office/drawing/2014/main" id="{801F4ABA-A040-413F-89A5-95838D04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847850"/>
          <a:ext xmlns:a="http://schemas.openxmlformats.org/drawingml/2006/main" cx="11049000" cy="3895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3952875"/>
                <a:gridCol w="4476750"/>
              </a:tblGrid>
              <a:tr h="77914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Data responsibility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Relations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Functional purpose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77914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Migration and registry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depo_schema_migrations</a:t>
                      </a:r>
                    </a:p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depo_registry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Record release versions and control-plane documents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914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Runtime and chat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depo_runtime_state</a:t>
                      </a:r>
                    </a:p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depo_chat_messages</a:t>
                      </a:r>
                    </a:p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depo_rate_limits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Keep workflow state, conversation history and rate records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77914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Governance history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depo_metadata_assets</a:t>
                      </a:r>
                    </a:p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depo_metadata_events</a:t>
                      </a:r>
                    </a:p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depo_metadata_outbox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Record semantic assets, revisions and pending events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914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Analytics projection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depo_ontology_analytics (view)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Expose selected ontology statistics from registry JSON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InitializeDatabase applies migrations. CheckOnly verifies columns/type">
            <a:extLst xmlns:a="http://schemas.openxmlformats.org/drawingml/2006/main">
              <a:ext uri="{FF2B5EF4-FFF2-40B4-BE49-F238E27FC236}">
                <a16:creationId xmlns:a16="http://schemas.microsoft.com/office/drawing/2014/main" id="{D06F4217-375A-4F80-998F-36A10B84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95975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InitializeDatabase applies migrations. CheckOnly verifies columns/types and migration history without DDL. Constraints and privileges require DBA acceptance.</a:t>
            </a:r>
          </a:p>
        </p:txBody>
      </p:sp>
    </p:spTree>
    <p:extLst>
      <p:ext uri="{BB962C8B-B14F-4D97-AF65-F5344CB8AC3E}">
        <p14:creationId xmlns:p14="http://schemas.microsoft.com/office/powerpoint/2010/main" val="5025994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PI-key authentication and trust boundaries">
            <a:extLst xmlns:a="http://schemas.openxmlformats.org/drawingml/2006/main">
              <a:ext uri="{FF2B5EF4-FFF2-40B4-BE49-F238E27FC236}">
                <a16:creationId xmlns:a16="http://schemas.microsoft.com/office/drawing/2014/main" id="{43BF1939-D5D4-4EA4-9393-4725FFC6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API-key authentication and trust boundaries</a:t>
            </a:r>
          </a:p>
        </p:txBody>
      </p:sp>
      <p:sp>
        <p:nvSpPr>
          <p:cNvPr id="2" name="This delivery uses AUTH_MODE=token. Entra and GitHub Actions are not i">
            <a:extLst xmlns:a="http://schemas.openxmlformats.org/drawingml/2006/main">
              <a:ext uri="{FF2B5EF4-FFF2-40B4-BE49-F238E27FC236}">
                <a16:creationId xmlns:a16="http://schemas.microsoft.com/office/drawing/2014/main" id="{2E5955EF-A8A3-4702-AA93-50E6D07B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This delivery uses AUTH_MODE=token. Entra and GitHub Actions are not installation requirements.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DEAA5A3D-D630-485D-B449-67157112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7">
            <a:extLst xmlns:a="http://schemas.openxmlformats.org/drawingml/2006/main">
              <a:ext uri="{FF2B5EF4-FFF2-40B4-BE49-F238E27FC236}">
                <a16:creationId xmlns:a16="http://schemas.microsoft.com/office/drawing/2014/main" id="{EE33492C-F7FA-4E23-8D0B-B94C819E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User access">
            <a:extLst xmlns:a="http://schemas.openxmlformats.org/drawingml/2006/main">
              <a:ext uri="{FF2B5EF4-FFF2-40B4-BE49-F238E27FC236}">
                <a16:creationId xmlns:a16="http://schemas.microsoft.com/office/drawing/2014/main" id="{338079B4-8D7E-4D5B-96F9-8BDBA712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34544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User access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Read key for protected evidence and graph queries</a:t>
            </a:r>
          </a:p>
        </p:txBody>
      </p:sp>
      <p:sp>
        <p:nvSpPr>
          <p:cNvPr id="6" name="Approval">
            <a:extLst xmlns:a="http://schemas.openxmlformats.org/drawingml/2006/main">
              <a:ext uri="{FF2B5EF4-FFF2-40B4-BE49-F238E27FC236}">
                <a16:creationId xmlns:a16="http://schemas.microsoft.com/office/drawing/2014/main" id="{4289E52E-FADB-4F28-A6B4-BDD1D79C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095500"/>
            <a:ext cx="34544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0F5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Approval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Operation key plus approver identity</a:t>
            </a:r>
          </a:p>
        </p:txBody>
      </p:sp>
      <p:sp>
        <p:nvSpPr>
          <p:cNvPr id="7" name="Service call">
            <a:extLst xmlns:a="http://schemas.openxmlformats.org/drawingml/2006/main">
              <a:ext uri="{FF2B5EF4-FFF2-40B4-BE49-F238E27FC236}">
                <a16:creationId xmlns:a16="http://schemas.microsoft.com/office/drawing/2014/main" id="{41FBC5B4-8939-47F0-B688-7196AC2F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095500"/>
            <a:ext cx="34544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2E9"/>
          </a:solidFill>
          <a:ln xmlns:a="http://schemas.openxmlformats.org/drawingml/2006/main" w="13335">
            <a:solidFill>
              <a:srgbClr val="B9CCD5"/>
            </a:solidFill>
          </a:ln>
        </p:spPr>
        <p:txBody>
          <a:bodyPr xmlns:a="http://schemas.openxmlformats.org/drawingml/2006/main" lIns="142875" tIns="114300" rIns="142875" bIns="114300" anchor="ctr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0313E"/>
                </a:solidFill>
                <a:latin typeface="Arial"/>
                <a:ea typeface="Arial"/>
                <a:cs typeface="Arial"/>
              </a:rPr>
              <a:t>Service call</a:t>
            </a:r>
          </a:p>
          <a:p xmlns:a="http://schemas.openxmlformats.org/drawingml/2006/main">
            <a:pPr>
              <a:defRPr sz="1575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0313E"/>
                </a:solidFill>
                <a:latin typeface="Arial"/>
                <a:ea typeface="Arial"/>
                <a:cs typeface="Arial"/>
              </a:rPr>
              <a:t>Private publication credential stays on the server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025900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cxnSp>
        <p:nvCxnSpPr>
          <p:cNvPr id="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823200" y="28813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B"/>
            </a:solidFill>
            <a:headEnd type="triangle" w="sm" len="sm"/>
          </a:ln>
        </p:spPr>
      </p:cxnSp>
      <p:sp>
        <p:nvSpPr>
          <p:cNvPr id="10" name="Configuration">
            <a:extLst xmlns:a="http://schemas.openxmlformats.org/drawingml/2006/main">
              <a:ext uri="{FF2B5EF4-FFF2-40B4-BE49-F238E27FC236}">
                <a16:creationId xmlns:a16="http://schemas.microsoft.com/office/drawing/2014/main" id="{1E091FE4-0CC4-4167-8EE9-974AA7C6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Configuration</a:t>
            </a:r>
          </a:p>
        </p:txBody>
      </p:sp>
      <p:sp>
        <p:nvSpPr>
          <p:cNvPr id="11" name="One root server env. No duplicate keys. VITE settings contain only pub">
            <a:extLst xmlns:a="http://schemas.openxmlformats.org/drawingml/2006/main">
              <a:ext uri="{FF2B5EF4-FFF2-40B4-BE49-F238E27FC236}">
                <a16:creationId xmlns:a16="http://schemas.microsoft.com/office/drawing/2014/main" id="{B0081D02-0577-41EB-8418-D4BCECB1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1911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One root server env. No duplicate keys. VITE settings contain only public browser configuration.</a:t>
            </a:r>
          </a:p>
        </p:txBody>
      </p:sp>
      <p:sp>
        <p:nvSpPr>
          <p:cNvPr id="12" name="Customer controls">
            <a:extLst xmlns:a="http://schemas.openxmlformats.org/drawingml/2006/main">
              <a:ext uri="{FF2B5EF4-FFF2-40B4-BE49-F238E27FC236}">
                <a16:creationId xmlns:a16="http://schemas.microsoft.com/office/drawing/2014/main" id="{0FDC77E8-57A5-42BE-B652-9FCF2E7C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910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Customer controls</a:t>
            </a:r>
          </a:p>
        </p:txBody>
      </p:sp>
      <p:sp>
        <p:nvSpPr>
          <p:cNvPr id="13" name="HTTPS ingress, distinct strong keys, protected secret storage, rotatio">
            <a:extLst xmlns:a="http://schemas.openxmlformats.org/drawingml/2006/main">
              <a:ext uri="{FF2B5EF4-FFF2-40B4-BE49-F238E27FC236}">
                <a16:creationId xmlns:a16="http://schemas.microsoft.com/office/drawing/2014/main" id="{51DD0F24-9AE1-4249-9D77-78F3856F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48200"/>
            <a:ext cx="51911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HTTPS ingress, distinct strong keys, protected secret storage, rotation and database network restrictions.</a:t>
            </a:r>
          </a:p>
        </p:txBody>
      </p:sp>
    </p:spTree>
    <p:extLst>
      <p:ext uri="{BB962C8B-B14F-4D97-AF65-F5344CB8AC3E}">
        <p14:creationId xmlns:p14="http://schemas.microsoft.com/office/powerpoint/2010/main" val="80110504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ustomer release acceptance">
            <a:extLst xmlns:a="http://schemas.openxmlformats.org/drawingml/2006/main">
              <a:ext uri="{FF2B5EF4-FFF2-40B4-BE49-F238E27FC236}">
                <a16:creationId xmlns:a16="http://schemas.microsoft.com/office/drawing/2014/main" id="{19147DA4-C403-4509-8E79-E1177B22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Customer release acceptance</a:t>
            </a:r>
          </a:p>
        </p:txBody>
      </p:sp>
      <p:sp>
        <p:nvSpPr>
          <p:cNvPr id="2" name="Repository checks support deployment. Target-environment evidence dete">
            <a:extLst xmlns:a="http://schemas.openxmlformats.org/drawingml/2006/main">
              <a:ext uri="{FF2B5EF4-FFF2-40B4-BE49-F238E27FC236}">
                <a16:creationId xmlns:a16="http://schemas.microsoft.com/office/drawing/2014/main" id="{0B7EA527-9D95-4C13-8881-60AD2024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Repository checks support deployment. Target-environment evidence determines release readiness.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9657DB7B-E2D3-48F0-9243-5A40B97A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8">
            <a:extLst xmlns:a="http://schemas.openxmlformats.org/drawingml/2006/main">
              <a:ext uri="{FF2B5EF4-FFF2-40B4-BE49-F238E27FC236}">
                <a16:creationId xmlns:a16="http://schemas.microsoft.com/office/drawing/2014/main" id="{89A8F5EC-8C28-4917-B6AB-7988D963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885950"/>
          <a:ext xmlns:a="http://schemas.openxmlformats.org/drawingml/2006/main" cx="11049000" cy="39147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8096250"/>
              </a:tblGrid>
              <a:tr h="65246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Acceptance area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Required evidence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Installation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Approved runtime inventory, dependency resolution and frontend build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stores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Schema verification, Neo4j read/write permissions and backup restore drill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Optional Spark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DataFrame smoke job and connector test when enabled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Application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Ten ready APIs, authorized browser workflow and rejected unauthorized actions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Operations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Process supervision, restart/reboot recovery, monitoring and rollback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 release gates include a certified pinned Python lock and live cus">
            <a:extLst xmlns:a="http://schemas.openxmlformats.org/drawingml/2006/main">
              <a:ext uri="{FF2B5EF4-FFF2-40B4-BE49-F238E27FC236}">
                <a16:creationId xmlns:a16="http://schemas.microsoft.com/office/drawing/2014/main" id="{A263187B-C26F-4DB4-8E17-A16DE713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Open release gates include a certified pinned Python lock and live customer installation/recovery tests.</a:t>
            </a:r>
          </a:p>
        </p:txBody>
      </p:sp>
    </p:spTree>
    <p:extLst>
      <p:ext uri="{BB962C8B-B14F-4D97-AF65-F5344CB8AC3E}">
        <p14:creationId xmlns:p14="http://schemas.microsoft.com/office/powerpoint/2010/main" val="94180558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Implemented capabilities and bounded next work">
            <a:extLst xmlns:a="http://schemas.openxmlformats.org/drawingml/2006/main">
              <a:ext uri="{FF2B5EF4-FFF2-40B4-BE49-F238E27FC236}">
                <a16:creationId xmlns:a16="http://schemas.microsoft.com/office/drawing/2014/main" id="{E4E6FA89-C290-48EB-97C1-2DB27F33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Implemented capabilities and bounded next work</a:t>
            </a:r>
          </a:p>
        </p:txBody>
      </p:sp>
      <p:sp>
        <p:nvSpPr>
          <p:cNvPr id="2" name="Feature availability and production operation require separate evidenc">
            <a:extLst xmlns:a="http://schemas.openxmlformats.org/drawingml/2006/main">
              <a:ext uri="{FF2B5EF4-FFF2-40B4-BE49-F238E27FC236}">
                <a16:creationId xmlns:a16="http://schemas.microsoft.com/office/drawing/2014/main" id="{3B3BB356-F648-4108-95BC-34268ECD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Feature availability and production operation require separate evidence.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860699C8-4247-490E-972A-4A28C3B3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19">
            <a:extLst xmlns:a="http://schemas.openxmlformats.org/drawingml/2006/main">
              <a:ext uri="{FF2B5EF4-FFF2-40B4-BE49-F238E27FC236}">
                <a16:creationId xmlns:a16="http://schemas.microsoft.com/office/drawing/2014/main" id="{0C8F1224-AE4F-4AE2-8762-F4461488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Implemented">
            <a:extLst xmlns:a="http://schemas.openxmlformats.org/drawingml/2006/main">
              <a:ext uri="{FF2B5EF4-FFF2-40B4-BE49-F238E27FC236}">
                <a16:creationId xmlns:a16="http://schemas.microsoft.com/office/drawing/2014/main" id="{719C774D-859C-4DC9-A5A8-8E989DA1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Implemented</a:t>
            </a:r>
          </a:p>
        </p:txBody>
      </p:sp>
      <p:sp>
        <p:nvSpPr>
          <p:cNvPr id="6" name="Reviewed Bridge publication&#10;Governed job definitions and runs&#10;RDF prof">
            <a:extLst xmlns:a="http://schemas.openxmlformats.org/drawingml/2006/main">
              <a:ext uri="{FF2B5EF4-FFF2-40B4-BE49-F238E27FC236}">
                <a16:creationId xmlns:a16="http://schemas.microsoft.com/office/drawing/2014/main" id="{3B9D073A-6375-4800-9941-C00FD8F6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05075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Reviewed Bridge publication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Governed job definitions and runs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RDF profiling and deduplication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Document graph proposals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Bounded graph/SPARQL reads</a:t>
            </a:r>
          </a:p>
        </p:txBody>
      </p:sp>
      <p:sp>
        <p:nvSpPr>
          <p:cNvPr id="7" name="Customer acceptance">
            <a:extLst xmlns:a="http://schemas.openxmlformats.org/drawingml/2006/main">
              <a:ext uri="{FF2B5EF4-FFF2-40B4-BE49-F238E27FC236}">
                <a16:creationId xmlns:a16="http://schemas.microsoft.com/office/drawing/2014/main" id="{18E3D551-A867-4808-B5C6-28DA0F2F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478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Customer acceptance</a:t>
            </a:r>
          </a:p>
        </p:txBody>
      </p:sp>
      <p:sp>
        <p:nvSpPr>
          <p:cNvPr id="8" name="Source and mapping suitability&#10;API keys and TLS trust&#10;Spark capacity a">
            <a:extLst xmlns:a="http://schemas.openxmlformats.org/drawingml/2006/main">
              <a:ext uri="{FF2B5EF4-FFF2-40B4-BE49-F238E27FC236}">
                <a16:creationId xmlns:a16="http://schemas.microsoft.com/office/drawing/2014/main" id="{9F1AF00F-E7D6-49EF-9AA0-57A166A9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05075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Source and mapping suitability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API keys and TLS trust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Spark capacity and recovery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Backup/restore and supervision</a:t>
            </a:r>
          </a:p>
          <a:p xmlns:a="http://schemas.openxmlformats.org/drawingml/2006/main">
            <a:pPr>
              <a:defRPr sz="1725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Named event-source adapters</a:t>
            </a:r>
          </a:p>
        </p:txBody>
      </p:sp>
      <p:sp>
        <p:nvSpPr>
          <p:cNvPr id="9" name="Further product work">
            <a:extLst xmlns:a="http://schemas.openxmlformats.org/drawingml/2006/main">
              <a:ext uri="{FF2B5EF4-FFF2-40B4-BE49-F238E27FC236}">
                <a16:creationId xmlns:a16="http://schemas.microsoft.com/office/drawing/2014/main" id="{79E0F10D-25C6-444A-A986-79ECCC8D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7F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7F8B"/>
                </a:solidFill>
                <a:latin typeface="Arial"/>
                <a:ea typeface="Arial"/>
                <a:cs typeface="Arial"/>
              </a:rPr>
              <a:t>Further product work</a:t>
            </a:r>
          </a:p>
        </p:txBody>
      </p:sp>
      <p:sp>
        <p:nvSpPr>
          <p:cNvPr id="10" name="Distributed reasoning and semantic ML need explicit output contracts. ">
            <a:extLst xmlns:a="http://schemas.openxmlformats.org/drawingml/2006/main">
              <a:ext uri="{FF2B5EF4-FFF2-40B4-BE49-F238E27FC236}">
                <a16:creationId xmlns:a16="http://schemas.microsoft.com/office/drawing/2014/main" id="{75BF3964-F48E-4B89-9646-8DF06626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313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313E"/>
                </a:solidFill>
                <a:latin typeface="Arial"/>
                <a:ea typeface="Arial"/>
                <a:cs typeface="Arial"/>
              </a:rPr>
              <a:t>Distributed reasoning and semantic ML need explicit output contracts. OCR and embeddings need model/corpus controls. Digital-twin commands need separately defined authority and feedback acceptance.</a:t>
            </a:r>
          </a:p>
        </p:txBody>
      </p:sp>
    </p:spTree>
    <p:extLst>
      <p:ext uri="{BB962C8B-B14F-4D97-AF65-F5344CB8AC3E}">
        <p14:creationId xmlns:p14="http://schemas.microsoft.com/office/powerpoint/2010/main" val="5978671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rvice inventory and installation references">
            <a:extLst xmlns:a="http://schemas.openxmlformats.org/drawingml/2006/main">
              <a:ext uri="{FF2B5EF4-FFF2-40B4-BE49-F238E27FC236}">
                <a16:creationId xmlns:a16="http://schemas.microsoft.com/office/drawing/2014/main" id="{82B6E1DE-0364-4A3D-BC7F-74C76F31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B21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B2133"/>
                </a:solidFill>
                <a:latin typeface="Arial"/>
                <a:ea typeface="Arial"/>
                <a:cs typeface="Arial"/>
              </a:rPr>
              <a:t>Service inventory and installation references</a:t>
            </a:r>
          </a:p>
        </p:txBody>
      </p:sp>
      <p:sp>
        <p:nvSpPr>
          <p:cNvPr id="2" name="Ports describe internal service defaults. The customer web server prov">
            <a:extLst xmlns:a="http://schemas.openxmlformats.org/drawingml/2006/main">
              <a:ext uri="{FF2B5EF4-FFF2-40B4-BE49-F238E27FC236}">
                <a16:creationId xmlns:a16="http://schemas.microsoft.com/office/drawing/2014/main" id="{0B07A97E-5D6B-4C21-83FC-1E6FB397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0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Ports describe internal service defaults. The customer web server provides public HTTPS access.</a:t>
            </a:r>
          </a:p>
        </p:txBody>
      </p:sp>
      <p:sp>
        <p:nvSpPr>
          <p:cNvPr id="3" name="DEPO  /  Functional architecture">
            <a:extLst xmlns:a="http://schemas.openxmlformats.org/drawingml/2006/main">
              <a:ext uri="{FF2B5EF4-FFF2-40B4-BE49-F238E27FC236}">
                <a16:creationId xmlns:a16="http://schemas.microsoft.com/office/drawing/2014/main" id="{FEAC2F63-720D-4AF4-9B1B-86752416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DEPO  /  Functional architecture</a:t>
            </a:r>
          </a:p>
        </p:txBody>
      </p:sp>
      <p:sp>
        <p:nvSpPr>
          <p:cNvPr id="4" name="20">
            <a:extLst xmlns:a="http://schemas.openxmlformats.org/drawingml/2006/main">
              <a:ext uri="{FF2B5EF4-FFF2-40B4-BE49-F238E27FC236}">
                <a16:creationId xmlns:a16="http://schemas.microsoft.com/office/drawing/2014/main" id="{BD06A8C1-52BE-4A2F-BF14-859B5A45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38957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95625"/>
                <a:gridCol w="952500"/>
                <a:gridCol w="7000875"/>
              </a:tblGrid>
              <a:tr h="354157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Service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Port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Owned responsibility</a:t>
                      </a:r>
                    </a:p>
                  </a:txBody>
                  <a:tcPr marL="91440" marR="91440" marT="45720" marB="45720">
                    <a:solidFill>
                      <a:srgbClr val="0B2133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Schema sets / QIF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Engineering schema processing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Ontology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8011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Semantic artifacts, modeling and registry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Agentic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Tools, workflows, Bridge and Companion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Graph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8013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Publication, projections and semantic queries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Ingestion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Source capture, parsing and profiles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OSLC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8015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Engineering resource interfaces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catalog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Product discovery and artifact retention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products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8017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Manifests, packaging and catalog outbox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CEIM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Canonical mapping, validation and publication requests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4157"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pipeline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8019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20313E"/>
                          </a:solidFill>
                          <a:latin typeface="Arial"/>
                          <a:ea typeface="Arial"/>
                          <a:cs typeface="Arial"/>
                        </a:rPr>
                        <a:t>Data jobs, quality evidence and event reconciliation</a:t>
                      </a:r>
                    </a:p>
                  </a:txBody>
                  <a:tcPr marL="91440" marR="91440" marT="45720" marB="45720">
                    <a:solidFill>
                      <a:srgbClr val="DFF0F5"/>
                    </a:solidFill>
                  </a:tcPr>
                </a:tc>
              </a:tr>
            </a:tbl>
          </a:graphicData>
        </a:graphic>
      </p:graphicFrame>
      <p:sp>
        <p:nvSpPr>
          <p:cNvPr id="6" name="Installation: INSTALLATION.md&#10;Database columns: infra/postgres/SCHEMA.">
            <a:extLst xmlns:a="http://schemas.openxmlformats.org/drawingml/2006/main">
              <a:ext uri="{FF2B5EF4-FFF2-40B4-BE49-F238E27FC236}">
                <a16:creationId xmlns:a16="http://schemas.microsoft.com/office/drawing/2014/main" id="{385DC656-AC56-4853-9F25-B5157199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Installation: INSTALLATION.md</a:t>
            </a:r>
          </a:p>
          <a:p xmlns:a="http://schemas.openxmlformats.org/drawingml/2006/main">
            <a:pPr>
              <a:defRPr sz="1350" b="0">
                <a:solidFill>
                  <a:srgbClr val="5267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779"/>
                </a:solidFill>
                <a:latin typeface="Arial"/>
                <a:ea typeface="Arial"/>
                <a:cs typeface="Arial"/>
              </a:rPr>
              <a:t>Database columns: infra/postgres/SCHEMA.md   |   Neo4j: INSTALLATION.md   |   Spark: INSTALLATION.md</a:t>
            </a:r>
          </a:p>
        </p:txBody>
      </p:sp>
    </p:spTree>
    <p:extLst>
      <p:ext uri="{BB962C8B-B14F-4D97-AF65-F5344CB8AC3E}">
        <p14:creationId xmlns:p14="http://schemas.microsoft.com/office/powerpoint/2010/main" val="6305859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2026-09-23T17:25:35.4100000Z</dcterms:created>
  <dcterms:modified xsi:type="dcterms:W3CDTF">2026-09-23T17:25:35.4100000Z</dcterms:modified>
</coreProperties>
</file>