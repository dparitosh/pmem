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40290f6fbf4aa2" /><Relationship Type="http://schemas.openxmlformats.org/officeDocument/2006/relationships/extended-properties" Target="/docProps/app.xml" Id="R1f6492cba6cb419a" /><Relationship Type="http://schemas.openxmlformats.org/officeDocument/2006/relationships/officeDocument" Target="/ppt/presentation.xml" Id="Rd37e661006b64d3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fc490b1f6844ca"/>
  </p:sldMasterIdLst>
  <p:notesMasterIdLst>
    <p:notesMasterId xmlns:r="http://schemas.openxmlformats.org/officeDocument/2006/relationships" r:id="R95df761aba3d4500"/>
  </p:notesMasterIdLst>
  <p:sldIdLst>
    <p:sldId xmlns:r="http://schemas.openxmlformats.org/officeDocument/2006/relationships" id="256" r:id="R608f71fb96674ba2"/>
    <p:sldId xmlns:r="http://schemas.openxmlformats.org/officeDocument/2006/relationships" id="257" r:id="R674b8bf57ba745fd"/>
    <p:sldId xmlns:r="http://schemas.openxmlformats.org/officeDocument/2006/relationships" id="258" r:id="R4a353bed14e84b7e"/>
    <p:sldId xmlns:r="http://schemas.openxmlformats.org/officeDocument/2006/relationships" id="259" r:id="Rd89c027ebd8f4721"/>
    <p:sldId xmlns:r="http://schemas.openxmlformats.org/officeDocument/2006/relationships" id="260" r:id="Re4fded437e5b4729"/>
    <p:sldId xmlns:r="http://schemas.openxmlformats.org/officeDocument/2006/relationships" id="261" r:id="R2c156982abce4485"/>
    <p:sldId xmlns:r="http://schemas.openxmlformats.org/officeDocument/2006/relationships" id="262" r:id="Rc2a08428246e4c84"/>
    <p:sldId xmlns:r="http://schemas.openxmlformats.org/officeDocument/2006/relationships" id="263" r:id="Rf24727264bf84e87"/>
    <p:sldId xmlns:r="http://schemas.openxmlformats.org/officeDocument/2006/relationships" id="264" r:id="R09d716183d8c4865"/>
    <p:sldId xmlns:r="http://schemas.openxmlformats.org/officeDocument/2006/relationships" id="265" r:id="Rb68c66fd03584fa0"/>
    <p:sldId xmlns:r="http://schemas.openxmlformats.org/officeDocument/2006/relationships" id="266" r:id="Rdc19a50f76c74947"/>
    <p:sldId xmlns:r="http://schemas.openxmlformats.org/officeDocument/2006/relationships" id="267" r:id="Rda3bc57860c54a7a"/>
    <p:sldId xmlns:r="http://schemas.openxmlformats.org/officeDocument/2006/relationships" id="268" r:id="R21787f3f80d64caa"/>
    <p:sldId xmlns:r="http://schemas.openxmlformats.org/officeDocument/2006/relationships" id="269" r:id="R4721f5b7d3d04f46"/>
    <p:sldId xmlns:r="http://schemas.openxmlformats.org/officeDocument/2006/relationships" id="270" r:id="Rffd9d821e3824c08"/>
    <p:sldId xmlns:r="http://schemas.openxmlformats.org/officeDocument/2006/relationships" id="271" r:id="R66160b80b3464718"/>
    <p:sldId xmlns:r="http://schemas.openxmlformats.org/officeDocument/2006/relationships" id="272" r:id="R18142af478484164"/>
    <p:sldId xmlns:r="http://schemas.openxmlformats.org/officeDocument/2006/relationships" id="273" r:id="R938b0821f343422f"/>
    <p:sldId xmlns:r="http://schemas.openxmlformats.org/officeDocument/2006/relationships" id="274" r:id="Ra137640229604631"/>
    <p:sldId xmlns:r="http://schemas.openxmlformats.org/officeDocument/2006/relationships" id="275" r:id="R456dcb5a143642e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fbd5b13efe4fa9" /><Relationship Type="http://schemas.openxmlformats.org/officeDocument/2006/relationships/slideMaster" Target="/ppt/slideMasters/slideMaster1.xml" Id="R64fc490b1f6844ca" /><Relationship Type="http://schemas.openxmlformats.org/officeDocument/2006/relationships/notesMaster" Target="/ppt/notesMasters/notesMaster1.xml" Id="R95df761aba3d4500" /><Relationship Type="http://schemas.openxmlformats.org/officeDocument/2006/relationships/presProps" Target="/ppt/presProps.xml" Id="R00e5de55d0354588" /><Relationship Type="http://schemas.openxmlformats.org/officeDocument/2006/relationships/tableStyles" Target="/ppt/tableStyles.xml" Id="R57c6d46ae41f4937" /><Relationship Type="http://schemas.openxmlformats.org/officeDocument/2006/relationships/slide" Target="/ppt/slides/slide1.xml" Id="R608f71fb96674ba2" /><Relationship Type="http://schemas.openxmlformats.org/officeDocument/2006/relationships/slide" Target="/ppt/slides/slide2.xml" Id="R674b8bf57ba745fd" /><Relationship Type="http://schemas.openxmlformats.org/officeDocument/2006/relationships/slide" Target="/ppt/slides/slide3.xml" Id="R4a353bed14e84b7e" /><Relationship Type="http://schemas.openxmlformats.org/officeDocument/2006/relationships/slide" Target="/ppt/slides/slide4.xml" Id="Rd89c027ebd8f4721" /><Relationship Type="http://schemas.openxmlformats.org/officeDocument/2006/relationships/slide" Target="/ppt/slides/slide5.xml" Id="Re4fded437e5b4729" /><Relationship Type="http://schemas.openxmlformats.org/officeDocument/2006/relationships/slide" Target="/ppt/slides/slide6.xml" Id="R2c156982abce4485" /><Relationship Type="http://schemas.openxmlformats.org/officeDocument/2006/relationships/slide" Target="/ppt/slides/slide7.xml" Id="Rc2a08428246e4c84" /><Relationship Type="http://schemas.openxmlformats.org/officeDocument/2006/relationships/slide" Target="/ppt/slides/slide8.xml" Id="Rf24727264bf84e87" /><Relationship Type="http://schemas.openxmlformats.org/officeDocument/2006/relationships/slide" Target="/ppt/slides/slide9.xml" Id="R09d716183d8c4865" /><Relationship Type="http://schemas.openxmlformats.org/officeDocument/2006/relationships/slide" Target="/ppt/slides/slide10.xml" Id="Rb68c66fd03584fa0" /><Relationship Type="http://schemas.openxmlformats.org/officeDocument/2006/relationships/slide" Target="/ppt/slides/slide11.xml" Id="Rdc19a50f76c74947" /><Relationship Type="http://schemas.openxmlformats.org/officeDocument/2006/relationships/slide" Target="/ppt/slides/slide12.xml" Id="Rda3bc57860c54a7a" /><Relationship Type="http://schemas.openxmlformats.org/officeDocument/2006/relationships/slide" Target="/ppt/slides/slide13.xml" Id="R21787f3f80d64caa" /><Relationship Type="http://schemas.openxmlformats.org/officeDocument/2006/relationships/slide" Target="/ppt/slides/slide14.xml" Id="R4721f5b7d3d04f46" /><Relationship Type="http://schemas.openxmlformats.org/officeDocument/2006/relationships/slide" Target="/ppt/slides/slide15.xml" Id="Rffd9d821e3824c08" /><Relationship Type="http://schemas.openxmlformats.org/officeDocument/2006/relationships/slide" Target="/ppt/slides/slide16.xml" Id="R66160b80b3464718" /><Relationship Type="http://schemas.openxmlformats.org/officeDocument/2006/relationships/slide" Target="/ppt/slides/slide17.xml" Id="R18142af478484164" /><Relationship Type="http://schemas.openxmlformats.org/officeDocument/2006/relationships/slide" Target="/ppt/slides/slide18.xml" Id="R938b0821f343422f" /><Relationship Type="http://schemas.openxmlformats.org/officeDocument/2006/relationships/slide" Target="/ppt/slides/slide19.xml" Id="Ra137640229604631" /><Relationship Type="http://schemas.openxmlformats.org/officeDocument/2006/relationships/slide" Target="/ppt/slides/slide20.xml" Id="R456dcb5a143642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f5e36271034c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5cd007f78d4921" /><Relationship Type="http://schemas.openxmlformats.org/officeDocument/2006/relationships/notesMaster" Target="/ppt/notesMasters/notesMaster1.xml" Id="Re940c406eeed45c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ec508cd3f3460a" /><Relationship Type="http://schemas.openxmlformats.org/officeDocument/2006/relationships/notesMaster" Target="/ppt/notesMasters/notesMaster1.xml" Id="Rce6ae873b6cb4c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eac1d8acc9456f" /><Relationship Type="http://schemas.openxmlformats.org/officeDocument/2006/relationships/notesMaster" Target="/ppt/notesMasters/notesMaster1.xml" Id="R976dccd4594f49a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484773e6274712" /><Relationship Type="http://schemas.openxmlformats.org/officeDocument/2006/relationships/notesMaster" Target="/ppt/notesMasters/notesMaster1.xml" Id="R75b55159822440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09b44ce49c54dea" /><Relationship Type="http://schemas.openxmlformats.org/officeDocument/2006/relationships/notesMaster" Target="/ppt/notesMasters/notesMaster1.xml" Id="R84ddf692bb0d48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a6f9a32a224263" /><Relationship Type="http://schemas.openxmlformats.org/officeDocument/2006/relationships/notesMaster" Target="/ppt/notesMasters/notesMaster1.xml" Id="Rc81c827a022f40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2810536cdcb4a21" /><Relationship Type="http://schemas.openxmlformats.org/officeDocument/2006/relationships/notesMaster" Target="/ppt/notesMasters/notesMaster1.xml" Id="R251ea5e6f47d4e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63169f40db34d3d" /><Relationship Type="http://schemas.openxmlformats.org/officeDocument/2006/relationships/notesMaster" Target="/ppt/notesMasters/notesMaster1.xml" Id="Rca3310d776644fe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03202bd8b3c48d4" /><Relationship Type="http://schemas.openxmlformats.org/officeDocument/2006/relationships/notesMaster" Target="/ppt/notesMasters/notesMaster1.xml" Id="R2fa29dfa2c8749d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45d6c2459384fb0" /><Relationship Type="http://schemas.openxmlformats.org/officeDocument/2006/relationships/notesMaster" Target="/ppt/notesMasters/notesMaster1.xml" Id="R95ae12d9b0fe4c0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e9deab1e6ea4174" /><Relationship Type="http://schemas.openxmlformats.org/officeDocument/2006/relationships/notesMaster" Target="/ppt/notesMasters/notesMaster1.xml" Id="Rdeabdc617f0a483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bad7713e658431f" /><Relationship Type="http://schemas.openxmlformats.org/officeDocument/2006/relationships/notesMaster" Target="/ppt/notesMasters/notesMaster1.xml" Id="R17a5b4869d6842f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f4d1549afe74185" /><Relationship Type="http://schemas.openxmlformats.org/officeDocument/2006/relationships/notesMaster" Target="/ppt/notesMasters/notesMaster1.xml" Id="Rf114696f586349f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572174e245042bd" /><Relationship Type="http://schemas.openxmlformats.org/officeDocument/2006/relationships/notesMaster" Target="/ppt/notesMasters/notesMaster1.xml" Id="R11bdaebfbe6d440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878b1d1f4c84c6c" /><Relationship Type="http://schemas.openxmlformats.org/officeDocument/2006/relationships/notesMaster" Target="/ppt/notesMasters/notesMaster1.xml" Id="Rba5a8c79761a400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6f628ef85a84ae6" /><Relationship Type="http://schemas.openxmlformats.org/officeDocument/2006/relationships/notesMaster" Target="/ppt/notesMasters/notesMaster1.xml" Id="R856ac6bea5b94c3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8d2460b1b0e40ee" /><Relationship Type="http://schemas.openxmlformats.org/officeDocument/2006/relationships/notesMaster" Target="/ppt/notesMasters/notesMaster1.xml" Id="Rdedf41f096be4ba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0b7dc6c28674cb6" /><Relationship Type="http://schemas.openxmlformats.org/officeDocument/2006/relationships/notesMaster" Target="/ppt/notesMasters/notesMaster1.xml" Id="Rdc4ebbae2463474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a78d3df48ff4c0f" /><Relationship Type="http://schemas.openxmlformats.org/officeDocument/2006/relationships/notesMaster" Target="/ppt/notesMasters/notesMaster1.xml" Id="R4d09b78d5da045a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4d7c516476b452f" /><Relationship Type="http://schemas.openxmlformats.org/officeDocument/2006/relationships/notesMaster" Target="/ppt/notesMasters/notesMaster1.xml" Id="R883734dd10fa47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https://github.com/dparitosh/PMem/blob/545d43a/infra/deployment/README.md</a:t>
            </a:r>
          </a:p>
          <a:p xmlns:a="http://schemas.openxmlformats.org/drawingml/2006/main">
            <a:r>
              <a:t>https://github.com/dparitosh/PMem/blob/545d43a/docs/architecture/SERVICE_CATALOG.md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https://github.com/dparitosh/PMem/blob/545d43a/backend/agentic_service/bridge_jobs.py</a:t>
            </a:r>
          </a:p>
          <a:p xmlns:a="http://schemas.openxmlformats.org/drawingml/2006/main">
            <a:r>
              <a:t>https://github.com/dparitosh/PMem/blob/545d43a/backend/data_pipeline_service/router.py</a:t>
            </a:r>
          </a:p>
          <a:p xmlns:a="http://schemas.openxmlformats.org/drawingml/2006/main">
            <a:r>
              <a:t>https://github.com/dparitosh/PMem/blob/545d43a/backend/data_product_service/router.py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https://github.com/dparitosh/PMem/blob/545d43a/infra/deployment/services.json</a:t>
            </a:r>
          </a:p>
          <a:p xmlns:a="http://schemas.openxmlformats.org/drawingml/2006/main">
            <a:r>
              <a:t>https://github.com/dparitosh/PMem/blob/545d43a/backend/agentic_service/bridge_jobs.py</a:t>
            </a:r>
          </a:p>
          <a:p xmlns:a="http://schemas.openxmlformats.org/drawingml/2006/main">
            <a:r>
              <a:t>https://github.com/dparitosh/PMem/blob/545d43a/backend/data_product_service/worker.py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https://github.com/dparitosh/PMem/blob/545d43a/backend/data_pipeline_service/router.py</a:t>
            </a:r>
          </a:p>
          <a:p xmlns:a="http://schemas.openxmlformats.org/drawingml/2006/main">
            <a:r>
              <a:t>https://github.com/dparitosh/PMem/blob/545d43a/backend/ceim_service/router.py</a:t>
            </a:r>
          </a:p>
          <a:p xmlns:a="http://schemas.openxmlformats.org/drawingml/2006/main">
            <a:r>
              <a:t>https://github.com/dparitosh/PMem/blob/545d43a/backend/agentic_service/bridge_jobs.py</a:t>
            </a:r>
          </a:p>
          <a:p xmlns:a="http://schemas.openxmlformats.org/drawingml/2006/main">
            <a:r>
              <a:t>https://github.com/dparitosh/PMem/blob/545d43a/backend/graph_service/bridge_router.py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https://github.com/dparitosh/PMem/blob/545d43a/backend/agentic_service/bridge_jobs.py</a:t>
            </a:r>
          </a:p>
          <a:p xmlns:a="http://schemas.openxmlformats.org/drawingml/2006/main">
            <a:r>
              <a:t>https://github.com/dparitosh/PMem/blob/545d43a/backend/graph_service/bridge_publication.py</a:t>
            </a:r>
          </a:p>
          <a:p xmlns:a="http://schemas.openxmlformats.org/drawingml/2006/main">
            <a:r>
              <a:t>https://github.com/dparitosh/PMem/blob/545d43a/frontend/src/Components/ontology/SemanticBridgeJobs.js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https://github.com/dparitosh/PMem/blob/545d43a/backend/data_pipeline_service/router.py</a:t>
            </a:r>
          </a:p>
          <a:p xmlns:a="http://schemas.openxmlformats.org/drawingml/2006/main">
            <a:r>
              <a:t>https://github.com/dparitosh/PMem/blob/545d43a/backend/data_pipeline_service/run_records.py</a:t>
            </a:r>
          </a:p>
          <a:p xmlns:a="http://schemas.openxmlformats.org/drawingml/2006/main">
            <a:r>
              <a:t>https://github.com/dparitosh/PMem/blob/545d43a/backend/data_pipeline_service/job_definitions.py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https://github.com/dparitosh/PMem/blob/545d43a/backend/data_pipeline_service/handlers.py</a:t>
            </a:r>
          </a:p>
          <a:p xmlns:a="http://schemas.openxmlformats.org/drawingml/2006/main">
            <a:r>
              <a:t>https://github.com/dparitosh/PMem/blob/545d43a/backend/data_pipeline_service/runner.py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https://github.com/dparitosh/PMem/blob/545d43a/backend/data_pipeline_service/handlers.py</a:t>
            </a:r>
          </a:p>
          <a:p xmlns:a="http://schemas.openxmlformats.org/drawingml/2006/main">
            <a:r>
              <a:t>https://github.com/dparitosh/PMem/blob/545d43a/backend/data_pipeline_service/runner.py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https://github.com/dparitosh/PMem/blob/545d43a/backend/data_pipeline_service/speed_router.py</a:t>
            </a:r>
          </a:p>
          <a:p xmlns:a="http://schemas.openxmlformats.org/drawingml/2006/main">
            <a:r>
              <a:t>https://github.com/dparitosh/PMem/blob/545d43a/backend/data_pipeline_service/speed_path.py</a:t>
            </a:r>
          </a:p>
          <a:p xmlns:a="http://schemas.openxmlformats.org/drawingml/2006/main">
            <a:r>
              <a:t>https://github.com/dparitosh/PMem/blob/545d43a/infra/spark/README.md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https://github.com/dparitosh/PMem/blob/545d43a/backend/data_pipeline_service/router.py</a:t>
            </a:r>
          </a:p>
          <a:p xmlns:a="http://schemas.openxmlformats.org/drawingml/2006/main">
            <a:r>
              <a:t>https://github.com/dparitosh/PMem/blob/545d43a/backend/data_pipeline_service/runner.py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https://github.com/dparitosh/PMem/blob/545d43a/backend/data_product_service/router.py</a:t>
            </a:r>
          </a:p>
          <a:p xmlns:a="http://schemas.openxmlformats.org/drawingml/2006/main">
            <a:r>
              <a:t>https://github.com/dparitosh/PMem/blob/545d43a/backend/data_product_service/worker.py</a:t>
            </a:r>
          </a:p>
          <a:p xmlns:a="http://schemas.openxmlformats.org/drawingml/2006/main">
            <a:r>
              <a:t>https://github.com/dparitosh/PMem/blob/545d43a/backend/data_catalog_service/router.py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https://github.com/dparitosh/PMem/blob/545d43a/backend/agentic_service/companion.py</a:t>
            </a:r>
          </a:p>
          <a:p xmlns:a="http://schemas.openxmlformats.org/drawingml/2006/main">
            <a:r>
              <a:t>https://github.com/dparitosh/PMem/blob/545d43a/backend/agentic_service/router.py</a:t>
            </a:r>
          </a:p>
          <a:p xmlns:a="http://schemas.openxmlformats.org/drawingml/2006/main">
            <a:r>
              <a:t>https://github.com/dparitosh/PMem/blob/545d43a/backend/agentic_service/configuration.py</a:t>
            </a:r>
          </a:p>
          <a:p xmlns:a="http://schemas.openxmlformats.org/drawingml/2006/main">
            <a:r>
              <a:t>https://github.com/dparitosh/PMem/blob/545d43a/backend/graph_service/sparql_router.py</a:t>
            </a:r>
          </a:p>
          <a:p xmlns:a="http://schemas.openxmlformats.org/drawingml/2006/main">
            <a:r>
              <a:t>https://github.com/dparitosh/PMem/blob/545d43a/backend/graph_service/federation_router.py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https://github.com/dparitosh/PMem/blob/545d43a/frontend/src/Components/ontology/SemanticBridgeJobs.js</a:t>
            </a:r>
          </a:p>
          <a:p xmlns:a="http://schemas.openxmlformats.org/drawingml/2006/main">
            <a:r>
              <a:t>https://github.com/dparitosh/PMem/blob/545d43a/frontend/src/pages/DataFlowPage.js</a:t>
            </a:r>
          </a:p>
          <a:p xmlns:a="http://schemas.openxmlformats.org/drawingml/2006/main">
            <a:r>
              <a:t>https://github.com/dparitosh/PMem/blob/545d43a/frontend/src/pages/GraphExplorerPage.js</a:t>
            </a:r>
          </a:p>
          <a:p xmlns:a="http://schemas.openxmlformats.org/drawingml/2006/main">
            <a:r>
              <a:t>https://github.com/dparitosh/PMem/blob/545d43a/frontend/src/Components/Chatbot.js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https://github.com/dparitosh/PMem/blob/545d43a/infra/deployment/README.md</a:t>
            </a:r>
          </a:p>
          <a:p xmlns:a="http://schemas.openxmlformats.org/drawingml/2006/main">
            <a:r>
              <a:t>https://github.com/dparitosh/PMem/blob/545d43a/infra/neo4j/README.md</a:t>
            </a:r>
          </a:p>
          <a:p xmlns:a="http://schemas.openxmlformats.org/drawingml/2006/main">
            <a:r>
              <a:t>https://github.com/dparitosh/PMem/blob/545d43a/infra/postgres/README.md</a:t>
            </a:r>
          </a:p>
          <a:p xmlns:a="http://schemas.openxmlformats.org/drawingml/2006/main">
            <a:r>
              <a:t>https://github.com/dparitosh/PMem/blob/545d43a/infra/spark/README.md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https://github.com/dparitosh/PMem/blob/545d43a/infra/deployment/README.md</a:t>
            </a:r>
          </a:p>
          <a:p xmlns:a="http://schemas.openxmlformats.org/drawingml/2006/main">
            <a:r>
              <a:t>https://github.com/dparitosh/PMem/blob/545d43a/infra/windows/install-depo.ps1</a:t>
            </a:r>
          </a:p>
          <a:p xmlns:a="http://schemas.openxmlformats.org/drawingml/2006/main">
            <a:r>
              <a:t>https://github.com/dparitosh/PMem/blob/545d43a/infra/windows/initialize-depo-schema.ps1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https://github.com/dparitosh/PMem/blob/545d43a/backend/postgres_migrations.py</a:t>
            </a:r>
          </a:p>
          <a:p xmlns:a="http://schemas.openxmlformats.org/drawingml/2006/main">
            <a:r>
              <a:t>https://github.com/dparitosh/PMem/blob/545d43a/backend/depo_platform/database_setup.py</a:t>
            </a:r>
          </a:p>
          <a:p xmlns:a="http://schemas.openxmlformats.org/drawingml/2006/main">
            <a:r>
              <a:t>https://github.com/dparitosh/PMem/blob/545d43a/infra/postgres/SCHEMA.md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https://github.com/dparitosh/PMem/blob/545d43a/backend/depo_platform/authorization.py</a:t>
            </a:r>
          </a:p>
          <a:p xmlns:a="http://schemas.openxmlformats.org/drawingml/2006/main">
            <a:r>
              <a:t>https://github.com/dparitosh/PMem/blob/545d43a/backend/agentic_service/configuration.py</a:t>
            </a:r>
          </a:p>
          <a:p xmlns:a="http://schemas.openxmlformats.org/drawingml/2006/main">
            <a:r>
              <a:t>https://github.com/dparitosh/PMem/blob/545d43a/infra/deployment/test-depo-deployment.ps1</a:t>
            </a:r>
          </a:p>
          <a:p xmlns:a="http://schemas.openxmlformats.org/drawingml/2006/main">
            <a:r>
              <a:t>https://github.com/dparitosh/PMem/blob/545d43a/config/README.md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https://github.com/dparitosh/PMem/blob/545d43a/infra/deployment/CUSTOMER_RELEASE.md</a:t>
            </a:r>
          </a:p>
          <a:p xmlns:a="http://schemas.openxmlformats.org/drawingml/2006/main">
            <a:r>
              <a:t>https://github.com/dparitosh/PMem/blob/545d43a/docs/INSTALLATION_REVIEW.md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https://github.com/dparitosh/PMem/blob/545d43a/backend/graph_service/router.py</a:t>
            </a:r>
          </a:p>
          <a:p xmlns:a="http://schemas.openxmlformats.org/drawingml/2006/main">
            <a:r>
              <a:t>https://github.com/dparitosh/PMem/blob/545d43a/backend/data_pipeline_service/handlers.py</a:t>
            </a:r>
          </a:p>
          <a:p xmlns:a="http://schemas.openxmlformats.org/drawingml/2006/main">
            <a:r>
              <a:t>https://github.com/dparitosh/PMem/blob/545d43a/backend/data_pipeline_service/speed_router.py</a:t>
            </a:r>
          </a:p>
          <a:p xmlns:a="http://schemas.openxmlformats.org/drawingml/2006/main">
            <a:r>
              <a:t>https://github.com/dparitosh/PMem/blob/545d43a/infra/deployment/CUSTOMER_RELEASE.md</a:t>
            </a:r>
          </a:p>
          <a:p xmlns:a="http://schemas.openxmlformats.org/drawingml/2006/main">
            <a:r>
              <a:t>https://github.com/dparitosh/PMem/blob/545d43a/docs/ACCELERATED_DELIVERY_TRACKER.md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commit 545d43a, 22 September 2026.</a:t>
            </a:r>
          </a:p>
          <a:p xmlns:a="http://schemas.openxmlformats.org/drawingml/2006/main">
            <a:r>
              <a:t>https://github.com/dparitosh/PMem/blob/545d43a/infra/deployment/services.json</a:t>
            </a:r>
          </a:p>
          <a:p xmlns:a="http://schemas.openxmlformats.org/drawingml/2006/main">
            <a:r>
              <a:t>https://github.com/dparitosh/PMem/blob/545d43a/infra/deployment/README.md</a:t>
            </a:r>
          </a:p>
          <a:p xmlns:a="http://schemas.openxmlformats.org/drawingml/2006/main">
            <a:r>
              <a:t>https://github.com/dparitosh/PMem/blob/545d43a/infra/postgres/SCHEMA.md</a:t>
            </a:r>
          </a:p>
          <a:p xmlns:a="http://schemas.openxmlformats.org/drawingml/2006/main">
            <a:r>
              <a:t>https://github.com/dparitosh/PMem/blob/545d43a/infra/neo4j/README.md</a:t>
            </a:r>
          </a:p>
          <a:p xmlns:a="http://schemas.openxmlformats.org/drawingml/2006/main">
            <a:r>
              <a:t>https://github.com/dparitosh/PMem/blob/545d43a/infra/spark/README.md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e7615821504ac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4f7bd67335460f" /><Relationship Type="http://schemas.openxmlformats.org/officeDocument/2006/relationships/slideLayout" Target="/ppt/slideLayouts/slideLayout1.xml" Id="R806513493fef49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6513493fef49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fa17d3e96f46d8" /><Relationship Type="http://schemas.openxmlformats.org/officeDocument/2006/relationships/notesSlide" Target="/ppt/notesSlides/notesSlide1.xml" Id="R63e20ff81ab540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e639a392ba4733" /><Relationship Type="http://schemas.openxmlformats.org/officeDocument/2006/relationships/notesSlide" Target="/ppt/notesSlides/notesSlide2.xml" Id="Refce36647c74474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2cbef8d6a74908" /><Relationship Type="http://schemas.openxmlformats.org/officeDocument/2006/relationships/notesSlide" Target="/ppt/notesSlides/notesSlide3.xml" Id="R63efae446546451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dcd922baf34ecb" /><Relationship Type="http://schemas.openxmlformats.org/officeDocument/2006/relationships/notesSlide" Target="/ppt/notesSlides/notesSlide4.xml" Id="R9cf5efdad4d8409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745df00bd643fb" /><Relationship Type="http://schemas.openxmlformats.org/officeDocument/2006/relationships/notesSlide" Target="/ppt/notesSlides/notesSlide5.xml" Id="R5ba12bee54564e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4b211e931546f2" /><Relationship Type="http://schemas.openxmlformats.org/officeDocument/2006/relationships/notesSlide" Target="/ppt/notesSlides/notesSlide6.xml" Id="Rc1b8a2335c9f4c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a32f6c839b4802" /><Relationship Type="http://schemas.openxmlformats.org/officeDocument/2006/relationships/notesSlide" Target="/ppt/notesSlides/notesSlide7.xml" Id="Re4524e0438304e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a23a7c468d4c9b" /><Relationship Type="http://schemas.openxmlformats.org/officeDocument/2006/relationships/notesSlide" Target="/ppt/notesSlides/notesSlide8.xml" Id="Rb5bea2f04bd94fe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09fb2cbbdf4c7e" /><Relationship Type="http://schemas.openxmlformats.org/officeDocument/2006/relationships/notesSlide" Target="/ppt/notesSlides/notesSlide9.xml" Id="R7f83b34d483d43b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c669e8327a4201" /><Relationship Type="http://schemas.openxmlformats.org/officeDocument/2006/relationships/notesSlide" Target="/ppt/notesSlides/notesSlide10.xml" Id="Rbd837326bb6944a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31bf282b1242b0" /><Relationship Type="http://schemas.openxmlformats.org/officeDocument/2006/relationships/notesSlide" Target="/ppt/notesSlides/notesSlide11.xml" Id="Rc0a5af7ba3794dd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f53c5f32894126" /><Relationship Type="http://schemas.openxmlformats.org/officeDocument/2006/relationships/notesSlide" Target="/ppt/notesSlides/notesSlide12.xml" Id="R1699eaa65b124e6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9be384f7a94167" /><Relationship Type="http://schemas.openxmlformats.org/officeDocument/2006/relationships/notesSlide" Target="/ppt/notesSlides/notesSlide13.xml" Id="R0c017f465b9942b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fc02f6cb1e4b32" /><Relationship Type="http://schemas.openxmlformats.org/officeDocument/2006/relationships/notesSlide" Target="/ppt/notesSlides/notesSlide14.xml" Id="Rd36edb47a9bd40a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d58f07a66c4188" /><Relationship Type="http://schemas.openxmlformats.org/officeDocument/2006/relationships/notesSlide" Target="/ppt/notesSlides/notesSlide15.xml" Id="Rbc70f80db4fb4e8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d8d2a9db344747" /><Relationship Type="http://schemas.openxmlformats.org/officeDocument/2006/relationships/notesSlide" Target="/ppt/notesSlides/notesSlide16.xml" Id="R3b270be91af5468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96547b29d84608" /><Relationship Type="http://schemas.openxmlformats.org/officeDocument/2006/relationships/notesSlide" Target="/ppt/notesSlides/notesSlide17.xml" Id="R6688d4e6aed64ee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16daa6de3e4c34" /><Relationship Type="http://schemas.openxmlformats.org/officeDocument/2006/relationships/notesSlide" Target="/ppt/notesSlides/notesSlide18.xml" Id="R57f8649d23aa4fb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dc77ad7ed34c58" /><Relationship Type="http://schemas.openxmlformats.org/officeDocument/2006/relationships/notesSlide" Target="/ppt/notesSlides/notesSlide19.xml" Id="Ra72be52e0209451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1659621b8b4c70" /><Relationship Type="http://schemas.openxmlformats.org/officeDocument/2006/relationships/notesSlide" Target="/ppt/notesSlides/notesSlide20.xml" Id="R5b2e4b699bee443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1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DEPO DIGITAL THREAD">
            <a:extLst xmlns:a="http://schemas.openxmlformats.org/drawingml/2006/main">
              <a:ext uri="{FF2B5EF4-FFF2-40B4-BE49-F238E27FC236}">
                <a16:creationId xmlns:a16="http://schemas.microsoft.com/office/drawing/2014/main" id="{FB18DCC8-82B6-454C-AA5D-9BF10B8C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8572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CD0D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CD0D1"/>
                </a:solidFill>
                <a:latin typeface="Arial"/>
                <a:ea typeface="Arial"/>
                <a:cs typeface="Arial"/>
              </a:rPr>
              <a:t>DEPO DIGITAL THREAD</a:t>
            </a:r>
          </a:p>
        </p:txBody>
      </p:sp>
      <p:sp>
        <p:nvSpPr>
          <p:cNvPr id="2" name="Functional architecture&#10;and customer deployment">
            <a:extLst xmlns:a="http://schemas.openxmlformats.org/drawingml/2006/main">
              <a:ext uri="{FF2B5EF4-FFF2-40B4-BE49-F238E27FC236}">
                <a16:creationId xmlns:a16="http://schemas.microsoft.com/office/drawing/2014/main" id="{7E7A2F40-6AEA-4B70-A297-FBA641382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81175"/>
            <a:ext cx="10572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Functional architecture</a:t>
            </a:r>
          </a:p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 customer deployment</a:t>
            </a:r>
          </a:p>
        </p:txBody>
      </p:sp>
      <p:sp>
        <p:nvSpPr>
          <p:cNvPr id="3" name="Semantic Bridge, governed data jobs and graph publication">
            <a:extLst xmlns:a="http://schemas.openxmlformats.org/drawingml/2006/main">
              <a:ext uri="{FF2B5EF4-FFF2-40B4-BE49-F238E27FC236}">
                <a16:creationId xmlns:a16="http://schemas.microsoft.com/office/drawing/2014/main" id="{EEC27CBD-E1CD-4659-B210-F01BA82D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CCDDE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CCDDE7"/>
                </a:solidFill>
                <a:latin typeface="Arial"/>
                <a:ea typeface="Arial"/>
                <a:cs typeface="Arial"/>
              </a:rPr>
              <a:t>Semantic Bridge, governed data jobs and graph publication</a:t>
            </a:r>
          </a:p>
        </p:txBody>
      </p:sp>
      <p:sp>
        <p:nvSpPr>
          <p:cNvPr id="4" name="Consolidated presentation&#10;22 September 2026">
            <a:extLst xmlns:a="http://schemas.openxmlformats.org/drawingml/2006/main">
              <a:ext uri="{FF2B5EF4-FFF2-40B4-BE49-F238E27FC236}">
                <a16:creationId xmlns:a16="http://schemas.microsoft.com/office/drawing/2014/main" id="{882998E7-D235-4488-A702-0C5116721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91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CCDDE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CDDE7"/>
                </a:solidFill>
                <a:latin typeface="Arial"/>
                <a:ea typeface="Arial"/>
                <a:cs typeface="Arial"/>
              </a:rPr>
              <a:t>Consolidated presentation</a:t>
            </a:r>
          </a:p>
          <a:p xmlns:a="http://schemas.openxmlformats.org/drawingml/2006/main">
            <a:pPr>
              <a:defRPr sz="1725" b="0">
                <a:solidFill>
                  <a:srgbClr val="CCDDE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CDDE7"/>
                </a:solidFill>
                <a:latin typeface="Arial"/>
                <a:ea typeface="Arial"/>
                <a:cs typeface="Arial"/>
              </a:rPr>
              <a:t>22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15249004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ngineering data to usable graph evidence">
            <a:extLst xmlns:a="http://schemas.openxmlformats.org/drawingml/2006/main">
              <a:ext uri="{FF2B5EF4-FFF2-40B4-BE49-F238E27FC236}">
                <a16:creationId xmlns:a16="http://schemas.microsoft.com/office/drawing/2014/main" id="{E25DDD2F-3892-4FC3-AE3B-9AE8C34C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Engineering data to usable graph evidence</a:t>
            </a:r>
          </a:p>
        </p:txBody>
      </p:sp>
      <p:sp>
        <p:nvSpPr>
          <p:cNvPr id="2" name="Each stage has an accountable user and a retained output.">
            <a:extLst xmlns:a="http://schemas.openxmlformats.org/drawingml/2006/main">
              <a:ext uri="{FF2B5EF4-FFF2-40B4-BE49-F238E27FC236}">
                <a16:creationId xmlns:a16="http://schemas.microsoft.com/office/drawing/2014/main" id="{8E500BF2-53B0-4F6C-89BC-31552B5C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Each stage has an accountable user and a retained output.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752BB37E-A931-4388-AF27-A571715B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02">
            <a:extLst xmlns:a="http://schemas.openxmlformats.org/drawingml/2006/main">
              <a:ext uri="{FF2B5EF4-FFF2-40B4-BE49-F238E27FC236}">
                <a16:creationId xmlns:a16="http://schemas.microsoft.com/office/drawing/2014/main" id="{FF90BA9A-68C3-4112-8303-DE65E577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Capture">
            <a:extLst xmlns:a="http://schemas.openxmlformats.org/drawingml/2006/main">
              <a:ext uri="{FF2B5EF4-FFF2-40B4-BE49-F238E27FC236}">
                <a16:creationId xmlns:a16="http://schemas.microsoft.com/office/drawing/2014/main" id="{77790F30-268A-4A17-8101-4EF3EE75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25050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Capture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Engineer imports a source file or engineering record.</a:t>
            </a:r>
          </a:p>
        </p:txBody>
      </p:sp>
      <p:sp>
        <p:nvSpPr>
          <p:cNvPr id="6" name="Prepare">
            <a:extLst xmlns:a="http://schemas.openxmlformats.org/drawingml/2006/main">
              <a:ext uri="{FF2B5EF4-FFF2-40B4-BE49-F238E27FC236}">
                <a16:creationId xmlns:a16="http://schemas.microsoft.com/office/drawing/2014/main" id="{601300D9-9039-415A-8BA1-84A2A2473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095500"/>
            <a:ext cx="25050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Prepare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Steward selects mappings and checks quality evidence.</a:t>
            </a:r>
          </a:p>
        </p:txBody>
      </p:sp>
      <p:sp>
        <p:nvSpPr>
          <p:cNvPr id="7" name="Approve">
            <a:extLst xmlns:a="http://schemas.openxmlformats.org/drawingml/2006/main">
              <a:ext uri="{FF2B5EF4-FFF2-40B4-BE49-F238E27FC236}">
                <a16:creationId xmlns:a16="http://schemas.microsoft.com/office/drawing/2014/main" id="{B3CEE6C7-AF0F-4C16-A5A4-3933643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5050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Approve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Authorized reviewer accepts the specific publication.</a:t>
            </a:r>
          </a:p>
        </p:txBody>
      </p:sp>
      <p:sp>
        <p:nvSpPr>
          <p:cNvPr id="8" name="Consume">
            <a:extLst xmlns:a="http://schemas.openxmlformats.org/drawingml/2006/main">
              <a:ext uri="{FF2B5EF4-FFF2-40B4-BE49-F238E27FC236}">
                <a16:creationId xmlns:a16="http://schemas.microsoft.com/office/drawing/2014/main" id="{86016CF3-CB5D-4C4B-8C67-79C857CF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095500"/>
            <a:ext cx="25050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Consume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Analyst explores the graph or retrieves product evidence.</a:t>
            </a:r>
          </a:p>
        </p:txBody>
      </p: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76575" y="29051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24550" y="29051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772525" y="29051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2" name="Input">
            <a:extLst xmlns:a="http://schemas.openxmlformats.org/drawingml/2006/main">
              <a:ext uri="{FF2B5EF4-FFF2-40B4-BE49-F238E27FC236}">
                <a16:creationId xmlns:a16="http://schemas.microsoft.com/office/drawing/2014/main" id="{16665FE0-7A98-4ECA-BD46-2487B31C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3" name="Source artifact, ontology release and intended engineering use case.">
            <a:extLst xmlns:a="http://schemas.openxmlformats.org/drawingml/2006/main">
              <a:ext uri="{FF2B5EF4-FFF2-40B4-BE49-F238E27FC236}">
                <a16:creationId xmlns:a16="http://schemas.microsoft.com/office/drawing/2014/main" id="{71D7D259-5CAC-448B-8ECB-C62AC167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191125" cy="159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Source artifact, ontology release and intended engineering use case.</a:t>
            </a:r>
          </a:p>
        </p:txBody>
      </p:sp>
      <p:sp>
        <p:nvSpPr>
          <p:cNvPr id="14" name="Retained evidence">
            <a:extLst xmlns:a="http://schemas.openxmlformats.org/drawingml/2006/main">
              <a:ext uri="{FF2B5EF4-FFF2-40B4-BE49-F238E27FC236}">
                <a16:creationId xmlns:a16="http://schemas.microsoft.com/office/drawing/2014/main" id="{56B80150-7385-4BB4-BCA7-6B480519A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910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Retained evidence</a:t>
            </a:r>
          </a:p>
        </p:txBody>
      </p:sp>
      <p:sp>
        <p:nvSpPr>
          <p:cNvPr id="15" name="Source digest, job/run identity, review decision and publication recei">
            <a:extLst xmlns:a="http://schemas.openxmlformats.org/drawingml/2006/main">
              <a:ext uri="{FF2B5EF4-FFF2-40B4-BE49-F238E27FC236}">
                <a16:creationId xmlns:a16="http://schemas.microsoft.com/office/drawing/2014/main" id="{C6246059-F042-410B-A935-75C834EE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48200"/>
            <a:ext cx="5191125" cy="159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Source digest, job/run identity, review decision and publication receipt.</a:t>
            </a:r>
          </a:p>
        </p:txBody>
      </p:sp>
    </p:spTree>
    <p:extLst>
      <p:ext uri="{BB962C8B-B14F-4D97-AF65-F5344CB8AC3E}">
        <p14:creationId xmlns:p14="http://schemas.microsoft.com/office/powerpoint/2010/main" val="18080888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omponent responsibilities">
            <a:extLst xmlns:a="http://schemas.openxmlformats.org/drawingml/2006/main">
              <a:ext uri="{FF2B5EF4-FFF2-40B4-BE49-F238E27FC236}">
                <a16:creationId xmlns:a16="http://schemas.microsoft.com/office/drawing/2014/main" id="{126F8812-73F1-46E6-BC07-1B97148F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Component responsibilities</a:t>
            </a:r>
          </a:p>
        </p:txBody>
      </p:sp>
      <p:sp>
        <p:nvSpPr>
          <p:cNvPr id="2" name="Logical work stages across ten APIs. Detailed call paths follow on the">
            <a:extLst xmlns:a="http://schemas.openxmlformats.org/drawingml/2006/main">
              <a:ext uri="{FF2B5EF4-FFF2-40B4-BE49-F238E27FC236}">
                <a16:creationId xmlns:a16="http://schemas.microsoft.com/office/drawing/2014/main" id="{75D377F6-C6ED-4450-9B38-BD852545A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Logical work stages across ten APIs. Detailed call paths follow on the next slides.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40DF6F9E-867C-436F-9F46-06CDA609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03">
            <a:extLst xmlns:a="http://schemas.openxmlformats.org/drawingml/2006/main">
              <a:ext uri="{FF2B5EF4-FFF2-40B4-BE49-F238E27FC236}">
                <a16:creationId xmlns:a16="http://schemas.microsoft.com/office/drawing/2014/main" id="{98F4178B-1A5B-42D5-9431-2A92AAE7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Capture">
            <a:extLst xmlns:a="http://schemas.openxmlformats.org/drawingml/2006/main">
              <a:ext uri="{FF2B5EF4-FFF2-40B4-BE49-F238E27FC236}">
                <a16:creationId xmlns:a16="http://schemas.microsoft.com/office/drawing/2014/main" id="{A69B028D-C220-45FD-8967-8C7DD3CF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25050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Capture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Schema sets 8010
Ingestion 8014
OSLC 8015</a:t>
            </a:r>
          </a:p>
        </p:txBody>
      </p:sp>
      <p:sp>
        <p:nvSpPr>
          <p:cNvPr id="6" name="Govern">
            <a:extLst xmlns:a="http://schemas.openxmlformats.org/drawingml/2006/main">
              <a:ext uri="{FF2B5EF4-FFF2-40B4-BE49-F238E27FC236}">
                <a16:creationId xmlns:a16="http://schemas.microsoft.com/office/drawing/2014/main" id="{B952FFE7-10BD-4B82-86F8-CAB9BACF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095500"/>
            <a:ext cx="25050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Govern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Ontology 8011
CEIM 8018</a:t>
            </a:r>
          </a:p>
        </p:txBody>
      </p:sp>
      <p:sp>
        <p:nvSpPr>
          <p:cNvPr id="7" name="Execute">
            <a:extLst xmlns:a="http://schemas.openxmlformats.org/drawingml/2006/main">
              <a:ext uri="{FF2B5EF4-FFF2-40B4-BE49-F238E27FC236}">
                <a16:creationId xmlns:a16="http://schemas.microsoft.com/office/drawing/2014/main" id="{05E7680F-24FC-4ACC-ACAA-A94B3E82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5050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Execute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Pipeline 8019
Agentic 8012</a:t>
            </a:r>
          </a:p>
        </p:txBody>
      </p:sp>
      <p:sp>
        <p:nvSpPr>
          <p:cNvPr id="8" name="Serve">
            <a:extLst xmlns:a="http://schemas.openxmlformats.org/drawingml/2006/main">
              <a:ext uri="{FF2B5EF4-FFF2-40B4-BE49-F238E27FC236}">
                <a16:creationId xmlns:a16="http://schemas.microsoft.com/office/drawing/2014/main" id="{12E6B1B6-6E82-4568-BF79-45FACFB9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095500"/>
            <a:ext cx="25050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Serve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Graph 8013
Products 8017
Catalog 8016</a:t>
            </a:r>
          </a:p>
        </p:txBody>
      </p:sp>
      <p:cxnSp>
        <p:nvCxnSpPr>
          <p:cNvPr id="23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76575" y="30003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4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24550" y="30003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772525" y="30003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2" name="PostgreSQL">
            <a:extLst xmlns:a="http://schemas.openxmlformats.org/drawingml/2006/main">
              <a:ext uri="{FF2B5EF4-FFF2-40B4-BE49-F238E27FC236}">
                <a16:creationId xmlns:a16="http://schemas.microsoft.com/office/drawing/2014/main" id="{D1285430-1BB4-455F-A683-BBCA41B31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24375"/>
            <a:ext cx="34290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PostgreSQL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Definitions, approvals, run state and catalog records</a:t>
            </a:r>
          </a:p>
        </p:txBody>
      </p:sp>
      <p:sp>
        <p:nvSpPr>
          <p:cNvPr id="13" name="Artifact storage">
            <a:extLst xmlns:a="http://schemas.openxmlformats.org/drawingml/2006/main">
              <a:ext uri="{FF2B5EF4-FFF2-40B4-BE49-F238E27FC236}">
                <a16:creationId xmlns:a16="http://schemas.microsoft.com/office/drawing/2014/main" id="{09D60EAF-7608-497F-B9CD-2F04450E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524375"/>
            <a:ext cx="34290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Artifact storage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Retained source bytes, output partitions and manifests</a:t>
            </a:r>
          </a:p>
        </p:txBody>
      </p:sp>
      <p:sp>
        <p:nvSpPr>
          <p:cNvPr id="14" name="Neo4j">
            <a:extLst xmlns:a="http://schemas.openxmlformats.org/drawingml/2006/main">
              <a:ext uri="{FF2B5EF4-FFF2-40B4-BE49-F238E27FC236}">
                <a16:creationId xmlns:a16="http://schemas.microsoft.com/office/drawing/2014/main" id="{EC235D29-735C-4670-92FE-103E5AF7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24375"/>
            <a:ext cx="34290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Neo4j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Published ontology resources and reviewed semantic links</a:t>
            </a:r>
          </a:p>
        </p:txBody>
      </p:sp>
    </p:spTree>
    <p:extLst>
      <p:ext uri="{BB962C8B-B14F-4D97-AF65-F5344CB8AC3E}">
        <p14:creationId xmlns:p14="http://schemas.microsoft.com/office/powerpoint/2010/main" val="7075300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Governed publication routes">
            <a:extLst xmlns:a="http://schemas.openxmlformats.org/drawingml/2006/main">
              <a:ext uri="{FF2B5EF4-FFF2-40B4-BE49-F238E27FC236}">
                <a16:creationId xmlns:a16="http://schemas.microsoft.com/office/drawing/2014/main" id="{9065D6CD-110F-42C0-B3B6-61767F83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Governed publication routes</a:t>
            </a:r>
          </a:p>
        </p:txBody>
      </p:sp>
      <p:sp>
        <p:nvSpPr>
          <p:cNvPr id="2" name="CEIM batches and Semantic Bridge mappings use distinct Graph Service c">
            <a:extLst xmlns:a="http://schemas.openxmlformats.org/drawingml/2006/main">
              <a:ext uri="{FF2B5EF4-FFF2-40B4-BE49-F238E27FC236}">
                <a16:creationId xmlns:a16="http://schemas.microsoft.com/office/drawing/2014/main" id="{3756F2D0-A09A-4F7F-9BD4-1BEF9CDF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CEIM batches and Semantic Bridge mappings use distinct Graph Service contracts.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B2090A32-9E1E-4035-B224-A3C6B89ED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04">
            <a:extLst xmlns:a="http://schemas.openxmlformats.org/drawingml/2006/main">
              <a:ext uri="{FF2B5EF4-FFF2-40B4-BE49-F238E27FC236}">
                <a16:creationId xmlns:a16="http://schemas.microsoft.com/office/drawing/2014/main" id="{73356388-B34D-47DC-89BF-9F180549F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Semantic batch">
            <a:extLst xmlns:a="http://schemas.openxmlformats.org/drawingml/2006/main">
              <a:ext uri="{FF2B5EF4-FFF2-40B4-BE49-F238E27FC236}">
                <a16:creationId xmlns:a16="http://schemas.microsoft.com/office/drawing/2014/main" id="{16D89CA1-9801-4E4B-B52B-756246E3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Semantic batch</a:t>
            </a:r>
          </a:p>
        </p:txBody>
      </p:sp>
      <p:sp>
        <p:nvSpPr>
          <p:cNvPr id="6" name="Accepted partition">
            <a:extLst xmlns:a="http://schemas.openxmlformats.org/drawingml/2006/main">
              <a:ext uri="{FF2B5EF4-FFF2-40B4-BE49-F238E27FC236}">
                <a16:creationId xmlns:a16="http://schemas.microsoft.com/office/drawing/2014/main" id="{CD8A8FE8-2807-478E-8A7D-A0553932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8375"/>
            <a:ext cx="34544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Accepted partition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Completed semantic job and retained batch</a:t>
            </a:r>
          </a:p>
        </p:txBody>
      </p:sp>
      <p:sp>
        <p:nvSpPr>
          <p:cNvPr id="7" name="CEIM approval">
            <a:extLst xmlns:a="http://schemas.openxmlformats.org/drawingml/2006/main">
              <a:ext uri="{FF2B5EF4-FFF2-40B4-BE49-F238E27FC236}">
                <a16:creationId xmlns:a16="http://schemas.microsoft.com/office/drawing/2014/main" id="{3FE714F6-0336-47F7-A941-6E69D83B9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38375"/>
            <a:ext cx="34544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CEIM approval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Mapping, SHACL and approved semantic release</a:t>
            </a:r>
          </a:p>
        </p:txBody>
      </p:sp>
      <p:sp>
        <p:nvSpPr>
          <p:cNvPr id="8" name="Graph publication">
            <a:extLst xmlns:a="http://schemas.openxmlformats.org/drawingml/2006/main">
              <a:ext uri="{FF2B5EF4-FFF2-40B4-BE49-F238E27FC236}">
                <a16:creationId xmlns:a16="http://schemas.microsoft.com/office/drawing/2014/main" id="{BED0E674-1415-4196-B7A8-E8BA2BD21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2238375"/>
            <a:ext cx="34544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Graph publication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Service credential authorizes ontology publication</a:t>
            </a:r>
          </a:p>
        </p:txBody>
      </p:sp>
      <p:cxnSp>
        <p:nvCxnSpPr>
          <p:cNvPr id="26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025900" y="28813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823200" y="28813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1" name="Semantic Bridge">
            <a:extLst xmlns:a="http://schemas.openxmlformats.org/drawingml/2006/main">
              <a:ext uri="{FF2B5EF4-FFF2-40B4-BE49-F238E27FC236}">
                <a16:creationId xmlns:a16="http://schemas.microsoft.com/office/drawing/2014/main" id="{B3E005F3-C166-4E2A-A719-F6472146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Semantic Bridge</a:t>
            </a:r>
          </a:p>
        </p:txBody>
      </p:sp>
      <p:sp>
        <p:nvSpPr>
          <p:cNvPr id="12" name="Saved preview">
            <a:extLst xmlns:a="http://schemas.openxmlformats.org/drawingml/2006/main">
              <a:ext uri="{FF2B5EF4-FFF2-40B4-BE49-F238E27FC236}">
                <a16:creationId xmlns:a16="http://schemas.microsoft.com/office/drawing/2014/main" id="{657108AD-23A2-488A-B732-3A460C79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76725"/>
            <a:ext cx="34544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Saved preview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Reviewer selects eligible mapping candidates</a:t>
            </a:r>
          </a:p>
        </p:txBody>
      </p:sp>
      <p:sp>
        <p:nvSpPr>
          <p:cNvPr id="13" name="Agentic approval">
            <a:extLst xmlns:a="http://schemas.openxmlformats.org/drawingml/2006/main">
              <a:ext uri="{FF2B5EF4-FFF2-40B4-BE49-F238E27FC236}">
                <a16:creationId xmlns:a16="http://schemas.microsoft.com/office/drawing/2014/main" id="{52BBF7CC-DAAB-4738-AE1C-7E0F8782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276725"/>
            <a:ext cx="34544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Agentic approval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Checks snapshot and fixes the approved selection</a:t>
            </a:r>
          </a:p>
        </p:txBody>
      </p:sp>
      <p:sp>
        <p:nvSpPr>
          <p:cNvPr id="14" name="Graph Bridge API">
            <a:extLst xmlns:a="http://schemas.openxmlformats.org/drawingml/2006/main">
              <a:ext uri="{FF2B5EF4-FFF2-40B4-BE49-F238E27FC236}">
                <a16:creationId xmlns:a16="http://schemas.microsoft.com/office/drawing/2014/main" id="{E8BC861D-EC20-433B-9E5C-E805E3E2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4276725"/>
            <a:ext cx="34544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Graph Bridge API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Commits mappings and a durable receipt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025900" y="491966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823200" y="491966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7" name="The browser never receives the private Graph publication credential.">
            <a:extLst xmlns:a="http://schemas.openxmlformats.org/drawingml/2006/main">
              <a:ext uri="{FF2B5EF4-FFF2-40B4-BE49-F238E27FC236}">
                <a16:creationId xmlns:a16="http://schemas.microsoft.com/office/drawing/2014/main" id="{B21568FC-3F98-486A-ADB7-376EEF11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The browser never receives the private Graph publication credential.</a:t>
            </a:r>
          </a:p>
        </p:txBody>
      </p:sp>
    </p:spTree>
    <p:extLst>
      <p:ext uri="{BB962C8B-B14F-4D97-AF65-F5344CB8AC3E}">
        <p14:creationId xmlns:p14="http://schemas.microsoft.com/office/powerpoint/2010/main" val="16134280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mantic Bridge review and recovery">
            <a:extLst xmlns:a="http://schemas.openxmlformats.org/drawingml/2006/main">
              <a:ext uri="{FF2B5EF4-FFF2-40B4-BE49-F238E27FC236}">
                <a16:creationId xmlns:a16="http://schemas.microsoft.com/office/drawing/2014/main" id="{17F91537-7BFF-46F7-AC44-D4729CE7F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Semantic Bridge review and recovery</a:t>
            </a:r>
          </a:p>
        </p:txBody>
      </p:sp>
      <p:sp>
        <p:nvSpPr>
          <p:cNvPr id="2" name="A saved preview connects a selected import to a selected ontology.">
            <a:extLst xmlns:a="http://schemas.openxmlformats.org/drawingml/2006/main">
              <a:ext uri="{FF2B5EF4-FFF2-40B4-BE49-F238E27FC236}">
                <a16:creationId xmlns:a16="http://schemas.microsoft.com/office/drawing/2014/main" id="{24ECADDD-FEAE-4E56-8B14-91A9C521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A saved preview connects a selected import to a selected ontology.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87294871-CA73-4713-8220-CE9ED49B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05">
            <a:extLst xmlns:a="http://schemas.openxmlformats.org/drawingml/2006/main">
              <a:ext uri="{FF2B5EF4-FFF2-40B4-BE49-F238E27FC236}">
                <a16:creationId xmlns:a16="http://schemas.microsoft.com/office/drawing/2014/main" id="{4AE32619-BA18-4424-BD1D-A4DE984A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Preview">
            <a:extLst xmlns:a="http://schemas.openxmlformats.org/drawingml/2006/main">
              <a:ext uri="{FF2B5EF4-FFF2-40B4-BE49-F238E27FC236}">
                <a16:creationId xmlns:a16="http://schemas.microsoft.com/office/drawing/2014/main" id="{2A2845D2-84BF-48A5-9127-A0FA0720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43125"/>
            <a:ext cx="25050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Preview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Snapshot source and ontology. Save candidate IDs.</a:t>
            </a:r>
          </a:p>
        </p:txBody>
      </p:sp>
      <p:sp>
        <p:nvSpPr>
          <p:cNvPr id="6" name="Review">
            <a:extLst xmlns:a="http://schemas.openxmlformats.org/drawingml/2006/main">
              <a:ext uri="{FF2B5EF4-FFF2-40B4-BE49-F238E27FC236}">
                <a16:creationId xmlns:a16="http://schemas.microsoft.com/office/drawing/2014/main" id="{116020F7-9893-4EA2-B8E2-787CAF00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143125"/>
            <a:ext cx="25050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Review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Select eligible mappings. Nothing starts selected.</a:t>
            </a:r>
          </a:p>
        </p:txBody>
      </p:sp>
      <p:sp>
        <p:nvSpPr>
          <p:cNvPr id="7" name="Approve">
            <a:extLst xmlns:a="http://schemas.openxmlformats.org/drawingml/2006/main">
              <a:ext uri="{FF2B5EF4-FFF2-40B4-BE49-F238E27FC236}">
                <a16:creationId xmlns:a16="http://schemas.microsoft.com/office/drawing/2014/main" id="{497075E9-4EFA-48E4-86FB-80E789FDB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43125"/>
            <a:ext cx="25050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Approve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Supply approver identity and approval key.</a:t>
            </a:r>
          </a:p>
        </p:txBody>
      </p:sp>
      <p:sp>
        <p:nvSpPr>
          <p:cNvPr id="8" name="Publish">
            <a:extLst xmlns:a="http://schemas.openxmlformats.org/drawingml/2006/main">
              <a:ext uri="{FF2B5EF4-FFF2-40B4-BE49-F238E27FC236}">
                <a16:creationId xmlns:a16="http://schemas.microsoft.com/office/drawing/2014/main" id="{FF0C890A-5699-41C8-9165-9864F427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143125"/>
            <a:ext cx="25050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Publish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Graph transaction writes mappings and receipt.</a:t>
            </a:r>
          </a:p>
        </p:txBody>
      </p:sp>
      <p:cxnSp>
        <p:nvCxnSpPr>
          <p:cNvPr id="26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76575" y="29527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24550" y="29527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772525" y="29527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2" name="Changed source">
            <a:extLst xmlns:a="http://schemas.openxmlformats.org/drawingml/2006/main">
              <a:ext uri="{FF2B5EF4-FFF2-40B4-BE49-F238E27FC236}">
                <a16:creationId xmlns:a16="http://schemas.microsoft.com/office/drawing/2014/main" id="{50D605D5-1688-4B48-A579-1EABA584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0"/>
            <a:ext cx="339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Changed source</a:t>
            </a:r>
          </a:p>
        </p:txBody>
      </p:sp>
      <p:sp>
        <p:nvSpPr>
          <p:cNvPr id="13" name="A stale snapshot requires a new preview and review.">
            <a:extLst xmlns:a="http://schemas.openxmlformats.org/drawingml/2006/main">
              <a:ext uri="{FF2B5EF4-FFF2-40B4-BE49-F238E27FC236}">
                <a16:creationId xmlns:a16="http://schemas.microsoft.com/office/drawing/2014/main" id="{F2B0E9EE-DF29-4ED9-BC88-BE2999925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3349625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A stale snapshot requires a new preview and review.</a:t>
            </a:r>
          </a:p>
        </p:txBody>
      </p:sp>
      <p:sp>
        <p:nvSpPr>
          <p:cNvPr id="14" name="Interrupted response">
            <a:extLst xmlns:a="http://schemas.openxmlformats.org/drawingml/2006/main">
              <a:ext uri="{FF2B5EF4-FFF2-40B4-BE49-F238E27FC236}">
                <a16:creationId xmlns:a16="http://schemas.microsoft.com/office/drawing/2014/main" id="{3E74E45C-2462-447C-99E2-56017C2E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286250"/>
            <a:ext cx="339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Interrupted response</a:t>
            </a:r>
          </a:p>
        </p:txBody>
      </p:sp>
      <p:sp>
        <p:nvSpPr>
          <p:cNvPr id="15" name="Retry the same selection. Reconcile the durable graph receipt.">
            <a:extLst xmlns:a="http://schemas.openxmlformats.org/drawingml/2006/main">
              <a:ext uri="{FF2B5EF4-FFF2-40B4-BE49-F238E27FC236}">
                <a16:creationId xmlns:a16="http://schemas.microsoft.com/office/drawing/2014/main" id="{9A797908-DFC3-4C40-95BD-F899D4B6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743450"/>
            <a:ext cx="3349625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Retry the same selection. Reconcile the durable graph receipt.</a:t>
            </a:r>
          </a:p>
        </p:txBody>
      </p:sp>
      <p:sp>
        <p:nvSpPr>
          <p:cNvPr id="16" name="UI evidence">
            <a:extLst xmlns:a="http://schemas.openxmlformats.org/drawingml/2006/main">
              <a:ext uri="{FF2B5EF4-FFF2-40B4-BE49-F238E27FC236}">
                <a16:creationId xmlns:a16="http://schemas.microsoft.com/office/drawing/2014/main" id="{29C07D61-B106-4C24-9CAF-93322EA1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4286250"/>
            <a:ext cx="339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UI evidence</a:t>
            </a:r>
          </a:p>
        </p:txBody>
      </p:sp>
      <p:sp>
        <p:nvSpPr>
          <p:cNvPr id="17" name="Load a saved preview, refresh status and download the job artifact.">
            <a:extLst xmlns:a="http://schemas.openxmlformats.org/drawingml/2006/main">
              <a:ext uri="{FF2B5EF4-FFF2-40B4-BE49-F238E27FC236}">
                <a16:creationId xmlns:a16="http://schemas.microsoft.com/office/drawing/2014/main" id="{87B779D8-5A50-4719-A77D-4EF553A8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4743450"/>
            <a:ext cx="3349625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Load a saved preview, refresh status and download the job artifact.</a:t>
            </a:r>
          </a:p>
        </p:txBody>
      </p:sp>
    </p:spTree>
    <p:extLst>
      <p:ext uri="{BB962C8B-B14F-4D97-AF65-F5344CB8AC3E}">
        <p14:creationId xmlns:p14="http://schemas.microsoft.com/office/powerpoint/2010/main" val="7303556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Data-job execution and checkpoint control">
            <a:extLst xmlns:a="http://schemas.openxmlformats.org/drawingml/2006/main">
              <a:ext uri="{FF2B5EF4-FFF2-40B4-BE49-F238E27FC236}">
                <a16:creationId xmlns:a16="http://schemas.microsoft.com/office/drawing/2014/main" id="{C27C8D10-FA91-4562-B32A-5018706A1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Data-job execution and checkpoint control</a:t>
            </a:r>
          </a:p>
        </p:txBody>
      </p:sp>
      <p:sp>
        <p:nvSpPr>
          <p:cNvPr id="2" name="A successful compute run and a successful graph publication are separa">
            <a:extLst xmlns:a="http://schemas.openxmlformats.org/drawingml/2006/main">
              <a:ext uri="{FF2B5EF4-FFF2-40B4-BE49-F238E27FC236}">
                <a16:creationId xmlns:a16="http://schemas.microsoft.com/office/drawing/2014/main" id="{0A8F8D01-AD70-427C-92F8-AD4358A7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A successful compute run and a successful graph publication are separate states.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71B56509-D3AC-46A3-BE5B-A215447F6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06">
            <a:extLst xmlns:a="http://schemas.openxmlformats.org/drawingml/2006/main">
              <a:ext uri="{FF2B5EF4-FFF2-40B4-BE49-F238E27FC236}">
                <a16:creationId xmlns:a16="http://schemas.microsoft.com/office/drawing/2014/main" id="{AC296FE4-48CD-42D1-9A18-73B8EBBDC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Job definition">
            <a:extLst xmlns:a="http://schemas.openxmlformats.org/drawingml/2006/main">
              <a:ext uri="{FF2B5EF4-FFF2-40B4-BE49-F238E27FC236}">
                <a16:creationId xmlns:a16="http://schemas.microsoft.com/office/drawing/2014/main" id="{9E462AA9-974C-481A-A420-20DBDB70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25050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Job definition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Version, owner, contracts and approval</a:t>
            </a:r>
          </a:p>
        </p:txBody>
      </p:sp>
      <p:sp>
        <p:nvSpPr>
          <p:cNvPr id="6" name="Run">
            <a:extLst xmlns:a="http://schemas.openxmlformats.org/drawingml/2006/main">
              <a:ext uri="{FF2B5EF4-FFF2-40B4-BE49-F238E27FC236}">
                <a16:creationId xmlns:a16="http://schemas.microsoft.com/office/drawing/2014/main" id="{BCDCE9F8-368B-45DB-93E6-D4FFBF431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095500"/>
            <a:ext cx="25050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Run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Resolve retained input and execute the handler</a:t>
            </a:r>
          </a:p>
        </p:txBody>
      </p:sp>
      <p:sp>
        <p:nvSpPr>
          <p:cNvPr id="7" name="Quality result">
            <a:extLst xmlns:a="http://schemas.openxmlformats.org/drawingml/2006/main">
              <a:ext uri="{FF2B5EF4-FFF2-40B4-BE49-F238E27FC236}">
                <a16:creationId xmlns:a16="http://schemas.microsoft.com/office/drawing/2014/main" id="{233C7137-1B99-447A-82B0-5C93FBCA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5050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Quality result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Keep accepted/rejected partitions and run evidence</a:t>
            </a:r>
          </a:p>
        </p:txBody>
      </p:sp>
      <p:sp>
        <p:nvSpPr>
          <p:cNvPr id="8" name="Publication">
            <a:extLst xmlns:a="http://schemas.openxmlformats.org/drawingml/2006/main">
              <a:ext uri="{FF2B5EF4-FFF2-40B4-BE49-F238E27FC236}">
                <a16:creationId xmlns:a16="http://schemas.microsoft.com/office/drawing/2014/main" id="{C0CB4EA6-99C1-44E5-A2B9-E24E0225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095500"/>
            <a:ext cx="25050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Publication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Approve the accepted semantic partition</a:t>
            </a:r>
          </a:p>
        </p:txBody>
      </p: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76575" y="28575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24550" y="28575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772525" y="28575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2" name="Accepted output">
            <a:extLst xmlns:a="http://schemas.openxmlformats.org/drawingml/2006/main">
              <a:ext uri="{FF2B5EF4-FFF2-40B4-BE49-F238E27FC236}">
                <a16:creationId xmlns:a16="http://schemas.microsoft.com/office/drawing/2014/main" id="{E435E73C-76C8-40FB-8AFD-C66F72A6E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238625"/>
            <a:ext cx="3905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Accepted output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Candidate checkpoint waits for publication</a:t>
            </a:r>
          </a:p>
        </p:txBody>
      </p:sp>
      <p:sp>
        <p:nvSpPr>
          <p:cNvPr id="13" name="Confirmed graph receipt">
            <a:extLst xmlns:a="http://schemas.openxmlformats.org/drawingml/2006/main">
              <a:ext uri="{FF2B5EF4-FFF2-40B4-BE49-F238E27FC236}">
                <a16:creationId xmlns:a16="http://schemas.microsoft.com/office/drawing/2014/main" id="{51596705-77F1-4036-A245-C8D5FFA12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238625"/>
            <a:ext cx="3905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Confirmed graph receipt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Advance the checkpoint after publication succeeds</a:t>
            </a:r>
          </a:p>
        </p:txBody>
      </p:sp>
      <p:cxnSp>
        <p:nvCxnSpPr>
          <p:cNvPr id="29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476875" y="479107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5" name="Failed quality or uncertain publication keeps the checkpoint pending f">
            <a:extLst xmlns:a="http://schemas.openxmlformats.org/drawingml/2006/main">
              <a:ext uri="{FF2B5EF4-FFF2-40B4-BE49-F238E27FC236}">
                <a16:creationId xmlns:a16="http://schemas.microsoft.com/office/drawing/2014/main" id="{F2D01D8D-6A75-4FA6-8FD0-24378916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Failed quality or uncertain publication keeps the checkpoint pending for review or recovery.</a:t>
            </a:r>
          </a:p>
        </p:txBody>
      </p:sp>
    </p:spTree>
    <p:extLst>
      <p:ext uri="{BB962C8B-B14F-4D97-AF65-F5344CB8AC3E}">
        <p14:creationId xmlns:p14="http://schemas.microsoft.com/office/powerpoint/2010/main" val="19577708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mantic and document job contracts">
            <a:extLst xmlns:a="http://schemas.openxmlformats.org/drawingml/2006/main">
              <a:ext uri="{FF2B5EF4-FFF2-40B4-BE49-F238E27FC236}">
                <a16:creationId xmlns:a16="http://schemas.microsoft.com/office/drawing/2014/main" id="{53C82E91-0FFE-4A8F-A3CE-06451940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Semantic and document job contracts</a:t>
            </a:r>
          </a:p>
        </p:txBody>
      </p:sp>
      <p:sp>
        <p:nvSpPr>
          <p:cNvPr id="2" name="Registered handlers define explicit input and output contracts.">
            <a:extLst xmlns:a="http://schemas.openxmlformats.org/drawingml/2006/main">
              <a:ext uri="{FF2B5EF4-FFF2-40B4-BE49-F238E27FC236}">
                <a16:creationId xmlns:a16="http://schemas.microsoft.com/office/drawing/2014/main" id="{5A546287-244C-42B9-9E2B-4FE48566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Registered handlers define explicit input and output contracts.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764E139E-545B-4FD2-B59F-67523942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07">
            <a:extLst xmlns:a="http://schemas.openxmlformats.org/drawingml/2006/main">
              <a:ext uri="{FF2B5EF4-FFF2-40B4-BE49-F238E27FC236}">
                <a16:creationId xmlns:a16="http://schemas.microsoft.com/office/drawing/2014/main" id="{7A73AC6D-38E5-4296-BCC9-8C8CB9A16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71500" y="1847850"/>
          <a:ext xmlns:a="http://schemas.openxmlformats.org/drawingml/2006/main" cx="11049000" cy="3790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57625"/>
                <a:gridCol w="3095625"/>
                <a:gridCol w="4095750"/>
              </a:tblGrid>
              <a:tr h="631825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Job type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Input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Functional output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normalize-ceim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Source CEIM batch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Normalized canonical batch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validate-semantic-batch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Source CEIM batch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Semantic validation report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validate-unstructured-evidence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Document evidence batch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Validated artifact/chunk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enrich-document-evidence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Document evidence batch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Document graph proposal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normalize-unstructured-ceim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Document graph proposal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Canonical semantic validation report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Configured runs retain the input, quality report and output references">
            <a:extLst xmlns:a="http://schemas.openxmlformats.org/drawingml/2006/main">
              <a:ext uri="{FF2B5EF4-FFF2-40B4-BE49-F238E27FC236}">
                <a16:creationId xmlns:a16="http://schemas.microsoft.com/office/drawing/2014/main" id="{98C6EAB9-CF3D-4BED-A0BE-22D25AC5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769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Configured runs retain the input, quality report and output references for later review.</a:t>
            </a:r>
          </a:p>
        </p:txBody>
      </p:sp>
    </p:spTree>
    <p:extLst>
      <p:ext uri="{BB962C8B-B14F-4D97-AF65-F5344CB8AC3E}">
        <p14:creationId xmlns:p14="http://schemas.microsoft.com/office/powerpoint/2010/main" val="196053307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Quality, schema and RDF job contracts">
            <a:extLst xmlns:a="http://schemas.openxmlformats.org/drawingml/2006/main">
              <a:ext uri="{FF2B5EF4-FFF2-40B4-BE49-F238E27FC236}">
                <a16:creationId xmlns:a16="http://schemas.microsoft.com/office/drawing/2014/main" id="{6E99D3EE-3E47-4373-955F-B438A56D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Quality, schema and RDF job contracts</a:t>
            </a:r>
          </a:p>
        </p:txBody>
      </p:sp>
      <p:sp>
        <p:nvSpPr>
          <p:cNvPr id="2" name="These outputs support analysis and preparation before a separate publi">
            <a:extLst xmlns:a="http://schemas.openxmlformats.org/drawingml/2006/main">
              <a:ext uri="{FF2B5EF4-FFF2-40B4-BE49-F238E27FC236}">
                <a16:creationId xmlns:a16="http://schemas.microsoft.com/office/drawing/2014/main" id="{13C63117-D60C-4F14-9484-2CE72E197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These outputs support analysis and preparation before a separate publication decision.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D40C88F2-624F-43CA-B2B1-1E5D08F6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08">
            <a:extLst xmlns:a="http://schemas.openxmlformats.org/drawingml/2006/main">
              <a:ext uri="{FF2B5EF4-FFF2-40B4-BE49-F238E27FC236}">
                <a16:creationId xmlns:a16="http://schemas.microsoft.com/office/drawing/2014/main" id="{2510F5F4-9B26-49CE-A9D5-D3FFE8F3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71500" y="1847850"/>
          <a:ext xmlns:a="http://schemas.openxmlformats.org/drawingml/2006/main" cx="11049000" cy="3790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57625"/>
                <a:gridCol w="3095625"/>
                <a:gridCol w="4095750"/>
              </a:tblGrid>
              <a:tr h="631825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Job type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Input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Functional output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interactive-quality-summary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Quality records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Summary for interactive inspection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data-quality-assessment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Quality records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Quality assessment report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schema-analytics-product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Engineering schema artifact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Draft schema analytics product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rdf-quality-statistics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N-Triples artifact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RDF quality report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rdf-deduplicate-serialize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N-Triples artifact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Canonical deduplicated N-Triples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DF profiling and deduplication currently accept N-Triples artifacts.">
            <a:extLst xmlns:a="http://schemas.openxmlformats.org/drawingml/2006/main">
              <a:ext uri="{FF2B5EF4-FFF2-40B4-BE49-F238E27FC236}">
                <a16:creationId xmlns:a16="http://schemas.microsoft.com/office/drawing/2014/main" id="{1A38F92A-2F68-4105-8DF7-803CE52D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769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RDF profiling and deduplication currently accept N-Triples artifacts.</a:t>
            </a:r>
          </a:p>
        </p:txBody>
      </p:sp>
    </p:spTree>
    <p:extLst>
      <p:ext uri="{BB962C8B-B14F-4D97-AF65-F5344CB8AC3E}">
        <p14:creationId xmlns:p14="http://schemas.microsoft.com/office/powerpoint/2010/main" val="15896910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atch and event reconciliation">
            <a:extLst xmlns:a="http://schemas.openxmlformats.org/drawingml/2006/main">
              <a:ext uri="{FF2B5EF4-FFF2-40B4-BE49-F238E27FC236}">
                <a16:creationId xmlns:a16="http://schemas.microsoft.com/office/drawing/2014/main" id="{E6CC4758-1FA4-47D9-8542-A90CE996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Batch and event reconciliation</a:t>
            </a:r>
          </a:p>
        </p:txBody>
      </p:sp>
      <p:sp>
        <p:nvSpPr>
          <p:cNvPr id="2" name="Both paths retain evidence and use CEIM for semantic batch publication">
            <a:extLst xmlns:a="http://schemas.openxmlformats.org/drawingml/2006/main">
              <a:ext uri="{FF2B5EF4-FFF2-40B4-BE49-F238E27FC236}">
                <a16:creationId xmlns:a16="http://schemas.microsoft.com/office/drawing/2014/main" id="{7872308E-5172-4169-891F-26F6E8EF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Both paths retain evidence and use CEIM for semantic batch publication.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D6CACB5A-5660-44BC-988A-1FD62203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09">
            <a:extLst xmlns:a="http://schemas.openxmlformats.org/drawingml/2006/main">
              <a:ext uri="{FF2B5EF4-FFF2-40B4-BE49-F238E27FC236}">
                <a16:creationId xmlns:a16="http://schemas.microsoft.com/office/drawing/2014/main" id="{3D0D837B-8EAF-4C23-9959-3D42DE6B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Batch path">
            <a:extLst xmlns:a="http://schemas.openxmlformats.org/drawingml/2006/main">
              <a:ext uri="{FF2B5EF4-FFF2-40B4-BE49-F238E27FC236}">
                <a16:creationId xmlns:a16="http://schemas.microsoft.com/office/drawing/2014/main" id="{86D8900F-D977-463C-8A03-1954FC8A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Batch path</a:t>
            </a:r>
          </a:p>
        </p:txBody>
      </p:sp>
      <p:sp>
        <p:nvSpPr>
          <p:cNvPr id="6" name="Retained artifact">
            <a:extLst xmlns:a="http://schemas.openxmlformats.org/drawingml/2006/main">
              <a:ext uri="{FF2B5EF4-FFF2-40B4-BE49-F238E27FC236}">
                <a16:creationId xmlns:a16="http://schemas.microsoft.com/office/drawing/2014/main" id="{9E4312FD-C1DE-4E14-A7FD-E5010459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0275"/>
            <a:ext cx="3454400" cy="1228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Retained artifact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Source manifest and version</a:t>
            </a:r>
          </a:p>
        </p:txBody>
      </p:sp>
      <p:sp>
        <p:nvSpPr>
          <p:cNvPr id="7" name="Approved data job">
            <a:extLst xmlns:a="http://schemas.openxmlformats.org/drawingml/2006/main">
              <a:ext uri="{FF2B5EF4-FFF2-40B4-BE49-F238E27FC236}">
                <a16:creationId xmlns:a16="http://schemas.microsoft.com/office/drawing/2014/main" id="{0CE6EC42-AF7F-4AA6-B5C4-44B51BF0A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00275"/>
            <a:ext cx="3454400" cy="1228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Approved data job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Spark/PySpark transformation</a:t>
            </a:r>
          </a:p>
        </p:txBody>
      </p:sp>
      <p:sp>
        <p:nvSpPr>
          <p:cNvPr id="8" name="Accepted partition">
            <a:extLst xmlns:a="http://schemas.openxmlformats.org/drawingml/2006/main">
              <a:ext uri="{FF2B5EF4-FFF2-40B4-BE49-F238E27FC236}">
                <a16:creationId xmlns:a16="http://schemas.microsoft.com/office/drawing/2014/main" id="{F98D78CD-90B5-456F-B3BA-D2C13E52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2200275"/>
            <a:ext cx="3454400" cy="1228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Accepted partition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CEIM publication approval</a:t>
            </a:r>
          </a:p>
        </p:txBody>
      </p:sp>
      <p:cxnSp>
        <p:nvCxnSpPr>
          <p:cNvPr id="26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025900" y="281463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823200" y="281463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1" name="Event path">
            <a:extLst xmlns:a="http://schemas.openxmlformats.org/drawingml/2006/main">
              <a:ext uri="{FF2B5EF4-FFF2-40B4-BE49-F238E27FC236}">
                <a16:creationId xmlns:a16="http://schemas.microsoft.com/office/drawing/2014/main" id="{B1FB512A-A496-46D8-82BA-6C3C032A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Event path</a:t>
            </a:r>
          </a:p>
        </p:txBody>
      </p:sp>
      <p:sp>
        <p:nvSpPr>
          <p:cNvPr id="12" name="Approved source">
            <a:extLst xmlns:a="http://schemas.openxmlformats.org/drawingml/2006/main">
              <a:ext uri="{FF2B5EF4-FFF2-40B4-BE49-F238E27FC236}">
                <a16:creationId xmlns:a16="http://schemas.microsoft.com/office/drawing/2014/main" id="{48AC5E2D-D187-4DD8-80C8-F415B6D7D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71950"/>
            <a:ext cx="3454400" cy="1228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Approved source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Capture events with source policy</a:t>
            </a:r>
          </a:p>
        </p:txBody>
      </p:sp>
      <p:sp>
        <p:nvSpPr>
          <p:cNvPr id="13" name="Reconciliation">
            <a:extLst xmlns:a="http://schemas.openxmlformats.org/drawingml/2006/main">
              <a:ext uri="{FF2B5EF4-FFF2-40B4-BE49-F238E27FC236}">
                <a16:creationId xmlns:a16="http://schemas.microsoft.com/office/drawing/2014/main" id="{90201731-E8F5-4135-BF42-74AE2714A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171950"/>
            <a:ext cx="3454400" cy="1228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Reconciliation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Idempotency and event policy checks</a:t>
            </a:r>
          </a:p>
        </p:txBody>
      </p:sp>
      <p:sp>
        <p:nvSpPr>
          <p:cNvPr id="14" name="Ready partition">
            <a:extLst xmlns:a="http://schemas.openxmlformats.org/drawingml/2006/main">
              <a:ext uri="{FF2B5EF4-FFF2-40B4-BE49-F238E27FC236}">
                <a16:creationId xmlns:a16="http://schemas.microsoft.com/office/drawing/2014/main" id="{6CD65E69-2964-4B9F-8B2E-CD3B20EF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4171950"/>
            <a:ext cx="3454400" cy="1228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Ready partition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CEIM publication approval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025900" y="47863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823200" y="47863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7" name="Customer CDC/message-bus adapters and throughput targets still need de">
            <a:extLst xmlns:a="http://schemas.openxmlformats.org/drawingml/2006/main">
              <a:ext uri="{FF2B5EF4-FFF2-40B4-BE49-F238E27FC236}">
                <a16:creationId xmlns:a16="http://schemas.microsoft.com/office/drawing/2014/main" id="{AF38E168-B06F-4790-99EC-EDF9A1EB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9775"/>
            <a:ext cx="11049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Customer CDC/message-bus adapters and throughput targets still need deployment-specific acceptance.</a:t>
            </a:r>
          </a:p>
        </p:txBody>
      </p:sp>
    </p:spTree>
    <p:extLst>
      <p:ext uri="{BB962C8B-B14F-4D97-AF65-F5344CB8AC3E}">
        <p14:creationId xmlns:p14="http://schemas.microsoft.com/office/powerpoint/2010/main" val="2482066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Document evidence workflow">
            <a:extLst xmlns:a="http://schemas.openxmlformats.org/drawingml/2006/main">
              <a:ext uri="{FF2B5EF4-FFF2-40B4-BE49-F238E27FC236}">
                <a16:creationId xmlns:a16="http://schemas.microsoft.com/office/drawing/2014/main" id="{09562B6C-785F-45BC-B6A9-610013DB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Document evidence workflow</a:t>
            </a:r>
          </a:p>
        </p:txBody>
      </p:sp>
      <p:sp>
        <p:nvSpPr>
          <p:cNvPr id="2" name="Structural enrichment preserves the link between a document and its pr">
            <a:extLst xmlns:a="http://schemas.openxmlformats.org/drawingml/2006/main">
              <a:ext uri="{FF2B5EF4-FFF2-40B4-BE49-F238E27FC236}">
                <a16:creationId xmlns:a16="http://schemas.microsoft.com/office/drawing/2014/main" id="{7EFF7CC0-111E-4A91-BCFD-F3733151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Structural enrichment preserves the link between a document and its proposed graph facts.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3CAB1CD4-34F0-481B-8A6D-E3471DA4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0">
            <a:extLst xmlns:a="http://schemas.openxmlformats.org/drawingml/2006/main">
              <a:ext uri="{FF2B5EF4-FFF2-40B4-BE49-F238E27FC236}">
                <a16:creationId xmlns:a16="http://schemas.microsoft.com/office/drawing/2014/main" id="{0FED8504-AD23-44EF-B2B6-B596BDED0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Retain">
            <a:extLst xmlns:a="http://schemas.openxmlformats.org/drawingml/2006/main">
              <a:ext uri="{FF2B5EF4-FFF2-40B4-BE49-F238E27FC236}">
                <a16:creationId xmlns:a16="http://schemas.microsoft.com/office/drawing/2014/main" id="{92A5BE11-1562-4B16-9154-AA90279AB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250507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Retain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Store the original artifact and chunk references.</a:t>
            </a:r>
          </a:p>
        </p:txBody>
      </p:sp>
      <p:sp>
        <p:nvSpPr>
          <p:cNvPr id="6" name="Validate">
            <a:extLst xmlns:a="http://schemas.openxmlformats.org/drawingml/2006/main">
              <a:ext uri="{FF2B5EF4-FFF2-40B4-BE49-F238E27FC236}">
                <a16:creationId xmlns:a16="http://schemas.microsoft.com/office/drawing/2014/main" id="{D4EBEBEB-8B37-4131-A755-FF9D74DC2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095500"/>
            <a:ext cx="250507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Validate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Check evidence structure and source identity.</a:t>
            </a:r>
          </a:p>
        </p:txBody>
      </p:sp>
      <p:sp>
        <p:nvSpPr>
          <p:cNvPr id="7" name="Enrich">
            <a:extLst xmlns:a="http://schemas.openxmlformats.org/drawingml/2006/main">
              <a:ext uri="{FF2B5EF4-FFF2-40B4-BE49-F238E27FC236}">
                <a16:creationId xmlns:a16="http://schemas.microsoft.com/office/drawing/2014/main" id="{1274259C-296D-4C96-BA46-4AF3D616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50507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Enrich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Produce Document and DocumentChunk proposals.</a:t>
            </a:r>
          </a:p>
        </p:txBody>
      </p:sp>
      <p:sp>
        <p:nvSpPr>
          <p:cNvPr id="8" name="Normalize">
            <a:extLst xmlns:a="http://schemas.openxmlformats.org/drawingml/2006/main">
              <a:ext uri="{FF2B5EF4-FFF2-40B4-BE49-F238E27FC236}">
                <a16:creationId xmlns:a16="http://schemas.microsoft.com/office/drawing/2014/main" id="{F6ECBBF4-AF90-49E7-936C-DE4982D0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095500"/>
            <a:ext cx="250507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Normalize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Apply the approved CEIM mapping and validation.</a:t>
            </a:r>
          </a:p>
        </p:txBody>
      </p: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76575" y="292893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24550" y="292893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772525" y="292893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2" name="Reviewer context">
            <a:extLst xmlns:a="http://schemas.openxmlformats.org/drawingml/2006/main">
              <a:ext uri="{FF2B5EF4-FFF2-40B4-BE49-F238E27FC236}">
                <a16:creationId xmlns:a16="http://schemas.microsoft.com/office/drawing/2014/main" id="{1598D56B-923B-416E-932E-7CBE02D50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Reviewer context</a:t>
            </a:r>
          </a:p>
        </p:txBody>
      </p:sp>
      <p:sp>
        <p:nvSpPr>
          <p:cNvPr id="13" name="The proposal carries provenance and content digests for traceability.">
            <a:extLst xmlns:a="http://schemas.openxmlformats.org/drawingml/2006/main">
              <a:ext uri="{FF2B5EF4-FFF2-40B4-BE49-F238E27FC236}">
                <a16:creationId xmlns:a16="http://schemas.microsoft.com/office/drawing/2014/main" id="{6A6A1EBA-17B3-49B4-BE76-28C552BB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5191125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The proposal carries provenance and content digests for traceability.</a:t>
            </a:r>
          </a:p>
        </p:txBody>
      </p:sp>
      <p:sp>
        <p:nvSpPr>
          <p:cNvPr id="14" name="Scope">
            <a:extLst xmlns:a="http://schemas.openxmlformats.org/drawingml/2006/main">
              <a:ext uri="{FF2B5EF4-FFF2-40B4-BE49-F238E27FC236}">
                <a16:creationId xmlns:a16="http://schemas.microsoft.com/office/drawing/2014/main" id="{021C868A-0BA4-4282-B864-B25B31F01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Scope</a:t>
            </a:r>
          </a:p>
        </p:txBody>
      </p:sp>
      <p:sp>
        <p:nvSpPr>
          <p:cNvPr id="15" name="OCR, model-based entity extraction and embeddings require separate mod">
            <a:extLst xmlns:a="http://schemas.openxmlformats.org/drawingml/2006/main">
              <a:ext uri="{FF2B5EF4-FFF2-40B4-BE49-F238E27FC236}">
                <a16:creationId xmlns:a16="http://schemas.microsoft.com/office/drawing/2014/main" id="{027668E7-234F-4A1E-8CD2-5D5C9EE8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43450"/>
            <a:ext cx="5191125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OCR, model-based entity extraction and embeddings require separate model and corpus controls.</a:t>
            </a:r>
          </a:p>
        </p:txBody>
      </p:sp>
    </p:spTree>
    <p:extLst>
      <p:ext uri="{BB962C8B-B14F-4D97-AF65-F5344CB8AC3E}">
        <p14:creationId xmlns:p14="http://schemas.microsoft.com/office/powerpoint/2010/main" val="7401144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Data-product packaging and catalog registration">
            <a:extLst xmlns:a="http://schemas.openxmlformats.org/drawingml/2006/main">
              <a:ext uri="{FF2B5EF4-FFF2-40B4-BE49-F238E27FC236}">
                <a16:creationId xmlns:a16="http://schemas.microsoft.com/office/drawing/2014/main" id="{5260FB22-DA7B-4BDF-9654-829EC84F2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Data-product packaging and catalog registration</a:t>
            </a:r>
          </a:p>
        </p:txBody>
      </p:sp>
      <p:sp>
        <p:nvSpPr>
          <p:cNvPr id="2" name="A product exposes a versioned package and its evidence for reuse.">
            <a:extLst xmlns:a="http://schemas.openxmlformats.org/drawingml/2006/main">
              <a:ext uri="{FF2B5EF4-FFF2-40B4-BE49-F238E27FC236}">
                <a16:creationId xmlns:a16="http://schemas.microsoft.com/office/drawing/2014/main" id="{AED50F31-DC34-4CD2-B273-56E1E80C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A product exposes a versioned package and its evidence for reuse.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A4D5BAAE-B774-4301-B695-D0E0E8917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1">
            <a:extLst xmlns:a="http://schemas.openxmlformats.org/drawingml/2006/main">
              <a:ext uri="{FF2B5EF4-FFF2-40B4-BE49-F238E27FC236}">
                <a16:creationId xmlns:a16="http://schemas.microsoft.com/office/drawing/2014/main" id="{A94EFE1B-4AD6-49D6-856F-5F3570BA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Evidence">
            <a:extLst xmlns:a="http://schemas.openxmlformats.org/drawingml/2006/main">
              <a:ext uri="{FF2B5EF4-FFF2-40B4-BE49-F238E27FC236}">
                <a16:creationId xmlns:a16="http://schemas.microsoft.com/office/drawing/2014/main" id="{1CEFB83C-D12B-4FF3-AD83-0C02EE40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43125"/>
            <a:ext cx="250507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Evidence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Artifact references and semantic release</a:t>
            </a:r>
          </a:p>
        </p:txBody>
      </p:sp>
      <p:sp>
        <p:nvSpPr>
          <p:cNvPr id="6" name="Product manifest">
            <a:extLst xmlns:a="http://schemas.openxmlformats.org/drawingml/2006/main">
              <a:ext uri="{FF2B5EF4-FFF2-40B4-BE49-F238E27FC236}">
                <a16:creationId xmlns:a16="http://schemas.microsoft.com/office/drawing/2014/main" id="{B30C22A0-826C-4ADC-80DF-43B7343D2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143125"/>
            <a:ext cx="250507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Product manifest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Versioned package and validation status</a:t>
            </a:r>
          </a:p>
        </p:txBody>
      </p:sp>
      <p:sp>
        <p:nvSpPr>
          <p:cNvPr id="7" name="Durable outbox">
            <a:extLst xmlns:a="http://schemas.openxmlformats.org/drawingml/2006/main">
              <a:ext uri="{FF2B5EF4-FFF2-40B4-BE49-F238E27FC236}">
                <a16:creationId xmlns:a16="http://schemas.microsoft.com/office/drawing/2014/main" id="{D14B2F6C-5FA8-4C59-B16D-D43F34F9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43125"/>
            <a:ext cx="250507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Durable outbox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Retain pending catalog registration</a:t>
            </a:r>
          </a:p>
        </p:txBody>
      </p:sp>
      <p:sp>
        <p:nvSpPr>
          <p:cNvPr id="8" name="Catalog">
            <a:extLst xmlns:a="http://schemas.openxmlformats.org/drawingml/2006/main">
              <a:ext uri="{FF2B5EF4-FFF2-40B4-BE49-F238E27FC236}">
                <a16:creationId xmlns:a16="http://schemas.microsoft.com/office/drawing/2014/main" id="{3DE428F6-FC68-42C3-95BE-70D67F6B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143125"/>
            <a:ext cx="250507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Catalog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Discover the product and retrieve its metadata</a:t>
            </a:r>
          </a:p>
        </p:txBody>
      </p: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76575" y="292893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24550" y="292893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772525" y="292893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2" name="Recovery">
            <a:extLst xmlns:a="http://schemas.openxmlformats.org/drawingml/2006/main">
              <a:ext uri="{FF2B5EF4-FFF2-40B4-BE49-F238E27FC236}">
                <a16:creationId xmlns:a16="http://schemas.microsoft.com/office/drawing/2014/main" id="{65E93067-D996-4EAF-8E99-BF00A1AA0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Recovery</a:t>
            </a:r>
          </a:p>
        </p:txBody>
      </p:sp>
      <p:sp>
        <p:nvSpPr>
          <p:cNvPr id="13" name="The outbox worker periodically reconciles pending registrations.">
            <a:extLst xmlns:a="http://schemas.openxmlformats.org/drawingml/2006/main">
              <a:ext uri="{FF2B5EF4-FFF2-40B4-BE49-F238E27FC236}">
                <a16:creationId xmlns:a16="http://schemas.microsoft.com/office/drawing/2014/main" id="{A195B645-7790-4C78-BA97-9E30F609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5191125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The outbox worker periodically reconciles pending registrations.</a:t>
            </a:r>
          </a:p>
        </p:txBody>
      </p:sp>
      <p:sp>
        <p:nvSpPr>
          <p:cNvPr id="14" name="Boundary">
            <a:extLst xmlns:a="http://schemas.openxmlformats.org/drawingml/2006/main">
              <a:ext uri="{FF2B5EF4-FFF2-40B4-BE49-F238E27FC236}">
                <a16:creationId xmlns:a16="http://schemas.microsoft.com/office/drawing/2014/main" id="{1EA0432D-ED0E-474F-9978-EF2910238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Boundary</a:t>
            </a:r>
          </a:p>
        </p:txBody>
      </p:sp>
      <p:sp>
        <p:nvSpPr>
          <p:cNvPr id="15" name="Packaging and catalog registration are separate from graph mutation. A">
            <a:extLst xmlns:a="http://schemas.openxmlformats.org/drawingml/2006/main">
              <a:ext uri="{FF2B5EF4-FFF2-40B4-BE49-F238E27FC236}">
                <a16:creationId xmlns:a16="http://schemas.microsoft.com/office/drawing/2014/main" id="{8320082F-2875-4A20-B55F-E1AC7DEA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43450"/>
            <a:ext cx="5191125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Packaging and catalog registration are separate from graph mutation. A manifest alone grants no write authority.</a:t>
            </a:r>
          </a:p>
        </p:txBody>
      </p:sp>
    </p:spTree>
    <p:extLst>
      <p:ext uri="{BB962C8B-B14F-4D97-AF65-F5344CB8AC3E}">
        <p14:creationId xmlns:p14="http://schemas.microsoft.com/office/powerpoint/2010/main" val="152175179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gentic assistance and semantic retrieval">
            <a:extLst xmlns:a="http://schemas.openxmlformats.org/drawingml/2006/main">
              <a:ext uri="{FF2B5EF4-FFF2-40B4-BE49-F238E27FC236}">
                <a16:creationId xmlns:a16="http://schemas.microsoft.com/office/drawing/2014/main" id="{9DC11450-9A14-4264-B7B1-3A9C483A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Agentic assistance and semantic retrieval</a:t>
            </a:r>
          </a:p>
        </p:txBody>
      </p:sp>
      <p:sp>
        <p:nvSpPr>
          <p:cNvPr id="2" name="The Knowledge Companion retrieves bounded graph evidence. Tool workflo">
            <a:extLst xmlns:a="http://schemas.openxmlformats.org/drawingml/2006/main">
              <a:ext uri="{FF2B5EF4-FFF2-40B4-BE49-F238E27FC236}">
                <a16:creationId xmlns:a16="http://schemas.microsoft.com/office/drawing/2014/main" id="{18154540-9F9E-4BE6-A0F5-04A8FC1A1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The Knowledge Companion retrieves bounded graph evidence. Tool workflows use explicit authorization.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0D1649BE-7A18-4642-9E1D-DD052A98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2">
            <a:extLst xmlns:a="http://schemas.openxmlformats.org/drawingml/2006/main">
              <a:ext uri="{FF2B5EF4-FFF2-40B4-BE49-F238E27FC236}">
                <a16:creationId xmlns:a16="http://schemas.microsoft.com/office/drawing/2014/main" id="{E5038428-4206-4147-8CC1-78EE4842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User request">
            <a:extLst xmlns:a="http://schemas.openxmlformats.org/drawingml/2006/main">
              <a:ext uri="{FF2B5EF4-FFF2-40B4-BE49-F238E27FC236}">
                <a16:creationId xmlns:a16="http://schemas.microsoft.com/office/drawing/2014/main" id="{C0F751DB-E5F1-42B7-81AB-29784AC8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250507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User request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Read API key authorizes retrieval</a:t>
            </a:r>
          </a:p>
        </p:txBody>
      </p:sp>
      <p:sp>
        <p:nvSpPr>
          <p:cNvPr id="6" name="Agentic service">
            <a:extLst xmlns:a="http://schemas.openxmlformats.org/drawingml/2006/main">
              <a:ext uri="{FF2B5EF4-FFF2-40B4-BE49-F238E27FC236}">
                <a16:creationId xmlns:a16="http://schemas.microsoft.com/office/drawing/2014/main" id="{B04D0B9D-4AD1-4133-B5EC-68A3E04FF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095500"/>
            <a:ext cx="250507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Agentic service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Selects allowed tools or searches graph evidence</a:t>
            </a:r>
          </a:p>
        </p:txBody>
      </p:sp>
      <p:sp>
        <p:nvSpPr>
          <p:cNvPr id="7" name="Serving APIs">
            <a:extLst xmlns:a="http://schemas.openxmlformats.org/drawingml/2006/main">
              <a:ext uri="{FF2B5EF4-FFF2-40B4-BE49-F238E27FC236}">
                <a16:creationId xmlns:a16="http://schemas.microsoft.com/office/drawing/2014/main" id="{3584377F-5093-4928-BEEC-F489DCBB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50507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Serving APIs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Graph search, traversal and read projections</a:t>
            </a:r>
          </a:p>
        </p:txBody>
      </p:sp>
      <p:sp>
        <p:nvSpPr>
          <p:cNvPr id="8" name="Response">
            <a:extLst xmlns:a="http://schemas.openxmlformats.org/drawingml/2006/main">
              <a:ext uri="{FF2B5EF4-FFF2-40B4-BE49-F238E27FC236}">
                <a16:creationId xmlns:a16="http://schemas.microsoft.com/office/drawing/2014/main" id="{64A4970A-109D-4BEC-8675-0F249155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095500"/>
            <a:ext cx="250507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Response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Evidence references or an insufficient-evidence result</a:t>
            </a:r>
          </a:p>
        </p:txBody>
      </p:sp>
      <p:cxnSp>
        <p:nvCxnSpPr>
          <p:cNvPr id="25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76575" y="28813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24550" y="28813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772525" y="28813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2" name="Mutation requests">
            <a:extLst xmlns:a="http://schemas.openxmlformats.org/drawingml/2006/main">
              <a:ext uri="{FF2B5EF4-FFF2-40B4-BE49-F238E27FC236}">
                <a16:creationId xmlns:a16="http://schemas.microsoft.com/office/drawing/2014/main" id="{576868A0-DC7F-4BB5-A3FA-495C4F29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43375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Mutation requests</a:t>
            </a:r>
          </a:p>
        </p:txBody>
      </p:sp>
      <p:sp>
        <p:nvSpPr>
          <p:cNvPr id="13" name="Tool and Bridge actions require the relevant approval. Services own pu">
            <a:extLst xmlns:a="http://schemas.openxmlformats.org/drawingml/2006/main">
              <a:ext uri="{FF2B5EF4-FFF2-40B4-BE49-F238E27FC236}">
                <a16:creationId xmlns:a16="http://schemas.microsoft.com/office/drawing/2014/main" id="{A547C17E-480D-4865-B280-A0DCF4E5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00575"/>
            <a:ext cx="5191125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Tool and Bridge actions require the relevant approval. Services own publication.</a:t>
            </a:r>
          </a:p>
        </p:txBody>
      </p:sp>
      <p:sp>
        <p:nvSpPr>
          <p:cNvPr id="14" name="Optional integrations">
            <a:extLst xmlns:a="http://schemas.openxmlformats.org/drawingml/2006/main">
              <a:ext uri="{FF2B5EF4-FFF2-40B4-BE49-F238E27FC236}">
                <a16:creationId xmlns:a16="http://schemas.microsoft.com/office/drawing/2014/main" id="{1343E4B2-14C8-4416-8BDE-84CC220B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43375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Optional integrations</a:t>
            </a:r>
          </a:p>
        </p:txBody>
      </p:sp>
      <p:sp>
        <p:nvSpPr>
          <p:cNvPr id="15" name="Remote DT agent and OSLC remain disabled until configured. An external">
            <a:extLst xmlns:a="http://schemas.openxmlformats.org/drawingml/2006/main">
              <a:ext uri="{FF2B5EF4-FFF2-40B4-BE49-F238E27FC236}">
                <a16:creationId xmlns:a16="http://schemas.microsoft.com/office/drawing/2014/main" id="{EC9C6384-6159-43BA-9F68-6719742B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00575"/>
            <a:ext cx="5191125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Remote DT agent and OSLC remain disabled until configured. An external LLM is not required by the Companion path.</a:t>
            </a:r>
          </a:p>
        </p:txBody>
      </p:sp>
      <p:sp>
        <p:nvSpPr>
          <p:cNvPr id="16" name="Bounded SPARQL and approved federation APIs exist. They need configure">
            <a:extLst xmlns:a="http://schemas.openxmlformats.org/drawingml/2006/main">
              <a:ext uri="{FF2B5EF4-FFF2-40B4-BE49-F238E27FC236}">
                <a16:creationId xmlns:a16="http://schemas.microsoft.com/office/drawing/2014/main" id="{A7D0E07F-5C8D-4BB1-B2F8-75017CAC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959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Bounded SPARQL and approved federation APIs exist. They need configured data and authorized peers.</a:t>
            </a:r>
          </a:p>
        </p:txBody>
      </p:sp>
    </p:spTree>
    <p:extLst>
      <p:ext uri="{BB962C8B-B14F-4D97-AF65-F5344CB8AC3E}">
        <p14:creationId xmlns:p14="http://schemas.microsoft.com/office/powerpoint/2010/main" val="188952961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unctional workflows in the frontend">
            <a:extLst xmlns:a="http://schemas.openxmlformats.org/drawingml/2006/main">
              <a:ext uri="{FF2B5EF4-FFF2-40B4-BE49-F238E27FC236}">
                <a16:creationId xmlns:a16="http://schemas.microsoft.com/office/drawing/2014/main" id="{F67E0E5E-7AEF-4D87-96AA-37272E22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Functional workflows in the frontend</a:t>
            </a:r>
          </a:p>
        </p:txBody>
      </p:sp>
      <p:sp>
        <p:nvSpPr>
          <p:cNvPr id="2" name="The UI connects user decisions to service-owned evidence and authoriza">
            <a:extLst xmlns:a="http://schemas.openxmlformats.org/drawingml/2006/main">
              <a:ext uri="{FF2B5EF4-FFF2-40B4-BE49-F238E27FC236}">
                <a16:creationId xmlns:a16="http://schemas.microsoft.com/office/drawing/2014/main" id="{C0C9FBA3-0A6B-4ADD-A416-560684B2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The UI connects user decisions to service-owned evidence and authorization.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8EC5D292-69E7-48AE-8989-319D5E21C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3">
            <a:extLst xmlns:a="http://schemas.openxmlformats.org/drawingml/2006/main">
              <a:ext uri="{FF2B5EF4-FFF2-40B4-BE49-F238E27FC236}">
                <a16:creationId xmlns:a16="http://schemas.microsoft.com/office/drawing/2014/main" id="{67C0EF7C-D755-491E-98FB-10C149FC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71500" y="1952625"/>
          <a:ext xmlns:a="http://schemas.openxmlformats.org/drawingml/2006/main" cx="11049000" cy="36099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4524375"/>
                <a:gridCol w="3857625"/>
              </a:tblGrid>
              <a:tr h="72199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User task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UI interaction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Visible result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</a:tr>
              <a:tr h="72199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Map an imported instance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Create/load Bridge preview, select mappings, approve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Candidate evidence and publication status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199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Operate data jobs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Inspect definitions/runs, quality and replay controls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Run telemetry, lineage and checkpoint state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72199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Explore published meaning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Search and inspect graph neighborhoods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Bounded resources and relationships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199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Ask about graph evidence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Enter a read API key and submit a question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Evidence-backed response or no-evidence result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  <p:sp>
        <p:nvSpPr>
          <p:cNvPr id="6" name="Read credentials and approval credentials serve different operations. ">
            <a:extLst xmlns:a="http://schemas.openxmlformats.org/drawingml/2006/main">
              <a:ext uri="{FF2B5EF4-FFF2-40B4-BE49-F238E27FC236}">
                <a16:creationId xmlns:a16="http://schemas.microsoft.com/office/drawing/2014/main" id="{75CB38D3-4B84-461D-9360-F8441D75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977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Read credentials and approval credentials serve different operations. Server secrets never belong in the browser build.</a:t>
            </a:r>
          </a:p>
        </p:txBody>
      </p:sp>
    </p:spTree>
    <p:extLst>
      <p:ext uri="{BB962C8B-B14F-4D97-AF65-F5344CB8AC3E}">
        <p14:creationId xmlns:p14="http://schemas.microsoft.com/office/powerpoint/2010/main" val="101792055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ustomer deployment topology">
            <a:extLst xmlns:a="http://schemas.openxmlformats.org/drawingml/2006/main">
              <a:ext uri="{FF2B5EF4-FFF2-40B4-BE49-F238E27FC236}">
                <a16:creationId xmlns:a16="http://schemas.microsoft.com/office/drawing/2014/main" id="{1D83DC62-DD56-40C3-A0B8-D24A29C52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Customer deployment topology</a:t>
            </a:r>
          </a:p>
        </p:txBody>
      </p:sp>
      <p:sp>
        <p:nvSpPr>
          <p:cNvPr id="2" name="The same application supports local or customer-managed databases.">
            <a:extLst xmlns:a="http://schemas.openxmlformats.org/drawingml/2006/main">
              <a:ext uri="{FF2B5EF4-FFF2-40B4-BE49-F238E27FC236}">
                <a16:creationId xmlns:a16="http://schemas.microsoft.com/office/drawing/2014/main" id="{AE2F652B-A4F8-4F87-A544-C11D0888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The same application supports local or customer-managed databases.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B35B9815-220E-4C78-B142-AB73E5D8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4">
            <a:extLst xmlns:a="http://schemas.openxmlformats.org/drawingml/2006/main">
              <a:ext uri="{FF2B5EF4-FFF2-40B4-BE49-F238E27FC236}">
                <a16:creationId xmlns:a16="http://schemas.microsoft.com/office/drawing/2014/main" id="{C1EB3482-8724-4D0F-837C-09AC1167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Browser">
            <a:extLst xmlns:a="http://schemas.openxmlformats.org/drawingml/2006/main">
              <a:ext uri="{FF2B5EF4-FFF2-40B4-BE49-F238E27FC236}">
                <a16:creationId xmlns:a16="http://schemas.microsoft.com/office/drawing/2014/main" id="{77800B0E-902C-453B-8FE4-5366468C9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47875"/>
            <a:ext cx="30480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Browser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Public frontend bundle over HTTPS</a:t>
            </a:r>
          </a:p>
        </p:txBody>
      </p:sp>
      <p:sp>
        <p:nvSpPr>
          <p:cNvPr id="6" name="Web server / proxy">
            <a:extLst xmlns:a="http://schemas.openxmlformats.org/drawingml/2006/main">
              <a:ext uri="{FF2B5EF4-FFF2-40B4-BE49-F238E27FC236}">
                <a16:creationId xmlns:a16="http://schemas.microsoft.com/office/drawing/2014/main" id="{3B778BB5-CEAC-4BF7-98B0-B42388BC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47875"/>
            <a:ext cx="3238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Web server / proxy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Serves frontend/dist and routes API requests</a:t>
            </a:r>
          </a:p>
        </p:txBody>
      </p:sp>
      <p:sp>
        <p:nvSpPr>
          <p:cNvPr id="7" name="DEPO services">
            <a:extLst xmlns:a="http://schemas.openxmlformats.org/drawingml/2006/main">
              <a:ext uri="{FF2B5EF4-FFF2-40B4-BE49-F238E27FC236}">
                <a16:creationId xmlns:a16="http://schemas.microsoft.com/office/drawing/2014/main" id="{B0FF4DED-4806-491B-A1C4-D56C8171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47875"/>
            <a:ext cx="30480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DEPO services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Ten APIs and one outbox worker</a:t>
            </a:r>
          </a:p>
        </p:txBody>
      </p:sp>
      <p:cxnSp>
        <p:nvCxnSpPr>
          <p:cNvPr id="23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619500" y="2690813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4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715250" y="2690813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0" name="PostgreSQL">
            <a:extLst xmlns:a="http://schemas.openxmlformats.org/drawingml/2006/main">
              <a:ext uri="{FF2B5EF4-FFF2-40B4-BE49-F238E27FC236}">
                <a16:creationId xmlns:a16="http://schemas.microsoft.com/office/drawing/2014/main" id="{AD010A30-0330-4952-A824-09FCB470A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339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sp>
        <p:nvSpPr>
          <p:cNvPr id="11" name="Local service, portable instance or managed database. Application sche">
            <a:extLst xmlns:a="http://schemas.openxmlformats.org/drawingml/2006/main">
              <a:ext uri="{FF2B5EF4-FFF2-40B4-BE49-F238E27FC236}">
                <a16:creationId xmlns:a16="http://schemas.microsoft.com/office/drawing/2014/main" id="{A9FB39B6-6E1D-4AE6-9784-9C08CB01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334962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Local service, portable instance or managed database. Application schema needs migration privileges.</a:t>
            </a:r>
          </a:p>
        </p:txBody>
      </p:sp>
      <p:sp>
        <p:nvSpPr>
          <p:cNvPr id="12" name="Neo4j">
            <a:extLst xmlns:a="http://schemas.openxmlformats.org/drawingml/2006/main">
              <a:ext uri="{FF2B5EF4-FFF2-40B4-BE49-F238E27FC236}">
                <a16:creationId xmlns:a16="http://schemas.microsoft.com/office/drawing/2014/main" id="{06DA2952-7825-4BD3-8556-2DCA36EE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095750"/>
            <a:ext cx="339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Neo4j</a:t>
            </a:r>
          </a:p>
        </p:txBody>
      </p:sp>
      <p:sp>
        <p:nvSpPr>
          <p:cNvPr id="13" name="On-premises, hosted server or Aura. Production uses verified TLS with ">
            <a:extLst xmlns:a="http://schemas.openxmlformats.org/drawingml/2006/main">
              <a:ext uri="{FF2B5EF4-FFF2-40B4-BE49-F238E27FC236}">
                <a16:creationId xmlns:a16="http://schemas.microsoft.com/office/drawing/2014/main" id="{78F49BD0-1617-455F-A1FA-D1CC4DCC3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552950"/>
            <a:ext cx="334962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On-premises, hosted server or Aura. Production uses verified TLS with neo4j+s or bolt+s.</a:t>
            </a:r>
          </a:p>
        </p:txBody>
      </p:sp>
      <p:sp>
        <p:nvSpPr>
          <p:cNvPr id="14" name="Spark / PySpark">
            <a:extLst xmlns:a="http://schemas.openxmlformats.org/drawingml/2006/main">
              <a:ext uri="{FF2B5EF4-FFF2-40B4-BE49-F238E27FC236}">
                <a16:creationId xmlns:a16="http://schemas.microsoft.com/office/drawing/2014/main" id="{CB0FCEC9-40D4-481B-83D3-4886F665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4095750"/>
            <a:ext cx="339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Spark / PySpark</a:t>
            </a:r>
          </a:p>
        </p:txBody>
      </p:sp>
      <p:sp>
        <p:nvSpPr>
          <p:cNvPr id="15" name="Optional compute beside the pipeline service. Spark 4.1.2, Scala 2.13 ">
            <a:extLst xmlns:a="http://schemas.openxmlformats.org/drawingml/2006/main">
              <a:ext uri="{FF2B5EF4-FFF2-40B4-BE49-F238E27FC236}">
                <a16:creationId xmlns:a16="http://schemas.microsoft.com/office/drawing/2014/main" id="{BA3236FE-129E-4229-8A7D-E66514E42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4552950"/>
            <a:ext cx="334962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Optional compute beside the pipeline service. Spark 4.1.2, Scala 2.13 and JDK 21 baseline.</a:t>
            </a:r>
          </a:p>
        </p:txBody>
      </p:sp>
    </p:spTree>
    <p:extLst>
      <p:ext uri="{BB962C8B-B14F-4D97-AF65-F5344CB8AC3E}">
        <p14:creationId xmlns:p14="http://schemas.microsoft.com/office/powerpoint/2010/main" val="74085651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One application installation sequence">
            <a:extLst xmlns:a="http://schemas.openxmlformats.org/drawingml/2006/main">
              <a:ext uri="{FF2B5EF4-FFF2-40B4-BE49-F238E27FC236}">
                <a16:creationId xmlns:a16="http://schemas.microsoft.com/office/drawing/2014/main" id="{CAC88DBD-9F8B-4B6A-BF5B-E4AA58C27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One application installation sequence</a:t>
            </a:r>
          </a:p>
        </p:txBody>
      </p:sp>
      <p:sp>
        <p:nvSpPr>
          <p:cNvPr id="2" name="A single installer owns frontend dependencies and the backend Python e">
            <a:extLst xmlns:a="http://schemas.openxmlformats.org/drawingml/2006/main">
              <a:ext uri="{FF2B5EF4-FFF2-40B4-BE49-F238E27FC236}">
                <a16:creationId xmlns:a16="http://schemas.microsoft.com/office/drawing/2014/main" id="{5F63816E-1530-49CA-9538-7A707A3E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A single installer owns frontend dependencies and the backend Python environment.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9DA1D93C-C4F1-4816-870F-AFAD7475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5">
            <a:extLst xmlns:a="http://schemas.openxmlformats.org/drawingml/2006/main">
              <a:ext uri="{FF2B5EF4-FFF2-40B4-BE49-F238E27FC236}">
                <a16:creationId xmlns:a16="http://schemas.microsoft.com/office/drawing/2014/main" id="{FABEDF8E-DC81-43A1-8533-80697012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5" name="1  Provision">
            <a:extLst xmlns:a="http://schemas.openxmlformats.org/drawingml/2006/main">
              <a:ext uri="{FF2B5EF4-FFF2-40B4-BE49-F238E27FC236}">
                <a16:creationId xmlns:a16="http://schemas.microsoft.com/office/drawing/2014/main" id="{CB9F33ED-B3F0-4927-BFC4-4E1987C0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2505075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1  Provision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PostgreSQL and Neo4j. Add Spark only when required.</a:t>
            </a:r>
          </a:p>
        </p:txBody>
      </p:sp>
      <p:sp>
        <p:nvSpPr>
          <p:cNvPr id="6" name="2  Configure">
            <a:extLst xmlns:a="http://schemas.openxmlformats.org/drawingml/2006/main">
              <a:ext uri="{FF2B5EF4-FFF2-40B4-BE49-F238E27FC236}">
                <a16:creationId xmlns:a16="http://schemas.microsoft.com/office/drawing/2014/main" id="{C096EA1A-6BF1-4CA6-B139-DAEF2D1F4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095500"/>
            <a:ext cx="2505075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2  Configure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Root server env and separate public browser env.</a:t>
            </a:r>
          </a:p>
        </p:txBody>
      </p:sp>
      <p:sp>
        <p:nvSpPr>
          <p:cNvPr id="7" name="3  Install">
            <a:extLst xmlns:a="http://schemas.openxmlformats.org/drawingml/2006/main">
              <a:ext uri="{FF2B5EF4-FFF2-40B4-BE49-F238E27FC236}">
                <a16:creationId xmlns:a16="http://schemas.microsoft.com/office/drawing/2014/main" id="{876DCC1E-28AA-4823-9701-2A2CA331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505075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3  Install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Python dependencies, npm ci and frontend build.</a:t>
            </a:r>
          </a:p>
        </p:txBody>
      </p:sp>
      <p:sp>
        <p:nvSpPr>
          <p:cNvPr id="8" name="4  Initialize">
            <a:extLst xmlns:a="http://schemas.openxmlformats.org/drawingml/2006/main">
              <a:ext uri="{FF2B5EF4-FFF2-40B4-BE49-F238E27FC236}">
                <a16:creationId xmlns:a16="http://schemas.microsoft.com/office/drawing/2014/main" id="{8DEF63C6-3D04-451D-B6F2-44540282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095500"/>
            <a:ext cx="2505075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4  Initialize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Apply migrations and check tables and columns.</a:t>
            </a:r>
          </a:p>
        </p:txBody>
      </p: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76575" y="29432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24550" y="29432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772525" y="29432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2" name="Runtime baseline">
            <a:extLst xmlns:a="http://schemas.openxmlformats.org/drawingml/2006/main">
              <a:ext uri="{FF2B5EF4-FFF2-40B4-BE49-F238E27FC236}">
                <a16:creationId xmlns:a16="http://schemas.microsoft.com/office/drawing/2014/main" id="{66108A26-1E91-40CB-A80E-43221B62A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38625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Runtime baseline</a:t>
            </a:r>
          </a:p>
        </p:txBody>
      </p:sp>
      <p:sp>
        <p:nvSpPr>
          <p:cNvPr id="13" name="Python 3.11+, Node.js 24+ and npm 10.2+. PySpark comes from the approv">
            <a:extLst xmlns:a="http://schemas.openxmlformats.org/drawingml/2006/main">
              <a:ext uri="{FF2B5EF4-FFF2-40B4-BE49-F238E27FC236}">
                <a16:creationId xmlns:a16="http://schemas.microsoft.com/office/drawing/2014/main" id="{E3EBF056-C3A5-41F3-BB3E-6F7AC4D33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95825"/>
            <a:ext cx="519112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Python 3.11+, Node.js 24+ and npm 10.2+. PySpark comes from the approved Spark distribution.</a:t>
            </a:r>
          </a:p>
        </p:txBody>
      </p:sp>
      <p:sp>
        <p:nvSpPr>
          <p:cNvPr id="14" name="Start and accept">
            <a:extLst xmlns:a="http://schemas.openxmlformats.org/drawingml/2006/main">
              <a:ext uri="{FF2B5EF4-FFF2-40B4-BE49-F238E27FC236}">
                <a16:creationId xmlns:a16="http://schemas.microsoft.com/office/drawing/2014/main" id="{8891CC4B-73C6-4DA8-8F97-63C13FDB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38625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Start and accept</a:t>
            </a:r>
          </a:p>
        </p:txBody>
      </p:sp>
      <p:sp>
        <p:nvSpPr>
          <p:cNvPr id="15" name="Start services, serve frontend/dist, run Production preflight and veri">
            <a:extLst xmlns:a="http://schemas.openxmlformats.org/drawingml/2006/main">
              <a:ext uri="{FF2B5EF4-FFF2-40B4-BE49-F238E27FC236}">
                <a16:creationId xmlns:a16="http://schemas.microsoft.com/office/drawing/2014/main" id="{0F45C4AA-CE5B-449A-BE82-E6F26576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95825"/>
            <a:ext cx="519112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Start services, serve frontend/dist, run Production preflight and verify the customer browser workflow.</a:t>
            </a:r>
          </a:p>
        </p:txBody>
      </p:sp>
    </p:spTree>
    <p:extLst>
      <p:ext uri="{BB962C8B-B14F-4D97-AF65-F5344CB8AC3E}">
        <p14:creationId xmlns:p14="http://schemas.microsoft.com/office/powerpoint/2010/main" val="196803245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PostgreSQL ownership and schema checks">
            <a:extLst xmlns:a="http://schemas.openxmlformats.org/drawingml/2006/main">
              <a:ext uri="{FF2B5EF4-FFF2-40B4-BE49-F238E27FC236}">
                <a16:creationId xmlns:a16="http://schemas.microsoft.com/office/drawing/2014/main" id="{E25A943B-0B1F-4980-BC6C-77A7FE671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PostgreSQL ownership and schema checks</a:t>
            </a:r>
          </a:p>
        </p:txBody>
      </p:sp>
      <p:sp>
        <p:nvSpPr>
          <p:cNvPr id="2" name="Eight tables and one view contain forty required columns. JSON documen">
            <a:extLst xmlns:a="http://schemas.openxmlformats.org/drawingml/2006/main">
              <a:ext uri="{FF2B5EF4-FFF2-40B4-BE49-F238E27FC236}">
                <a16:creationId xmlns:a16="http://schemas.microsoft.com/office/drawing/2014/main" id="{F57DFB51-A585-47AE-AAEE-CC9AB203C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Eight tables and one view contain forty required columns. JSON documents share registry namespaces.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C990E7CB-07E9-41B8-A52C-01B73D41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6">
            <a:extLst xmlns:a="http://schemas.openxmlformats.org/drawingml/2006/main">
              <a:ext uri="{FF2B5EF4-FFF2-40B4-BE49-F238E27FC236}">
                <a16:creationId xmlns:a16="http://schemas.microsoft.com/office/drawing/2014/main" id="{D25AFE9F-47B0-4A9C-A12F-F3E2B1CB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71500" y="1847850"/>
          <a:ext xmlns:a="http://schemas.openxmlformats.org/drawingml/2006/main" cx="11049000" cy="38957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19375"/>
                <a:gridCol w="3952875"/>
                <a:gridCol w="4476750"/>
              </a:tblGrid>
              <a:tr h="779145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Data responsibility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Relations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Functional purpose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</a:tr>
              <a:tr h="77914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Migration and registry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depo_schema_migrations</a:t>
                      </a:r>
                    </a:p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depo_registry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Record release versions and control-plane documents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914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Runtime and chat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depo_runtime_state</a:t>
                      </a:r>
                    </a:p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depo_chat_messages</a:t>
                      </a:r>
                    </a:p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depo_rate_limits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Keep workflow state, conversation history and rate records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77914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Governance history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depo_metadata_assets</a:t>
                      </a:r>
                    </a:p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depo_metadata_events</a:t>
                      </a:r>
                    </a:p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depo_metadata_outbox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Record semantic assets, revisions and pending events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914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Analytics projection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depo_ontology_analytics (view)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Expose selected ontology statistics from registry JSON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  <p:sp>
        <p:nvSpPr>
          <p:cNvPr id="6" name="InitializeDatabase applies migrations. CheckOnly verifies columns/type">
            <a:extLst xmlns:a="http://schemas.openxmlformats.org/drawingml/2006/main">
              <a:ext uri="{FF2B5EF4-FFF2-40B4-BE49-F238E27FC236}">
                <a16:creationId xmlns:a16="http://schemas.microsoft.com/office/drawing/2014/main" id="{827F7748-3495-423C-84CB-64A97966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95975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InitializeDatabase applies migrations. CheckOnly verifies columns/types and migration history without DDL. Constraints and privileges require DBA acceptance.</a:t>
            </a:r>
          </a:p>
        </p:txBody>
      </p:sp>
    </p:spTree>
    <p:extLst>
      <p:ext uri="{BB962C8B-B14F-4D97-AF65-F5344CB8AC3E}">
        <p14:creationId xmlns:p14="http://schemas.microsoft.com/office/powerpoint/2010/main" val="73473095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PI-key authentication and trust boundaries">
            <a:extLst xmlns:a="http://schemas.openxmlformats.org/drawingml/2006/main">
              <a:ext uri="{FF2B5EF4-FFF2-40B4-BE49-F238E27FC236}">
                <a16:creationId xmlns:a16="http://schemas.microsoft.com/office/drawing/2014/main" id="{C77F8E61-38B4-4E81-A691-419134B6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API-key authentication and trust boundaries</a:t>
            </a:r>
          </a:p>
        </p:txBody>
      </p:sp>
      <p:sp>
        <p:nvSpPr>
          <p:cNvPr id="2" name="This delivery uses AUTH_MODE=token. Entra and GitHub Actions are not i">
            <a:extLst xmlns:a="http://schemas.openxmlformats.org/drawingml/2006/main">
              <a:ext uri="{FF2B5EF4-FFF2-40B4-BE49-F238E27FC236}">
                <a16:creationId xmlns:a16="http://schemas.microsoft.com/office/drawing/2014/main" id="{BCEE32D5-F832-42EE-A77F-A3A6F71C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This delivery uses AUTH_MODE=token. Entra and GitHub Actions are not installation requirements.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67E13E90-A82A-4F89-952E-893E8FD5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7">
            <a:extLst xmlns:a="http://schemas.openxmlformats.org/drawingml/2006/main">
              <a:ext uri="{FF2B5EF4-FFF2-40B4-BE49-F238E27FC236}">
                <a16:creationId xmlns:a16="http://schemas.microsoft.com/office/drawing/2014/main" id="{E146A254-780C-4C3E-B72F-CCE636676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5" name="User access">
            <a:extLst xmlns:a="http://schemas.openxmlformats.org/drawingml/2006/main">
              <a:ext uri="{FF2B5EF4-FFF2-40B4-BE49-F238E27FC236}">
                <a16:creationId xmlns:a16="http://schemas.microsoft.com/office/drawing/2014/main" id="{858BF5AE-6FE7-45AE-AA16-CDD87C2B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34544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User access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Read key for protected evidence and graph queries</a:t>
            </a:r>
          </a:p>
        </p:txBody>
      </p:sp>
      <p:sp>
        <p:nvSpPr>
          <p:cNvPr id="6" name="Approval">
            <a:extLst xmlns:a="http://schemas.openxmlformats.org/drawingml/2006/main">
              <a:ext uri="{FF2B5EF4-FFF2-40B4-BE49-F238E27FC236}">
                <a16:creationId xmlns:a16="http://schemas.microsoft.com/office/drawing/2014/main" id="{56DFC814-037C-4A30-840A-FEEBDE472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095500"/>
            <a:ext cx="34544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Approval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Operation key plus approver identity</a:t>
            </a:r>
          </a:p>
        </p:txBody>
      </p:sp>
      <p:sp>
        <p:nvSpPr>
          <p:cNvPr id="7" name="Service call">
            <a:extLst xmlns:a="http://schemas.openxmlformats.org/drawingml/2006/main">
              <a:ext uri="{FF2B5EF4-FFF2-40B4-BE49-F238E27FC236}">
                <a16:creationId xmlns:a16="http://schemas.microsoft.com/office/drawing/2014/main" id="{E98A3ACE-8670-4B0E-9316-FCC9CA25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2095500"/>
            <a:ext cx="34544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Service call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Private publication credential stays on the server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025900" y="28813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2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823200" y="28813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0" name="Configuration">
            <a:extLst xmlns:a="http://schemas.openxmlformats.org/drawingml/2006/main">
              <a:ext uri="{FF2B5EF4-FFF2-40B4-BE49-F238E27FC236}">
                <a16:creationId xmlns:a16="http://schemas.microsoft.com/office/drawing/2014/main" id="{D439B759-10AB-4575-9E15-EA91BD2C7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Configuration</a:t>
            </a:r>
          </a:p>
        </p:txBody>
      </p:sp>
      <p:sp>
        <p:nvSpPr>
          <p:cNvPr id="11" name="One root server env. No duplicate keys. VITE settings contain only pub">
            <a:extLst xmlns:a="http://schemas.openxmlformats.org/drawingml/2006/main">
              <a:ext uri="{FF2B5EF4-FFF2-40B4-BE49-F238E27FC236}">
                <a16:creationId xmlns:a16="http://schemas.microsoft.com/office/drawing/2014/main" id="{0D72EFCA-5C9C-43F9-AAD6-54E0BCBB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191125" cy="159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One root server env. No duplicate keys. VITE settings contain only public browser configuration.</a:t>
            </a:r>
          </a:p>
        </p:txBody>
      </p:sp>
      <p:sp>
        <p:nvSpPr>
          <p:cNvPr id="12" name="Customer controls">
            <a:extLst xmlns:a="http://schemas.openxmlformats.org/drawingml/2006/main">
              <a:ext uri="{FF2B5EF4-FFF2-40B4-BE49-F238E27FC236}">
                <a16:creationId xmlns:a16="http://schemas.microsoft.com/office/drawing/2014/main" id="{0D91C443-C6C2-4BF1-A389-033CBD0E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910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Customer controls</a:t>
            </a:r>
          </a:p>
        </p:txBody>
      </p:sp>
      <p:sp>
        <p:nvSpPr>
          <p:cNvPr id="13" name="HTTPS ingress, distinct strong keys, protected secret storage, rotatio">
            <a:extLst xmlns:a="http://schemas.openxmlformats.org/drawingml/2006/main">
              <a:ext uri="{FF2B5EF4-FFF2-40B4-BE49-F238E27FC236}">
                <a16:creationId xmlns:a16="http://schemas.microsoft.com/office/drawing/2014/main" id="{795DC9C6-0E14-4DCA-8630-EC03B2DB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48200"/>
            <a:ext cx="5191125" cy="159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HTTPS ingress, distinct strong keys, protected secret storage, rotation and database network restrictions.</a:t>
            </a:r>
          </a:p>
        </p:txBody>
      </p:sp>
    </p:spTree>
    <p:extLst>
      <p:ext uri="{BB962C8B-B14F-4D97-AF65-F5344CB8AC3E}">
        <p14:creationId xmlns:p14="http://schemas.microsoft.com/office/powerpoint/2010/main" val="98330819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ustomer release acceptance">
            <a:extLst xmlns:a="http://schemas.openxmlformats.org/drawingml/2006/main">
              <a:ext uri="{FF2B5EF4-FFF2-40B4-BE49-F238E27FC236}">
                <a16:creationId xmlns:a16="http://schemas.microsoft.com/office/drawing/2014/main" id="{99601719-9827-4597-85C3-38410F6E3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Customer release acceptance</a:t>
            </a:r>
          </a:p>
        </p:txBody>
      </p:sp>
      <p:sp>
        <p:nvSpPr>
          <p:cNvPr id="2" name="Repository checks support deployment. Target-environment evidence dete">
            <a:extLst xmlns:a="http://schemas.openxmlformats.org/drawingml/2006/main">
              <a:ext uri="{FF2B5EF4-FFF2-40B4-BE49-F238E27FC236}">
                <a16:creationId xmlns:a16="http://schemas.microsoft.com/office/drawing/2014/main" id="{D44580FA-0EAF-44C3-9801-F90C65D9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Repository checks support deployment. Target-environment evidence determines release readiness.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C9245B56-A639-4C53-B572-3A2985B74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8">
            <a:extLst xmlns:a="http://schemas.openxmlformats.org/drawingml/2006/main">
              <a:ext uri="{FF2B5EF4-FFF2-40B4-BE49-F238E27FC236}">
                <a16:creationId xmlns:a16="http://schemas.microsoft.com/office/drawing/2014/main" id="{7AC02261-C999-476B-9412-62010887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71500" y="1885950"/>
          <a:ext xmlns:a="http://schemas.openxmlformats.org/drawingml/2006/main" cx="11049000" cy="39147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8096250"/>
              </a:tblGrid>
              <a:tr h="65246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Acceptance area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Required evidence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</a:tr>
              <a:tr h="6524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Installation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Approved runtime inventory, dependency resolution and frontend build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24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 stores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Schema verification, Neo4j read/write permissions and backup restore drill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6524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Optional Spark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DataFrame smoke job and connector test when enabled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24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Application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Ten ready APIs, authorized browser workflow and rejected unauthorized actions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6524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Operations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Process supervision, restart/reboot recovery, monitoring and rollback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 release gates include a certified pinned Python lock and live cus">
            <a:extLst xmlns:a="http://schemas.openxmlformats.org/drawingml/2006/main">
              <a:ext uri="{FF2B5EF4-FFF2-40B4-BE49-F238E27FC236}">
                <a16:creationId xmlns:a16="http://schemas.microsoft.com/office/drawing/2014/main" id="{BB4A1D32-2BFA-4F03-BB26-781855B1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Open release gates include a certified pinned Python lock and live customer installation/recovery tests.</a:t>
            </a:r>
          </a:p>
        </p:txBody>
      </p:sp>
    </p:spTree>
    <p:extLst>
      <p:ext uri="{BB962C8B-B14F-4D97-AF65-F5344CB8AC3E}">
        <p14:creationId xmlns:p14="http://schemas.microsoft.com/office/powerpoint/2010/main" val="88076039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Implemented capabilities and bounded next work">
            <a:extLst xmlns:a="http://schemas.openxmlformats.org/drawingml/2006/main">
              <a:ext uri="{FF2B5EF4-FFF2-40B4-BE49-F238E27FC236}">
                <a16:creationId xmlns:a16="http://schemas.microsoft.com/office/drawing/2014/main" id="{1C721285-F41B-46AC-AF36-2D10CDAB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Implemented capabilities and bounded next work</a:t>
            </a:r>
          </a:p>
        </p:txBody>
      </p:sp>
      <p:sp>
        <p:nvSpPr>
          <p:cNvPr id="2" name="Feature availability and production operation require separate evidenc">
            <a:extLst xmlns:a="http://schemas.openxmlformats.org/drawingml/2006/main">
              <a:ext uri="{FF2B5EF4-FFF2-40B4-BE49-F238E27FC236}">
                <a16:creationId xmlns:a16="http://schemas.microsoft.com/office/drawing/2014/main" id="{1D3460B4-8E22-454B-90A8-8CAD8511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Feature availability and production operation require separate evidence.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93FEA57B-51EC-496D-927C-83891F21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9">
            <a:extLst xmlns:a="http://schemas.openxmlformats.org/drawingml/2006/main">
              <a:ext uri="{FF2B5EF4-FFF2-40B4-BE49-F238E27FC236}">
                <a16:creationId xmlns:a16="http://schemas.microsoft.com/office/drawing/2014/main" id="{AE83D3F8-F18B-4F81-B58B-43106A6F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5" name="Implemented">
            <a:extLst xmlns:a="http://schemas.openxmlformats.org/drawingml/2006/main">
              <a:ext uri="{FF2B5EF4-FFF2-40B4-BE49-F238E27FC236}">
                <a16:creationId xmlns:a16="http://schemas.microsoft.com/office/drawing/2014/main" id="{5DB07771-4AD7-4669-9689-5084B0B3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47875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Implemented</a:t>
            </a:r>
          </a:p>
        </p:txBody>
      </p:sp>
      <p:sp>
        <p:nvSpPr>
          <p:cNvPr id="6" name="Reviewed Bridge publication&#10;Governed job definitions and runs&#10;RDF prof">
            <a:extLst xmlns:a="http://schemas.openxmlformats.org/drawingml/2006/main">
              <a:ext uri="{FF2B5EF4-FFF2-40B4-BE49-F238E27FC236}">
                <a16:creationId xmlns:a16="http://schemas.microsoft.com/office/drawing/2014/main" id="{BA80E358-3467-402C-90B9-D55145DD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05075"/>
            <a:ext cx="51911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Reviewed Bridge publication</a:t>
            </a:r>
          </a:p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Governed job definitions and runs</a:t>
            </a:r>
          </a:p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RDF profiling and deduplication</a:t>
            </a:r>
          </a:p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Document graph proposals</a:t>
            </a:r>
          </a:p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Bounded graph/SPARQL reads</a:t>
            </a:r>
          </a:p>
        </p:txBody>
      </p:sp>
      <p:sp>
        <p:nvSpPr>
          <p:cNvPr id="7" name="Customer acceptance">
            <a:extLst xmlns:a="http://schemas.openxmlformats.org/drawingml/2006/main">
              <a:ext uri="{FF2B5EF4-FFF2-40B4-BE49-F238E27FC236}">
                <a16:creationId xmlns:a16="http://schemas.microsoft.com/office/drawing/2014/main" id="{E0736764-AB4E-4701-B8F0-1FF0EC6E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47875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Customer acceptance</a:t>
            </a:r>
          </a:p>
        </p:txBody>
      </p:sp>
      <p:sp>
        <p:nvSpPr>
          <p:cNvPr id="8" name="Source and mapping suitability&#10;API keys and TLS trust&#10;Spark capacity a">
            <a:extLst xmlns:a="http://schemas.openxmlformats.org/drawingml/2006/main">
              <a:ext uri="{FF2B5EF4-FFF2-40B4-BE49-F238E27FC236}">
                <a16:creationId xmlns:a16="http://schemas.microsoft.com/office/drawing/2014/main" id="{7F90B778-513D-4503-9D3F-852DA732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05075"/>
            <a:ext cx="51911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Source and mapping suitability</a:t>
            </a:r>
          </a:p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API keys and TLS trust</a:t>
            </a:r>
          </a:p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Spark capacity and recovery</a:t>
            </a:r>
          </a:p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Backup/restore and supervision</a:t>
            </a:r>
          </a:p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Named event-source adapters</a:t>
            </a:r>
          </a:p>
        </p:txBody>
      </p:sp>
      <p:sp>
        <p:nvSpPr>
          <p:cNvPr id="9" name="Further product work">
            <a:extLst xmlns:a="http://schemas.openxmlformats.org/drawingml/2006/main">
              <a:ext uri="{FF2B5EF4-FFF2-40B4-BE49-F238E27FC236}">
                <a16:creationId xmlns:a16="http://schemas.microsoft.com/office/drawing/2014/main" id="{01A5CC4D-FDA0-4314-81D8-55400C53B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Further product work</a:t>
            </a:r>
          </a:p>
        </p:txBody>
      </p:sp>
      <p:sp>
        <p:nvSpPr>
          <p:cNvPr id="10" name="Distributed reasoning and semantic ML need explicit output contracts. ">
            <a:extLst xmlns:a="http://schemas.openxmlformats.org/drawingml/2006/main">
              <a:ext uri="{FF2B5EF4-FFF2-40B4-BE49-F238E27FC236}">
                <a16:creationId xmlns:a16="http://schemas.microsoft.com/office/drawing/2014/main" id="{52000555-0B45-4862-81C3-66E2A04B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4827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Distributed reasoning and semantic ML need explicit output contracts. OCR and embeddings need model/corpus controls. Digital-twin commands need separately defined authority and feedback acceptance.</a:t>
            </a:r>
          </a:p>
        </p:txBody>
      </p:sp>
    </p:spTree>
    <p:extLst>
      <p:ext uri="{BB962C8B-B14F-4D97-AF65-F5344CB8AC3E}">
        <p14:creationId xmlns:p14="http://schemas.microsoft.com/office/powerpoint/2010/main" val="50437584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rvice inventory and installation references">
            <a:extLst xmlns:a="http://schemas.openxmlformats.org/drawingml/2006/main">
              <a:ext uri="{FF2B5EF4-FFF2-40B4-BE49-F238E27FC236}">
                <a16:creationId xmlns:a16="http://schemas.microsoft.com/office/drawing/2014/main" id="{E70B66CD-3C35-4C64-B442-B89DCE4A0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Service inventory and installation references</a:t>
            </a:r>
          </a:p>
        </p:txBody>
      </p:sp>
      <p:sp>
        <p:nvSpPr>
          <p:cNvPr id="2" name="Ports describe internal service defaults. The customer web server prov">
            <a:extLst xmlns:a="http://schemas.openxmlformats.org/drawingml/2006/main">
              <a:ext uri="{FF2B5EF4-FFF2-40B4-BE49-F238E27FC236}">
                <a16:creationId xmlns:a16="http://schemas.microsoft.com/office/drawing/2014/main" id="{A3F35FF2-F7C1-4247-A5D6-7797F907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Ports describe internal service defaults. The customer web server provides public HTTPS access.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57535EA2-5CEE-4045-90DB-D96933335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20">
            <a:extLst xmlns:a="http://schemas.openxmlformats.org/drawingml/2006/main">
              <a:ext uri="{FF2B5EF4-FFF2-40B4-BE49-F238E27FC236}">
                <a16:creationId xmlns:a16="http://schemas.microsoft.com/office/drawing/2014/main" id="{62A6D51A-4B6F-437B-946D-B1A9C969C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11049000" cy="38957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95625"/>
                <a:gridCol w="952500"/>
                <a:gridCol w="7000875"/>
              </a:tblGrid>
              <a:tr h="354157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Service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Port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Owned responsibility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Schema sets / QIF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Engineering schema processing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Ontology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8011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Semantic artifacts, modeling and registry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Agentic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Tools, workflows, Bridge and Companion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Graph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8013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Publication, projections and semantic queries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Ingestion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Source capture, parsing and profiles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OSLC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8015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Engineering resource interfaces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 catalog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Product discovery and artifact retention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 products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8017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Manifests, packaging and catalog outbox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CEIM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Canonical mapping, validation and publication requests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 pipeline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8019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 jobs, quality evidence and event reconciliation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  <p:sp>
        <p:nvSpPr>
          <p:cNvPr id="6" name="Installation: infra/deployment/README.md&#10;Database columns: infra/postg">
            <a:extLst xmlns:a="http://schemas.openxmlformats.org/drawingml/2006/main">
              <a:ext uri="{FF2B5EF4-FFF2-40B4-BE49-F238E27FC236}">
                <a16:creationId xmlns:a16="http://schemas.microsoft.com/office/drawing/2014/main" id="{14180248-7A64-4405-81C3-6AAEDAC94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769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Installation: infra/deployment/README.md</a:t>
            </a:r>
          </a:p>
          <a:p xmlns:a="http://schemas.openxmlformats.org/drawingml/2006/main">
            <a:pPr>
              <a:defRPr sz="135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Database columns: infra/postgres/SCHEMA.md   |   Neo4j: infra/neo4j/README.md   |   Spark: infra/spark/README.md</a:t>
            </a:r>
          </a:p>
        </p:txBody>
      </p:sp>
    </p:spTree>
    <p:extLst>
      <p:ext uri="{BB962C8B-B14F-4D97-AF65-F5344CB8AC3E}">
        <p14:creationId xmlns:p14="http://schemas.microsoft.com/office/powerpoint/2010/main" val="13394835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2026-09-22T09:04:28.7840000Z</dcterms:created>
  <dcterms:modified xsi:type="dcterms:W3CDTF">2026-09-22T09:04:28.7850000Z</dcterms:modified>
</coreProperties>
</file>