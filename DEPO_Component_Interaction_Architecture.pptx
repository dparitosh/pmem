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58ccef3b64d35" /><Relationship Type="http://schemas.openxmlformats.org/officeDocument/2006/relationships/extended-properties" Target="/docProps/app.xml" Id="R794528c3b0c64921" /><Relationship Type="http://schemas.openxmlformats.org/officeDocument/2006/relationships/officeDocument" Target="/ppt/presentation.xml" Id="R78657cddda914e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ba6ffef0ef44fa"/>
  </p:sldMasterIdLst>
  <p:notesMasterIdLst>
    <p:notesMasterId xmlns:r="http://schemas.openxmlformats.org/officeDocument/2006/relationships" r:id="Rda522356b70345c7"/>
  </p:notesMasterIdLst>
  <p:sldIdLst>
    <p:sldId xmlns:r="http://schemas.openxmlformats.org/officeDocument/2006/relationships" id="256" r:id="R378613fbc079420a"/>
    <p:sldId xmlns:r="http://schemas.openxmlformats.org/officeDocument/2006/relationships" id="257" r:id="R662875c0d1394725"/>
    <p:sldId xmlns:r="http://schemas.openxmlformats.org/officeDocument/2006/relationships" id="258" r:id="Rd82a1b14570d408d"/>
    <p:sldId xmlns:r="http://schemas.openxmlformats.org/officeDocument/2006/relationships" id="259" r:id="R396c711297684fa4"/>
    <p:sldId xmlns:r="http://schemas.openxmlformats.org/officeDocument/2006/relationships" id="260" r:id="R56e70d14399b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5fc973e444712" /><Relationship Type="http://schemas.openxmlformats.org/officeDocument/2006/relationships/slideMaster" Target="/ppt/slideMasters/slideMaster1.xml" Id="R13ba6ffef0ef44fa" /><Relationship Type="http://schemas.openxmlformats.org/officeDocument/2006/relationships/notesMaster" Target="/ppt/notesMasters/notesMaster1.xml" Id="Rda522356b70345c7" /><Relationship Type="http://schemas.openxmlformats.org/officeDocument/2006/relationships/presProps" Target="/ppt/presProps.xml" Id="R993b7de1f5234eec" /><Relationship Type="http://schemas.openxmlformats.org/officeDocument/2006/relationships/tableStyles" Target="/ppt/tableStyles.xml" Id="Rdd880d6b3e1f4d57" /><Relationship Type="http://schemas.openxmlformats.org/officeDocument/2006/relationships/slide" Target="/ppt/slides/slide1.xml" Id="R378613fbc079420a" /><Relationship Type="http://schemas.openxmlformats.org/officeDocument/2006/relationships/slide" Target="/ppt/slides/slide2.xml" Id="R662875c0d1394725" /><Relationship Type="http://schemas.openxmlformats.org/officeDocument/2006/relationships/slide" Target="/ppt/slides/slide3.xml" Id="Rd82a1b14570d408d" /><Relationship Type="http://schemas.openxmlformats.org/officeDocument/2006/relationships/slide" Target="/ppt/slides/slide4.xml" Id="R396c711297684fa4" /><Relationship Type="http://schemas.openxmlformats.org/officeDocument/2006/relationships/slide" Target="/ppt/slides/slide5.xml" Id="R56e70d14399b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ba0a14566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14bf3af6b94539" /><Relationship Type="http://schemas.openxmlformats.org/officeDocument/2006/relationships/notesMaster" Target="/ppt/notesMasters/notesMaster1.xml" Id="R50820f7d2efa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2be0e084644c4d" /><Relationship Type="http://schemas.openxmlformats.org/officeDocument/2006/relationships/notesMaster" Target="/ppt/notesMasters/notesMaster1.xml" Id="R3357ef27cafc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54e12408d482a" /><Relationship Type="http://schemas.openxmlformats.org/officeDocument/2006/relationships/notesMaster" Target="/ppt/notesMasters/notesMaster1.xml" Id="R9b331dde50f94f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00a3c8090457a" /><Relationship Type="http://schemas.openxmlformats.org/officeDocument/2006/relationships/notesMaster" Target="/ppt/notesMasters/notesMaster1.xml" Id="Re81a708e548d42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2836d7c7fd4f17" /><Relationship Type="http://schemas.openxmlformats.org/officeDocument/2006/relationships/notesMaster" Target="/ppt/notesMasters/notesMaster1.xml" Id="Rd2f12921f54a4d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1f2b3271049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0e0af7d4514c55" /><Relationship Type="http://schemas.openxmlformats.org/officeDocument/2006/relationships/slideLayout" Target="/ppt/slideLayouts/slideLayout1.xml" Id="R147179767b14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179767b14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666d4c7724bad" /><Relationship Type="http://schemas.openxmlformats.org/officeDocument/2006/relationships/notesSlide" Target="/ppt/notesSlides/notesSlide1.xml" Id="R38c987b68897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91116a4f4248" /><Relationship Type="http://schemas.openxmlformats.org/officeDocument/2006/relationships/notesSlide" Target="/ppt/notesSlides/notesSlide2.xml" Id="Re3f5119b4fc7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3867e0de447a6" /><Relationship Type="http://schemas.openxmlformats.org/officeDocument/2006/relationships/notesSlide" Target="/ppt/notesSlides/notesSlide3.xml" Id="R774bb54432824c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202ecab5e47dc" /><Relationship Type="http://schemas.openxmlformats.org/officeDocument/2006/relationships/notesSlide" Target="/ppt/notesSlides/notesSlide4.xml" Id="R1e5097b8773344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44e08e0ef4359" /><Relationship Type="http://schemas.openxmlformats.org/officeDocument/2006/relationships/notesSlide" Target="/ppt/notesSlides/notesSlide5.xml" Id="R11cf4ab97dd9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3DA61-DFF6-4CEE-9E0C-6AEA8E8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DEPO DIGITAL THREAD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50ED-EA70-49AF-8C24-4B4BEC3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Component interaction</a:t>
            </a:r>
          </a:p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8F08F-C803-49B8-964F-6A9DBD2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An implementation-grounded view of service boundaries, governed publication, and current delivery gaps.</a:t>
            </a:r>
          </a:p>
        </p:txBody>
      </p:sp>
      <p:sp>
        <p:nvSpPr>
          <p:cNvPr id="4" name="api-summary">
            <a:extLst xmlns:a="http://schemas.openxmlformats.org/drawingml/2006/main">
              <a:ext uri="{FF2B5EF4-FFF2-40B4-BE49-F238E27FC236}">
                <a16:creationId xmlns:a16="http://schemas.microsoft.com/office/drawing/2014/main" id="{23D15489-3900-4B4A-B9AD-2A8D5FB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api-summary-title">
            <a:extLst xmlns:a="http://schemas.openxmlformats.org/drawingml/2006/main">
              <a:ext uri="{FF2B5EF4-FFF2-40B4-BE49-F238E27FC236}">
                <a16:creationId xmlns:a16="http://schemas.microsoft.com/office/drawing/2014/main" id="{EAFCE698-82BE-4A30-B5F6-4E2E0C3D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10 independently deployed APIs</a:t>
            </a:r>
          </a:p>
        </p:txBody>
      </p:sp>
      <p:sp>
        <p:nvSpPr>
          <p:cNvPr id="6" name="api-summary-body">
            <a:extLst xmlns:a="http://schemas.openxmlformats.org/drawingml/2006/main">
              <a:ext uri="{FF2B5EF4-FFF2-40B4-BE49-F238E27FC236}">
                <a16:creationId xmlns:a16="http://schemas.microsoft.com/office/drawing/2014/main" id="{9CA6AC51-9321-4962-96F5-0563B29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OpenAPI 3.0.3 • request correlation • OData discovery</a:t>
            </a:r>
          </a:p>
        </p:txBody>
      </p:sp>
      <p:sp>
        <p:nvSpPr>
          <p:cNvPr id="7" name="publication-summary">
            <a:extLst xmlns:a="http://schemas.openxmlformats.org/drawingml/2006/main">
              <a:ext uri="{FF2B5EF4-FFF2-40B4-BE49-F238E27FC236}">
                <a16:creationId xmlns:a16="http://schemas.microsoft.com/office/drawing/2014/main" id="{51E8038F-B933-4518-9CEB-F5D7B27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ublication-summary-title">
            <a:extLst xmlns:a="http://schemas.openxmlformats.org/drawingml/2006/main">
              <a:ext uri="{FF2B5EF4-FFF2-40B4-BE49-F238E27FC236}">
                <a16:creationId xmlns:a16="http://schemas.microsoft.com/office/drawing/2014/main" id="{B44E6F83-CBD0-4392-9541-6EDFA34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One publication boundary</a:t>
            </a:r>
          </a:p>
        </p:txBody>
      </p:sp>
      <p:sp>
        <p:nvSpPr>
          <p:cNvPr id="9" name="publication-summary-body">
            <a:extLst xmlns:a="http://schemas.openxmlformats.org/drawingml/2006/main">
              <a:ext uri="{FF2B5EF4-FFF2-40B4-BE49-F238E27FC236}">
                <a16:creationId xmlns:a16="http://schemas.microsoft.com/office/drawing/2014/main" id="{D8ECD751-5B33-4388-845D-F7CCA38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CEIM approval is the route to graph writes</a:t>
            </a:r>
          </a:p>
        </p:txBody>
      </p:sp>
      <p:sp>
        <p:nvSpPr>
          <p:cNvPr id="10" name="store-summary">
            <a:extLst xmlns:a="http://schemas.openxmlformats.org/drawingml/2006/main">
              <a:ext uri="{FF2B5EF4-FFF2-40B4-BE49-F238E27FC236}">
                <a16:creationId xmlns:a16="http://schemas.microsoft.com/office/drawing/2014/main" id="{32EC3CCA-82BE-48BA-9EB9-14C3763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ore-summary-title">
            <a:extLst xmlns:a="http://schemas.openxmlformats.org/drawingml/2006/main">
              <a:ext uri="{FF2B5EF4-FFF2-40B4-BE49-F238E27FC236}">
                <a16:creationId xmlns:a16="http://schemas.microsoft.com/office/drawing/2014/main" id="{C79286F8-BEE3-476E-8FCA-A583C24D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2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Two data planes</a:t>
            </a:r>
          </a:p>
        </p:txBody>
      </p:sp>
      <p:sp>
        <p:nvSpPr>
          <p:cNvPr id="12" name="store-summary-body">
            <a:extLst xmlns:a="http://schemas.openxmlformats.org/drawingml/2006/main">
              <a:ext uri="{FF2B5EF4-FFF2-40B4-BE49-F238E27FC236}">
                <a16:creationId xmlns:a16="http://schemas.microsoft.com/office/drawing/2014/main" id="{A90D6377-2E23-4475-A3E9-7158A7FE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PostgreSQL control plane • Neo4j semantic graph</a:t>
            </a:r>
          </a:p>
        </p:txBody>
      </p:sp>
      <p:cxnSp>
        <p:nvCxnSpPr>
          <p:cNvPr id="3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191625" y="23431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191625" y="37147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320CC-71C2-45D0-BC99-5A1B60FD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F"/>
                </a:solidFill>
              </a:defRPr>
            </a:pPr>
            <a:r>
              <a:rPr sz="1350" b="1">
                <a:solidFill>
                  <a:srgbClr val="0D7A5F"/>
                </a:solidFill>
              </a:rPr>
              <a:t>Scope: implementation review, not a target-state promise.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E927A-6E65-4C07-BF1A-3F4C1B14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DEPO architecture review • actual code topology as of September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4984E-3D64-4FAD-B4D5-E72B3376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847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29538E-F65E-47C7-B676-BD258FDE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COMPONENT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F0056-24C8-43F8-B6AA-52C99EE5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The running topology separates ingestion, governance, serving, and stores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D273E-DDBC-4F51-B3B9-D27920F8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Solid arrows are implemented service interactions. Dashed arrows identify controlled, read-only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B5010-D0B1-494B-A2C7-E5DB389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pa">
            <a:extLst xmlns:a="http://schemas.openxmlformats.org/drawingml/2006/main">
              <a:ext uri="{FF2B5EF4-FFF2-40B4-BE49-F238E27FC236}">
                <a16:creationId xmlns:a16="http://schemas.microsoft.com/office/drawing/2014/main" id="{A0E07A6D-FBBE-488E-ACDB-0F4AD69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spa-title">
            <a:extLst xmlns:a="http://schemas.openxmlformats.org/drawingml/2006/main">
              <a:ext uri="{FF2B5EF4-FFF2-40B4-BE49-F238E27FC236}">
                <a16:creationId xmlns:a16="http://schemas.microsoft.com/office/drawing/2014/main" id="{94421FEE-7EAA-4B59-8E56-826980F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Siemens IX SPA</a:t>
            </a:r>
          </a:p>
        </p:txBody>
      </p:sp>
      <p:sp>
        <p:nvSpPr>
          <p:cNvPr id="7" name="spa-body">
            <a:extLst xmlns:a="http://schemas.openxmlformats.org/drawingml/2006/main">
              <a:ext uri="{FF2B5EF4-FFF2-40B4-BE49-F238E27FC236}">
                <a16:creationId xmlns:a16="http://schemas.microsoft.com/office/drawing/2014/main" id="{A323CF14-BDC0-48CF-ACEB-953FBD8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Browser client :3000</a:t>
            </a:r>
          </a:p>
        </p:txBody>
      </p:sp>
      <p:sp>
        <p:nvSpPr>
          <p:cNvPr id="8" name="sources">
            <a:extLst xmlns:a="http://schemas.openxmlformats.org/drawingml/2006/main">
              <a:ext uri="{FF2B5EF4-FFF2-40B4-BE49-F238E27FC236}">
                <a16:creationId xmlns:a16="http://schemas.microsoft.com/office/drawing/2014/main" id="{1C467B31-1FB4-4ABB-983B-56BE4FD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304C68A9-16C8-46D9-97C7-F617722A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Sources</a:t>
            </a:r>
          </a:p>
        </p:txBody>
      </p:sp>
      <p:sp>
        <p:nvSpPr>
          <p:cNvPr id="10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2CBCE08A-B195-485A-972A-807725C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PLMXML • STEP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ReqIF • QIF • OSLC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Documents • XSD</a:t>
            </a:r>
          </a:p>
        </p:txBody>
      </p:sp>
      <p:sp>
        <p:nvSpPr>
          <p:cNvPr id="11" name="qif">
            <a:extLst xmlns:a="http://schemas.openxmlformats.org/drawingml/2006/main">
              <a:ext uri="{FF2B5EF4-FFF2-40B4-BE49-F238E27FC236}">
                <a16:creationId xmlns:a16="http://schemas.microsoft.com/office/drawing/2014/main" id="{F63ECBA6-A793-4FB4-9A7E-7690D179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qif-title">
            <a:extLst xmlns:a="http://schemas.openxmlformats.org/drawingml/2006/main">
              <a:ext uri="{FF2B5EF4-FFF2-40B4-BE49-F238E27FC236}">
                <a16:creationId xmlns:a16="http://schemas.microsoft.com/office/drawing/2014/main" id="{E2F3FD9F-E32E-4AFE-8702-04EB5FA3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Schema / QIF</a:t>
            </a:r>
          </a:p>
        </p:txBody>
      </p:sp>
      <p:sp>
        <p:nvSpPr>
          <p:cNvPr id="13" name="qif-body">
            <a:extLst xmlns:a="http://schemas.openxmlformats.org/drawingml/2006/main">
              <a:ext uri="{FF2B5EF4-FFF2-40B4-BE49-F238E27FC236}">
                <a16:creationId xmlns:a16="http://schemas.microsoft.com/office/drawing/2014/main" id="{64BD4763-D134-44D2-AA69-CFCA87A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8010</a:t>
            </a:r>
          </a:p>
        </p:txBody>
      </p:sp>
      <p:sp>
        <p:nvSpPr>
          <p:cNvPr id="14" name="ingestion">
            <a:extLst xmlns:a="http://schemas.openxmlformats.org/drawingml/2006/main">
              <a:ext uri="{FF2B5EF4-FFF2-40B4-BE49-F238E27FC236}">
                <a16:creationId xmlns:a16="http://schemas.microsoft.com/office/drawing/2014/main" id="{60E24814-1B8D-46F3-BF27-9594E5F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ingestion-title">
            <a:extLst xmlns:a="http://schemas.openxmlformats.org/drawingml/2006/main">
              <a:ext uri="{FF2B5EF4-FFF2-40B4-BE49-F238E27FC236}">
                <a16:creationId xmlns:a16="http://schemas.microsoft.com/office/drawing/2014/main" id="{41E0D93D-D946-4088-865E-EB8F33F0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Ingestion</a:t>
            </a:r>
          </a:p>
        </p:txBody>
      </p:sp>
      <p:sp>
        <p:nvSpPr>
          <p:cNvPr id="16" name="ingestion-body">
            <a:extLst xmlns:a="http://schemas.openxmlformats.org/drawingml/2006/main">
              <a:ext uri="{FF2B5EF4-FFF2-40B4-BE49-F238E27FC236}">
                <a16:creationId xmlns:a16="http://schemas.microsoft.com/office/drawing/2014/main" id="{88A8E596-272A-4D36-B3F9-15BE2957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8014 • parsers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artifact provenance</a:t>
            </a:r>
          </a:p>
        </p:txBody>
      </p:sp>
      <p:sp>
        <p:nvSpPr>
          <p:cNvPr id="17" name="oslc">
            <a:extLst xmlns:a="http://schemas.openxmlformats.org/drawingml/2006/main">
              <a:ext uri="{FF2B5EF4-FFF2-40B4-BE49-F238E27FC236}">
                <a16:creationId xmlns:a16="http://schemas.microsoft.com/office/drawing/2014/main" id="{96853292-3780-4138-907D-966DFB1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5770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oslc-title">
            <a:extLst xmlns:a="http://schemas.openxmlformats.org/drawingml/2006/main">
              <a:ext uri="{FF2B5EF4-FFF2-40B4-BE49-F238E27FC236}">
                <a16:creationId xmlns:a16="http://schemas.microsoft.com/office/drawing/2014/main" id="{D1A7031A-9804-496E-BD71-098F1BEE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OSLC</a:t>
            </a:r>
          </a:p>
        </p:txBody>
      </p:sp>
      <p:sp>
        <p:nvSpPr>
          <p:cNvPr id="19" name="oslc-body">
            <a:extLst xmlns:a="http://schemas.openxmlformats.org/drawingml/2006/main">
              <a:ext uri="{FF2B5EF4-FFF2-40B4-BE49-F238E27FC236}">
                <a16:creationId xmlns:a16="http://schemas.microsoft.com/office/drawing/2014/main" id="{16E080D6-ED7D-407B-A3AC-3D9A24E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8015 • client/server</a:t>
            </a:r>
          </a:p>
        </p:txBody>
      </p:sp>
      <p:sp>
        <p:nvSpPr>
          <p:cNvPr id="20" name="ontology">
            <a:extLst xmlns:a="http://schemas.openxmlformats.org/drawingml/2006/main">
              <a:ext uri="{FF2B5EF4-FFF2-40B4-BE49-F238E27FC236}">
                <a16:creationId xmlns:a16="http://schemas.microsoft.com/office/drawing/2014/main" id="{6423729A-B6EF-48DF-A457-7632A14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1571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ontology-title">
            <a:extLst xmlns:a="http://schemas.openxmlformats.org/drawingml/2006/main">
              <a:ext uri="{FF2B5EF4-FFF2-40B4-BE49-F238E27FC236}">
                <a16:creationId xmlns:a16="http://schemas.microsoft.com/office/drawing/2014/main" id="{B23C7E15-7365-45D0-A0A0-ACDC741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Ontology policy</a:t>
            </a:r>
          </a:p>
        </p:txBody>
      </p:sp>
      <p:sp>
        <p:nvSpPr>
          <p:cNvPr id="22" name="ontology-body">
            <a:extLst xmlns:a="http://schemas.openxmlformats.org/drawingml/2006/main">
              <a:ext uri="{FF2B5EF4-FFF2-40B4-BE49-F238E27FC236}">
                <a16:creationId xmlns:a16="http://schemas.microsoft.com/office/drawing/2014/main" id="{D94AD048-EFC6-4842-970B-8FEDA84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8011 • Semantica</a:t>
            </a:r>
          </a:p>
        </p:txBody>
      </p:sp>
      <p:sp>
        <p:nvSpPr>
          <p:cNvPr id="23" name="ceim">
            <a:extLst xmlns:a="http://schemas.openxmlformats.org/drawingml/2006/main">
              <a:ext uri="{FF2B5EF4-FFF2-40B4-BE49-F238E27FC236}">
                <a16:creationId xmlns:a16="http://schemas.microsoft.com/office/drawing/2014/main" id="{9931B5D9-31B9-4F18-8384-BB6B4CC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ceim-title">
            <a:extLst xmlns:a="http://schemas.openxmlformats.org/drawingml/2006/main">
              <a:ext uri="{FF2B5EF4-FFF2-40B4-BE49-F238E27FC236}">
                <a16:creationId xmlns:a16="http://schemas.microsoft.com/office/drawing/2014/main" id="{94A4250C-25D6-493F-9F18-589C3529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CEIM boundary</a:t>
            </a:r>
          </a:p>
        </p:txBody>
      </p:sp>
      <p:sp>
        <p:nvSpPr>
          <p:cNvPr id="25" name="ceim-body">
            <a:extLst xmlns:a="http://schemas.openxmlformats.org/drawingml/2006/main">
              <a:ext uri="{FF2B5EF4-FFF2-40B4-BE49-F238E27FC236}">
                <a16:creationId xmlns:a16="http://schemas.microsoft.com/office/drawing/2014/main" id="{02BA52F4-391E-41C3-B2CC-10CE985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8018 • normalize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SHACL • approval</a:t>
            </a:r>
          </a:p>
        </p:txBody>
      </p:sp>
      <p:sp>
        <p:nvSpPr>
          <p:cNvPr id="26" name="pipeline">
            <a:extLst xmlns:a="http://schemas.openxmlformats.org/drawingml/2006/main">
              <a:ext uri="{FF2B5EF4-FFF2-40B4-BE49-F238E27FC236}">
                <a16:creationId xmlns:a16="http://schemas.microsoft.com/office/drawing/2014/main" id="{F8F8EB21-8CE5-4A4F-9DCA-7BE1BED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571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4B0E7B15-51F5-4F95-AE08-BA75CB4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pipeline</a:t>
            </a:r>
          </a:p>
        </p:txBody>
      </p:sp>
      <p:sp>
        <p:nvSpPr>
          <p:cNvPr id="28" name="pipeline-body">
            <a:extLst xmlns:a="http://schemas.openxmlformats.org/drawingml/2006/main">
              <a:ext uri="{FF2B5EF4-FFF2-40B4-BE49-F238E27FC236}">
                <a16:creationId xmlns:a16="http://schemas.microsoft.com/office/drawing/2014/main" id="{92F14EEE-B86A-4119-A711-FE93175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8019 • Spark jobs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no direct graph write</a:t>
            </a:r>
          </a:p>
        </p:txBody>
      </p:sp>
      <p:sp>
        <p:nvSpPr>
          <p:cNvPr id="29" name="graph">
            <a:extLst xmlns:a="http://schemas.openxmlformats.org/drawingml/2006/main">
              <a:ext uri="{FF2B5EF4-FFF2-40B4-BE49-F238E27FC236}">
                <a16:creationId xmlns:a16="http://schemas.microsoft.com/office/drawing/2014/main" id="{FA06838E-9C3F-4BAB-B26E-445F8881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graph-title">
            <a:extLst xmlns:a="http://schemas.openxmlformats.org/drawingml/2006/main">
              <a:ext uri="{FF2B5EF4-FFF2-40B4-BE49-F238E27FC236}">
                <a16:creationId xmlns:a16="http://schemas.microsoft.com/office/drawing/2014/main" id="{EB031469-4585-432D-A236-928B2123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Graph service</a:t>
            </a:r>
          </a:p>
        </p:txBody>
      </p:sp>
      <p:sp>
        <p:nvSpPr>
          <p:cNvPr id="31" name="graph-body">
            <a:extLst xmlns:a="http://schemas.openxmlformats.org/drawingml/2006/main">
              <a:ext uri="{FF2B5EF4-FFF2-40B4-BE49-F238E27FC236}">
                <a16:creationId xmlns:a16="http://schemas.microsoft.com/office/drawing/2014/main" id="{B5C8C163-DED9-4110-B1C0-E6C4FE94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336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8013 • REST / GraphQL</a:t>
            </a:r>
          </a:p>
        </p:txBody>
      </p:sp>
      <p:sp>
        <p:nvSpPr>
          <p:cNvPr id="32" name="product">
            <a:extLst xmlns:a="http://schemas.openxmlformats.org/drawingml/2006/main">
              <a:ext uri="{FF2B5EF4-FFF2-40B4-BE49-F238E27FC236}">
                <a16:creationId xmlns:a16="http://schemas.microsoft.com/office/drawing/2014/main" id="{67D6DD78-47F5-4FD2-8A2E-EDBCB4B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575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8D3F8E31-5620-470E-A5C6-BDF0CA0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product</a:t>
            </a:r>
          </a:p>
        </p:txBody>
      </p:sp>
      <p:sp>
        <p:nvSpPr>
          <p:cNvPr id="34" name="product-body">
            <a:extLst xmlns:a="http://schemas.openxmlformats.org/drawingml/2006/main">
              <a:ext uri="{FF2B5EF4-FFF2-40B4-BE49-F238E27FC236}">
                <a16:creationId xmlns:a16="http://schemas.microsoft.com/office/drawing/2014/main" id="{A6A0B062-DB5F-4215-B17F-A5847161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8017 • immutable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package manifest</a:t>
            </a:r>
          </a:p>
        </p:txBody>
      </p:sp>
      <p:sp>
        <p:nvSpPr>
          <p:cNvPr id="35" name="agent">
            <a:extLst xmlns:a="http://schemas.openxmlformats.org/drawingml/2006/main">
              <a:ext uri="{FF2B5EF4-FFF2-40B4-BE49-F238E27FC236}">
                <a16:creationId xmlns:a16="http://schemas.microsoft.com/office/drawing/2014/main" id="{4286C352-072D-44B8-9D4E-9208BD47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agent-title">
            <a:extLst xmlns:a="http://schemas.openxmlformats.org/drawingml/2006/main">
              <a:ext uri="{FF2B5EF4-FFF2-40B4-BE49-F238E27FC236}">
                <a16:creationId xmlns:a16="http://schemas.microsoft.com/office/drawing/2014/main" id="{DCFEE2D5-B0B7-432E-9763-DD9EA51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529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Agentic plane</a:t>
            </a:r>
          </a:p>
        </p:txBody>
      </p:sp>
      <p:sp>
        <p:nvSpPr>
          <p:cNvPr id="37" name="agent-body">
            <a:extLst xmlns:a="http://schemas.openxmlformats.org/drawingml/2006/main">
              <a:ext uri="{FF2B5EF4-FFF2-40B4-BE49-F238E27FC236}">
                <a16:creationId xmlns:a16="http://schemas.microsoft.com/office/drawing/2014/main" id="{EFBE84A7-AB31-40F1-8D69-5850E8E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387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8012 • tools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knowledge companion</a:t>
            </a:r>
          </a:p>
        </p:txBody>
      </p:sp>
      <p:sp>
        <p:nvSpPr>
          <p:cNvPr id="38" name="neo4j">
            <a:extLst xmlns:a="http://schemas.openxmlformats.org/drawingml/2006/main">
              <a:ext uri="{FF2B5EF4-FFF2-40B4-BE49-F238E27FC236}">
                <a16:creationId xmlns:a16="http://schemas.microsoft.com/office/drawing/2014/main" id="{80ABE9A3-2A15-43DB-976B-4C86FDD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9" name="neo4j-title">
            <a:extLst xmlns:a="http://schemas.openxmlformats.org/drawingml/2006/main">
              <a:ext uri="{FF2B5EF4-FFF2-40B4-BE49-F238E27FC236}">
                <a16:creationId xmlns:a16="http://schemas.microsoft.com/office/drawing/2014/main" id="{DDE96B2F-8EC8-48E5-9E91-411AC52F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Neo4j graph</a:t>
            </a:r>
          </a:p>
        </p:txBody>
      </p:sp>
      <p:sp>
        <p:nvSpPr>
          <p:cNvPr id="40" name="neo4j-body">
            <a:extLst xmlns:a="http://schemas.openxmlformats.org/drawingml/2006/main">
              <a:ext uri="{FF2B5EF4-FFF2-40B4-BE49-F238E27FC236}">
                <a16:creationId xmlns:a16="http://schemas.microsoft.com/office/drawing/2014/main" id="{0A436660-2C4A-41C2-AF77-AF580BF6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33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ontology database</a:t>
            </a:r>
          </a:p>
        </p:txBody>
      </p:sp>
      <p:sp>
        <p:nvSpPr>
          <p:cNvPr id="41" name="postgres">
            <a:extLst xmlns:a="http://schemas.openxmlformats.org/drawingml/2006/main">
              <a:ext uri="{FF2B5EF4-FFF2-40B4-BE49-F238E27FC236}">
                <a16:creationId xmlns:a16="http://schemas.microsoft.com/office/drawing/2014/main" id="{9D00B45D-8D86-464B-87FA-022A2C0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42" name="postgres-title">
            <a:extLst xmlns:a="http://schemas.openxmlformats.org/drawingml/2006/main">
              <a:ext uri="{FF2B5EF4-FFF2-40B4-BE49-F238E27FC236}">
                <a16:creationId xmlns:a16="http://schemas.microsoft.com/office/drawing/2014/main" id="{78D68D81-210E-4226-B62D-5F7FF620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43" name="postgres-body">
            <a:extLst xmlns:a="http://schemas.openxmlformats.org/drawingml/2006/main">
              <a:ext uri="{FF2B5EF4-FFF2-40B4-BE49-F238E27FC236}">
                <a16:creationId xmlns:a16="http://schemas.microsoft.com/office/drawing/2014/main" id="{480EC17A-E040-4B2C-BE43-53E083F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semantic schema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control-plane state</a:t>
            </a:r>
          </a:p>
        </p:txBody>
      </p:sp>
      <p:sp>
        <p:nvSpPr>
          <p:cNvPr id="44" name="catalog">
            <a:extLst xmlns:a="http://schemas.openxmlformats.org/drawingml/2006/main">
              <a:ext uri="{FF2B5EF4-FFF2-40B4-BE49-F238E27FC236}">
                <a16:creationId xmlns:a16="http://schemas.microsoft.com/office/drawing/2014/main" id="{5B38B6A2-FC79-4993-8541-179651C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577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catalog-title">
            <a:extLst xmlns:a="http://schemas.openxmlformats.org/drawingml/2006/main">
              <a:ext uri="{FF2B5EF4-FFF2-40B4-BE49-F238E27FC236}">
                <a16:creationId xmlns:a16="http://schemas.microsoft.com/office/drawing/2014/main" id="{1CB510B3-6AAF-41CF-996E-77649729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52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catalog</a:t>
            </a:r>
          </a:p>
        </p:txBody>
      </p:sp>
      <p:sp>
        <p:nvSpPr>
          <p:cNvPr id="46" name="catalog-body">
            <a:extLst xmlns:a="http://schemas.openxmlformats.org/drawingml/2006/main">
              <a:ext uri="{FF2B5EF4-FFF2-40B4-BE49-F238E27FC236}">
                <a16:creationId xmlns:a16="http://schemas.microsoft.com/office/drawing/2014/main" id="{26E6A6B0-8617-41B2-9CC3-5BF97424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8016 • product registry</a:t>
            </a:r>
          </a:p>
        </p:txBody>
      </p:sp>
      <p:cxnSp>
        <p:nvCxnSpPr>
          <p:cNvPr id="113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171700" y="3695700"/>
            <a:ext cx="5905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14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171700" y="2543175"/>
            <a:ext cx="590550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15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171700" y="2743200"/>
            <a:ext cx="5905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16" name=""/>
          <p:cNvCxnSpPr>
            <a:stCxn xmlns:a="http://schemas.openxmlformats.org/drawingml/2006/main" id="5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171700" y="2743200"/>
            <a:ext cx="4914900" cy="2105025"/>
          </a:xfrm>
          <a:prstGeom xmlns:a="http://schemas.openxmlformats.org/drawingml/2006/main" prst="bentConnector5">
            <a:avLst>
              <a:gd name="adj1" fmla="val 4651"/>
              <a:gd name="adj2" fmla="val 14480"/>
              <a:gd name="adj3" fmla="val 88953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17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238625" y="25431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solid"/>
            <a:headEnd type="arrow" w="sm" len="sm"/>
          </a:ln>
        </p:spPr>
      </p:cxnSp>
      <p:cxnSp>
        <p:nvCxnSpPr>
          <p:cNvPr id="118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38625" y="36957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19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4238625" y="3695700"/>
            <a:ext cx="619125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06D"/>
            </a:solidFill>
            <a:prstDash val="solid"/>
            <a:headEnd type="arrow" w="sm" len="sm"/>
          </a:ln>
        </p:spPr>
      </p:cxnSp>
      <p:cxnSp>
        <p:nvCxnSpPr>
          <p:cNvPr id="120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643563" y="2933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solid"/>
            <a:headEnd type="arrow" w="sm" len="sm"/>
          </a:ln>
        </p:spPr>
      </p:cxnSp>
      <p:cxnSp>
        <p:nvCxnSpPr>
          <p:cNvPr id="121" name=""/>
          <p:cNvCxnSpPr>
            <a:stCxn xmlns:a="http://schemas.openxmlformats.org/drawingml/2006/main" id="26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643563" y="41338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122" name=""/>
          <p:cNvCxnSpPr>
            <a:stCxn xmlns:a="http://schemas.openxmlformats.org/drawingml/2006/main" id="23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6429375" y="2543175"/>
            <a:ext cx="657225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D7A5F"/>
            </a:solidFill>
            <a:prstDash val="solid"/>
            <a:headEnd type="arrow" w="sm" len="sm"/>
          </a:ln>
        </p:spPr>
      </p:cxnSp>
      <p:cxnSp>
        <p:nvCxnSpPr>
          <p:cNvPr id="123" name=""/>
          <p:cNvCxnSpPr>
            <a:stCxn xmlns:a="http://schemas.openxmlformats.org/drawingml/2006/main" id="23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429375" y="36957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7A5F"/>
            </a:solidFill>
            <a:prstDash val="solid"/>
            <a:headEnd type="arrow" w="sm" len="sm"/>
          </a:ln>
        </p:spPr>
      </p:cxnSp>
      <p:cxnSp>
        <p:nvCxnSpPr>
          <p:cNvPr id="124" name=""/>
          <p:cNvCxnSpPr>
            <a:stCxn xmlns:a="http://schemas.openxmlformats.org/drawingml/2006/main" id="29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667750" y="25431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7A5F"/>
            </a:solidFill>
            <a:prstDash val="solid"/>
            <a:headEnd type="arrow" w="sm" len="sm"/>
          </a:ln>
        </p:spPr>
      </p:cxnSp>
      <p:cxnSp>
        <p:nvCxnSpPr>
          <p:cNvPr id="125" name=""/>
          <p:cNvCxnSpPr>
            <a:stCxn xmlns:a="http://schemas.openxmlformats.org/drawingml/2006/main" id="3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667750" y="3695700"/>
            <a:ext cx="6667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D7A5F"/>
            </a:solidFill>
            <a:prstDash val="solid"/>
            <a:headEnd type="arrow" w="sm" len="sm"/>
          </a:ln>
        </p:spPr>
      </p:cxnSp>
      <p:cxnSp>
        <p:nvCxnSpPr>
          <p:cNvPr id="126" name=""/>
          <p:cNvCxnSpPr>
            <a:stCxn xmlns:a="http://schemas.openxmlformats.org/drawingml/2006/main" id="35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7877175" y="29337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cxnSp>
        <p:nvCxnSpPr>
          <p:cNvPr id="127" name=""/>
          <p:cNvCxnSpPr>
            <a:stCxn xmlns:a="http://schemas.openxmlformats.org/drawingml/2006/main" id="23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429375" y="3143250"/>
            <a:ext cx="2905125" cy="5524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cxnSp>
        <p:nvCxnSpPr>
          <p:cNvPr id="128" name=""/>
          <p:cNvCxnSpPr>
            <a:stCxn xmlns:a="http://schemas.openxmlformats.org/drawingml/2006/main" id="32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667750" y="36957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cxnSp>
        <p:nvCxnSpPr>
          <p:cNvPr id="129" name=""/>
          <p:cNvCxnSpPr>
            <a:stCxn xmlns:a="http://schemas.openxmlformats.org/drawingml/2006/main" id="26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6429375" y="3695700"/>
            <a:ext cx="2905125" cy="1152525"/>
          </a:xfrm>
          <a:prstGeom xmlns:a="http://schemas.openxmlformats.org/drawingml/2006/main" prst="bentConnector5">
            <a:avLst>
              <a:gd name="adj1" fmla="val 7869"/>
              <a:gd name="adj2" fmla="val 43802"/>
              <a:gd name="adj3" fmla="val 80984"/>
            </a:avLst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546B67-730F-4782-97D0-A5E870F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F"/>
                </a:solidFill>
              </a:defRPr>
            </a:pPr>
            <a:r>
              <a:rPr sz="1350" b="1">
                <a:solidFill>
                  <a:srgbClr val="0D7A5F"/>
                </a:solidFill>
              </a:rPr>
              <a:t>Control rule: ingestion, Spark, and agents do not hold graph-write authority.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FAF0C9-AFAE-411E-9695-0C5AD37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DEPO architecture review • actual code topology as of September 2026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519A70-6B68-4954-BEF2-3C0D43F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2530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78F9B9-1438-493C-A071-A16A783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CANONICAL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C658-D5CD-492A-8BE8-F2D8292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Every durable semantic publication crosses the same approval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B7C94-4D03-4158-9F49-41377B46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 sequence below reflects router-level contracts and prevents parser, agent, or Spark bypasses.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AE354-2CD9-4A36-B6D8-F311A12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E2A3C-D8D2-463D-8A2B-7B8C32A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Source /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59E4C-9DC0-4957-81AC-2342148D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431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55748-F037-4874-8FB5-02036B2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1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Ingestion / QIF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A3DBD-7D90-4741-936B-02BD8F8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12303-AC83-48A8-BFFE-BDD88BA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Pipeline / CEIM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ACFD5-2F1C-4378-A569-0B59E13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8A461-2019-4712-AFA4-6869554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Graph /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980F1-92D5-46BB-B724-7E4F2573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1E85E-56A1-464A-A3B9-609CED58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06059-3D16-4F1C-9C80-204511D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431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97297-8AE0-4A0C-AFCD-FDA62C8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9AF8-8BC8-47DC-8CBC-1CB172F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562100" y="270510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64BD6-59D1-4546-B096-6467E8C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1 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529B6-8DD5-49AB-80FA-C7C87D6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artifact + 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E17C6-76B2-4801-80F0-C47342F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D8F77-5958-4B17-81DD-467C0D6F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70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3352800" y="32766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2AAF3-18BA-4941-8655-1602E460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2  Inspect / parse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749E6-BD7F-4D22-9C28-DC2F5CB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schema, parts, instances, relations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B109A-5BC3-41E7-A3BC-B4B5BC5C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52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2C542-D754-4A23-845B-2B16143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52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75" name=""/>
          <p:cNvCxnSpPr>
            <a:stCxn xmlns:a="http://schemas.openxmlformats.org/drawingml/2006/main" id="25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H="1">
            <a:off x="5353050" y="38481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CDC80-29D8-46A0-9958-B63B9C4A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3  Normalize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22219-3D43-45D9-B7C5-27509C51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declared mapping pack + CEIM version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C5A99-9356-40DC-A08D-42514BC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D48B7-0ADA-4E0C-96BD-E423F2A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80" name=""/>
          <p:cNvCxnSpPr>
            <a:stCxn xmlns:a="http://schemas.openxmlformats.org/drawingml/2006/main" id="30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H="1">
            <a:off x="5353050" y="44196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23570-0EED-4483-8BD1-DEE39A41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4  Validate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4270D-CFBE-44A8-A7F2-1789188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SHACL / quality / policy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15A2E-5971-4A2D-874D-DB200A6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95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E40FEC-A936-4E34-89EA-0E83CDF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5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5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5543550" y="4991100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95FAA-DB42-4159-A385-2EC5AC2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5  Approve &amp; 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60A03A-A95F-4E76-964F-494A8C8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only CEIM calls graph publication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DEB616-FF2B-4F20-8511-7BDAECEB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67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64C732-8EB6-46DC-965D-0E9CA1A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A5F"/>
          </a:solidFill>
          <a:ln xmlns:a="http://schemas.openxmlformats.org/drawingml/2006/main" w="0">
            <a:solidFill>
              <a:srgbClr val="0D7A5F"/>
            </a:solidFill>
            <a:prstDash val="solid"/>
          </a:ln>
        </p:spPr>
      </p:sp>
      <p:cxnSp>
        <p:nvCxnSpPr>
          <p:cNvPr id="90" name=""/>
          <p:cNvCxnSpPr>
            <a:stCxn xmlns:a="http://schemas.openxmlformats.org/drawingml/2006/main" id="40" idx="6"/>
            <a:endCxn xmlns:a="http://schemas.openxmlformats.org/drawingml/2006/main" id="41" idx="2"/>
          </p:cNvCxnSpPr>
          <p:nvPr/>
        </p:nvCxnSpPr>
        <p:spPr>
          <a:xfrm xmlns:a="http://schemas.openxmlformats.org/drawingml/2006/main">
            <a:off x="7867650" y="5562600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A8C12F-7980-4068-AC15-18AC36E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  Package &amp; register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FD30FF-C370-45E0-92D9-26C1EDD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immutable Data Product manifest</a:t>
            </a:r>
          </a:p>
        </p:txBody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A2806B81-F6F9-4D2E-9A6E-B4592D6C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46" name="rule-title">
            <a:extLst xmlns:a="http://schemas.openxmlformats.org/drawingml/2006/main">
              <a:ext uri="{FF2B5EF4-FFF2-40B4-BE49-F238E27FC236}">
                <a16:creationId xmlns:a16="http://schemas.microsoft.com/office/drawing/2014/main" id="{6FF39E9D-E33C-4C7C-83D6-DE4FD21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998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Not permitted — Spark may stage and validate data; GraphQL and agents are read-only. Direct writes to Neo4j are blocked by architecture.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CFC73A-7116-4FC0-B7C4-6C1D002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DEPO architecture review • actual code topology as of September 2026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777DE-E4F9-46C3-A991-5AC9927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9429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F8895A-640D-4073-92BE-7692ADAA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SERVING INTERACTIONS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463EA-2A4F-4066-AEB1-3BD56F16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Serving APIs enforce read-only graph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DB348-7D6D-42A0-A8A0-28B521B4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Live GraphQL composes bounded graph projections with data-pipeline and Data Product read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DC636-1E7E-48AA-BE64-49ABB61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ui">
            <a:extLst xmlns:a="http://schemas.openxmlformats.org/drawingml/2006/main">
              <a:ext uri="{FF2B5EF4-FFF2-40B4-BE49-F238E27FC236}">
                <a16:creationId xmlns:a16="http://schemas.microsoft.com/office/drawing/2014/main" id="{8BBA1813-A97A-4B92-9147-ABEE9F00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ui-title">
            <a:extLst xmlns:a="http://schemas.openxmlformats.org/drawingml/2006/main">
              <a:ext uri="{FF2B5EF4-FFF2-40B4-BE49-F238E27FC236}">
                <a16:creationId xmlns:a16="http://schemas.microsoft.com/office/drawing/2014/main" id="{2A9B96BD-2B49-46D2-AE4F-995D496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Siemens IX SPA</a:t>
            </a:r>
          </a:p>
        </p:txBody>
      </p:sp>
      <p:sp>
        <p:nvSpPr>
          <p:cNvPr id="7" name="ui-body">
            <a:extLst xmlns:a="http://schemas.openxmlformats.org/drawingml/2006/main">
              <a:ext uri="{FF2B5EF4-FFF2-40B4-BE49-F238E27FC236}">
                <a16:creationId xmlns:a16="http://schemas.microsoft.com/office/drawing/2014/main" id="{ABCD4778-4200-4931-B77B-33A9CFE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Graph Explorer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Import • Admin</a:t>
            </a:r>
          </a:p>
        </p:txBody>
      </p:sp>
      <p:sp>
        <p:nvSpPr>
          <p:cNvPr id="8" name="gql">
            <a:extLst xmlns:a="http://schemas.openxmlformats.org/drawingml/2006/main">
              <a:ext uri="{FF2B5EF4-FFF2-40B4-BE49-F238E27FC236}">
                <a16:creationId xmlns:a16="http://schemas.microsoft.com/office/drawing/2014/main" id="{87AA2765-1495-4076-90F6-B18EF367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gql-title">
            <a:extLst xmlns:a="http://schemas.openxmlformats.org/drawingml/2006/main">
              <a:ext uri="{FF2B5EF4-FFF2-40B4-BE49-F238E27FC236}">
                <a16:creationId xmlns:a16="http://schemas.microsoft.com/office/drawing/2014/main" id="{0BDF4D1F-2376-4B8A-9CCC-DB16C9B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GraphQL boundary</a:t>
            </a:r>
          </a:p>
        </p:txBody>
      </p:sp>
      <p:sp>
        <p:nvSpPr>
          <p:cNvPr id="10" name="gql-body">
            <a:extLst xmlns:a="http://schemas.openxmlformats.org/drawingml/2006/main">
              <a:ext uri="{FF2B5EF4-FFF2-40B4-BE49-F238E27FC236}">
                <a16:creationId xmlns:a16="http://schemas.microsoft.com/office/drawing/2014/main" id="{A2B65BA1-B91D-4FA2-A27D-0ED04A8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graph projection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job-run • product reads</a:t>
            </a:r>
          </a:p>
        </p:txBody>
      </p:sp>
      <p:sp>
        <p:nvSpPr>
          <p:cNvPr id="11" name="rest">
            <a:extLst xmlns:a="http://schemas.openxmlformats.org/drawingml/2006/main">
              <a:ext uri="{FF2B5EF4-FFF2-40B4-BE49-F238E27FC236}">
                <a16:creationId xmlns:a16="http://schemas.microsoft.com/office/drawing/2014/main" id="{7A718123-3CD3-4AE4-A2B7-6C63BD1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st-title">
            <a:extLst xmlns:a="http://schemas.openxmlformats.org/drawingml/2006/main">
              <a:ext uri="{FF2B5EF4-FFF2-40B4-BE49-F238E27FC236}">
                <a16:creationId xmlns:a16="http://schemas.microsoft.com/office/drawing/2014/main" id="{79387826-D266-48FA-A45D-70B2F8C5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OpenAPI / OData</a:t>
            </a:r>
          </a:p>
        </p:txBody>
      </p:sp>
      <p:sp>
        <p:nvSpPr>
          <p:cNvPr id="13" name="rest-body">
            <a:extLst xmlns:a="http://schemas.openxmlformats.org/drawingml/2006/main">
              <a:ext uri="{FF2B5EF4-FFF2-40B4-BE49-F238E27FC236}">
                <a16:creationId xmlns:a16="http://schemas.microsoft.com/office/drawing/2014/main" id="{C7B100D3-26CA-446D-8CD1-32267B74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explicit service APIs</a:t>
            </a:r>
          </a:p>
        </p:txBody>
      </p:sp>
      <p:sp>
        <p:nvSpPr>
          <p:cNvPr id="14" name="g">
            <a:extLst xmlns:a="http://schemas.openxmlformats.org/drawingml/2006/main">
              <a:ext uri="{FF2B5EF4-FFF2-40B4-BE49-F238E27FC236}">
                <a16:creationId xmlns:a16="http://schemas.microsoft.com/office/drawing/2014/main" id="{53285E3B-66A7-4F1C-91E1-7958C2F0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4790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g-title">
            <a:extLst xmlns:a="http://schemas.openxmlformats.org/drawingml/2006/main">
              <a:ext uri="{FF2B5EF4-FFF2-40B4-BE49-F238E27FC236}">
                <a16:creationId xmlns:a16="http://schemas.microsoft.com/office/drawing/2014/main" id="{E3D65065-60C0-48C9-B8FF-DFD357E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Graph service</a:t>
            </a:r>
          </a:p>
        </p:txBody>
      </p:sp>
      <p:sp>
        <p:nvSpPr>
          <p:cNvPr id="16" name="g-body">
            <a:extLst xmlns:a="http://schemas.openxmlformats.org/drawingml/2006/main">
              <a:ext uri="{FF2B5EF4-FFF2-40B4-BE49-F238E27FC236}">
                <a16:creationId xmlns:a16="http://schemas.microsoft.com/office/drawing/2014/main" id="{7CF0F492-4B88-408F-A146-A217651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bounded traversal</a:t>
            </a:r>
          </a:p>
        </p:txBody>
      </p:sp>
      <p:sp>
        <p:nvSpPr>
          <p:cNvPr id="17" name="p">
            <a:extLst xmlns:a="http://schemas.openxmlformats.org/drawingml/2006/main">
              <a:ext uri="{FF2B5EF4-FFF2-40B4-BE49-F238E27FC236}">
                <a16:creationId xmlns:a16="http://schemas.microsoft.com/office/drawing/2014/main" id="{1E42FBB2-44FD-488B-A54A-4E5A223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7660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p-title">
            <a:extLst xmlns:a="http://schemas.openxmlformats.org/drawingml/2006/main">
              <a:ext uri="{FF2B5EF4-FFF2-40B4-BE49-F238E27FC236}">
                <a16:creationId xmlns:a16="http://schemas.microsoft.com/office/drawing/2014/main" id="{24BAD0B1-7759-40B2-A4C5-574BFDE7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1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pipeline</a:t>
            </a:r>
          </a:p>
        </p:txBody>
      </p:sp>
      <p:sp>
        <p:nvSpPr>
          <p:cNvPr id="19" name="p-body">
            <a:extLst xmlns:a="http://schemas.openxmlformats.org/drawingml/2006/main">
              <a:ext uri="{FF2B5EF4-FFF2-40B4-BE49-F238E27FC236}">
                <a16:creationId xmlns:a16="http://schemas.microsoft.com/office/drawing/2014/main" id="{3EC52953-4A59-4034-8A79-C466ECF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57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job runs • job telemetry</a:t>
            </a:r>
          </a:p>
        </p:txBody>
      </p:sp>
      <p:sp>
        <p:nvSpPr>
          <p:cNvPr id="20" name="d">
            <a:extLst xmlns:a="http://schemas.openxmlformats.org/drawingml/2006/main">
              <a:ext uri="{FF2B5EF4-FFF2-40B4-BE49-F238E27FC236}">
                <a16:creationId xmlns:a16="http://schemas.microsoft.com/office/drawing/2014/main" id="{18ED0DAF-7333-4A88-B891-B705CF03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0530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-title">
            <a:extLst xmlns:a="http://schemas.openxmlformats.org/drawingml/2006/main">
              <a:ext uri="{FF2B5EF4-FFF2-40B4-BE49-F238E27FC236}">
                <a16:creationId xmlns:a16="http://schemas.microsoft.com/office/drawing/2014/main" id="{E9993EEA-CEA2-4C03-B687-D30D811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005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product</a:t>
            </a:r>
          </a:p>
        </p:txBody>
      </p:sp>
      <p:sp>
        <p:nvSpPr>
          <p:cNvPr id="22" name="d-body">
            <a:extLst xmlns:a="http://schemas.openxmlformats.org/drawingml/2006/main">
              <a:ext uri="{FF2B5EF4-FFF2-40B4-BE49-F238E27FC236}">
                <a16:creationId xmlns:a16="http://schemas.microsoft.com/office/drawing/2014/main" id="{9DCAA248-0664-4411-940A-5914861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6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manifest • status</a:t>
            </a:r>
          </a:p>
        </p:txBody>
      </p:sp>
      <p:sp>
        <p:nvSpPr>
          <p:cNvPr id="23" name="n">
            <a:extLst xmlns:a="http://schemas.openxmlformats.org/drawingml/2006/main">
              <a:ext uri="{FF2B5EF4-FFF2-40B4-BE49-F238E27FC236}">
                <a16:creationId xmlns:a16="http://schemas.microsoft.com/office/drawing/2014/main" id="{15FFEABB-1297-432E-89C5-9E8D716B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4790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4" name="n-title">
            <a:extLst xmlns:a="http://schemas.openxmlformats.org/drawingml/2006/main">
              <a:ext uri="{FF2B5EF4-FFF2-40B4-BE49-F238E27FC236}">
                <a16:creationId xmlns:a16="http://schemas.microsoft.com/office/drawing/2014/main" id="{95CF24BB-AECC-457A-9FCD-E94A65D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25" name="n-body">
            <a:extLst xmlns:a="http://schemas.openxmlformats.org/drawingml/2006/main">
              <a:ext uri="{FF2B5EF4-FFF2-40B4-BE49-F238E27FC236}">
                <a16:creationId xmlns:a16="http://schemas.microsoft.com/office/drawing/2014/main" id="{270AB59C-8FEB-4C03-A41F-CBE2F0C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read context</a:t>
            </a:r>
          </a:p>
        </p:txBody>
      </p:sp>
      <p:sp>
        <p:nvSpPr>
          <p:cNvPr id="26" name="pg2">
            <a:extLst xmlns:a="http://schemas.openxmlformats.org/drawingml/2006/main">
              <a:ext uri="{FF2B5EF4-FFF2-40B4-BE49-F238E27FC236}">
                <a16:creationId xmlns:a16="http://schemas.microsoft.com/office/drawing/2014/main" id="{1F83EF51-F9FF-43DE-96ED-9BB44DF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7" name="pg2-title">
            <a:extLst xmlns:a="http://schemas.openxmlformats.org/drawingml/2006/main">
              <a:ext uri="{FF2B5EF4-FFF2-40B4-BE49-F238E27FC236}">
                <a16:creationId xmlns:a16="http://schemas.microsoft.com/office/drawing/2014/main" id="{E8DAA529-63BE-4A9A-B419-1D6ADEE4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8" name="pg2-body">
            <a:extLst xmlns:a="http://schemas.openxmlformats.org/drawingml/2006/main">
              <a:ext uri="{FF2B5EF4-FFF2-40B4-BE49-F238E27FC236}">
                <a16:creationId xmlns:a16="http://schemas.microsoft.com/office/drawing/2014/main" id="{ABDB7718-C9CF-4D62-8266-A8830C3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runs • manifests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control-plane state</a:t>
            </a:r>
          </a:p>
        </p:txBody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24125" y="29718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5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690688" y="3448050"/>
            <a:ext cx="1643063" cy="1114425"/>
          </a:xfrm>
          <a:prstGeom xmlns:a="http://schemas.openxmlformats.org/drawingml/2006/main" prst="bentConnector5">
            <a:avLst>
              <a:gd name="adj1" fmla="val 0"/>
              <a:gd name="adj2" fmla="val 20513"/>
              <a:gd name="adj3" fmla="val 86087"/>
            </a:avLst>
          </a:prstGeom>
          <a:ln xmlns:a="http://schemas.openxmlformats.org/drawingml/2006/main" w="14288">
            <a:solidFill>
              <a:srgbClr val="52606D"/>
            </a:solidFill>
            <a:prstDash val="solid"/>
            <a:headEnd type="arrow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5143500" y="2619375"/>
            <a:ext cx="100012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43500" y="2971800"/>
            <a:ext cx="1000125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143500" y="2971800"/>
            <a:ext cx="1000125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781925" y="2619375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17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781925" y="3648075"/>
            <a:ext cx="115252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cxnSp>
        <p:nvCxnSpPr>
          <p:cNvPr id="75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7781925" y="4162425"/>
            <a:ext cx="115252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06D"/>
            </a:solidFill>
            <a:prstDash val="dash"/>
            <a:head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09F133-5F6E-4D44-AE5B-8D608557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7A5F"/>
                </a:solidFill>
              </a:defRPr>
            </a:pPr>
            <a:r>
              <a:rPr sz="1275" b="1">
                <a:solidFill>
                  <a:srgbClr val="0D7A5F"/>
                </a:solidFill>
              </a:rPr>
              <a:t>Implemented: Data Flow UI exposes job telemetry, durable run evidence, quality outcomes, lineage, checkpoints, and replay controls.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A676B4-926C-47E5-807B-F410A66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DEPO architecture review • actual code topology as of September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84E871-02DE-4E59-A0F2-E348DE1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7908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56C49-C854-4B44-8189-3816549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IMPLEMENTATION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45334-1EEB-4A24-9C6D-1145B836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Modular foundation; operations need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AC5B-89CB-4706-A1A8-FC1EB6F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Implemented facts are separated from remaining production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B0DD0-1697-4D6A-A0EA-35CB214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implemented">
            <a:extLst xmlns:a="http://schemas.openxmlformats.org/drawingml/2006/main">
              <a:ext uri="{FF2B5EF4-FFF2-40B4-BE49-F238E27FC236}">
                <a16:creationId xmlns:a16="http://schemas.microsoft.com/office/drawing/2014/main" id="{A46BE737-77D5-40A6-851D-0C0E16E9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762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D7A5F"/>
            </a:solidFill>
            <a:prstDash val="solid"/>
          </a:ln>
        </p:spPr>
      </p:sp>
      <p:sp>
        <p:nvSpPr>
          <p:cNvPr id="6" name="implemented-title">
            <a:extLst xmlns:a="http://schemas.openxmlformats.org/drawingml/2006/main">
              <a:ext uri="{FF2B5EF4-FFF2-40B4-BE49-F238E27FC236}">
                <a16:creationId xmlns:a16="http://schemas.microsoft.com/office/drawing/2014/main" id="{FC6D92A9-2A0E-4399-993D-7C11C30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7A5F"/>
                </a:solidFill>
              </a:defRPr>
            </a:pPr>
            <a:r>
              <a:rPr sz="1425" b="1">
                <a:solidFill>
                  <a:srgbClr val="0D7A5F"/>
                </a:solidFill>
              </a:rPr>
              <a:t>Implemented and verified</a:t>
            </a:r>
          </a:p>
        </p:txBody>
      </p:sp>
      <p:sp>
        <p:nvSpPr>
          <p:cNvPr id="7" name="implemented-body">
            <a:extLst xmlns:a="http://schemas.openxmlformats.org/drawingml/2006/main">
              <a:ext uri="{FF2B5EF4-FFF2-40B4-BE49-F238E27FC236}">
                <a16:creationId xmlns:a16="http://schemas.microsoft.com/office/drawing/2014/main" id="{FE45439A-6A96-43D3-A891-C0AFA28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572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Ten independently startable FastAPI services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PostgreSQL-backed control-plane registries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Neo4j graph access and CEIM publication gate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QIF, AP242, ReqIF, STEP, PLMXML parsers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PLMXML EBOM validation: 24 parts, 53 instances, 106 relationships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Immutable artifacts, replay manifests, Data Products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Data Flow: job telemetry, quality, lineage, checkpoints, replay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Read-only GraphQL service composition</a:t>
            </a:r>
          </a:p>
        </p:txBody>
      </p:sp>
      <p:sp>
        <p:nvSpPr>
          <p:cNvPr id="8" name="pending">
            <a:extLst xmlns:a="http://schemas.openxmlformats.org/drawingml/2006/main">
              <a:ext uri="{FF2B5EF4-FFF2-40B4-BE49-F238E27FC236}">
                <a16:creationId xmlns:a16="http://schemas.microsoft.com/office/drawing/2014/main" id="{5431FDE4-F6CC-408C-93F2-305C28D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762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9" name="pending-title">
            <a:extLst xmlns:a="http://schemas.openxmlformats.org/drawingml/2006/main">
              <a:ext uri="{FF2B5EF4-FFF2-40B4-BE49-F238E27FC236}">
                <a16:creationId xmlns:a16="http://schemas.microsoft.com/office/drawing/2014/main" id="{E3494466-057F-4D1F-9793-5CE0AE88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Still required for production operations</a:t>
            </a:r>
          </a:p>
        </p:txBody>
      </p:sp>
      <p:sp>
        <p:nvSpPr>
          <p:cNvPr id="10" name="pending-body">
            <a:extLst xmlns:a="http://schemas.openxmlformats.org/drawingml/2006/main">
              <a:ext uri="{FF2B5EF4-FFF2-40B4-BE49-F238E27FC236}">
                <a16:creationId xmlns:a16="http://schemas.microsoft.com/office/drawing/2014/main" id="{9606B8DE-35D6-46BE-90C5-1FBC1AF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4572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Supervised asynchronous Spark scheduler and retry policy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Scheduled reconciliation and publication completion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Authorized SPARQL, federation, and evidence-grounded retrieval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Selected event source before CDC / speed-path activation</a:t>
            </a:r>
          </a:p>
          <a:p xmlns:a="http://schemas.openxmlformats.org/drawingml/2006/main">
            <a:pPr algn="ctr">
              <a:defRPr sz="1125">
                <a:solidFill>
                  <a:srgbClr val="111827"/>
                </a:solidFill>
              </a:defRPr>
            </a:pPr>
            <a:r>
              <a:rPr sz="1125">
                <a:solidFill>
                  <a:srgbClr val="111827"/>
                </a:solidFill>
              </a:rPr>
              <a:t>• Unified parser capability registry and telemetry 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DD2C4-EB81-49B3-9178-1C99926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Recommended next increment: add supervised scheduling and retry policy before enabling scheduled production jobs.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D1A9F-1B6A-4BB5-93DA-3F3BCF0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DEPO architecture review • actual code topology as of September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E8AEC-39C8-4D18-88CD-D93CFFC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953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2026-09-03T17:49:25.0390000Z</dcterms:created>
  <dcterms:modified xsi:type="dcterms:W3CDTF">2026-09-03T17:49:25.0390000Z</dcterms:modified>
</coreProperties>
</file>